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6E57-FF2B-4BB9-A86E-6C8AD55C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7FDDD-B9D1-41DF-8450-34CBE4718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21E3-5E33-47A5-B600-ECF750C4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C9AB0-B2B3-4EF9-A141-8114358B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757C6-71F1-42D6-B463-31FDE9E0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675C-9DEE-4895-8289-B093992E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AA906-F04A-4E06-8582-EA155610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AAA8-BF09-431E-9104-AB4FC034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02F45-2815-4180-89DF-8CA1F26D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AEC92-46C0-4435-8F31-D68187DC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7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9E30-0602-4B47-9E40-06E715F6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53449-3084-4E46-8A87-1A0B6654D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307F-9DB6-4EE7-B11D-7500750F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4B22-0D8B-4339-A689-9D30E1D1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F7DFB-FED1-44D1-BE54-F84FB905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98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F8DA-572B-483A-A943-76ECE580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9FA1-B5A4-492D-B274-2A71F3D7E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F012-24A0-4553-B311-9032FF295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1DD55-4A84-4518-982E-D86B62C9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881C-F84C-4CD1-80A5-70BC6B72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FB293-A074-4DE2-8370-525203FB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4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2251-76B2-4BB1-9012-DAFB346B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51936-81F9-4E0C-B3C2-837ED9359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AE612-2A21-4216-8ADB-DCF2B9CA3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11692-733F-4D84-8C63-8A95888F2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9E20A-2A99-4230-AD91-B21CEEE59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32F01-519A-405E-A6C9-5CB14424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AFFEC-30A7-49E4-AB52-3E25D39B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81A99-9EF7-421B-B146-A991C332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5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8D54-0396-4696-969B-10053C0C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BC63C-4F73-485C-ABF6-AB597826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10AB6-3222-487A-B2E2-311ED154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0EF84-BF54-4EB0-81C4-551A1E6B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7B027-0565-4D21-A084-157D1D3B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36C47-5C6C-46D2-B7C0-E608C05C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5004-6C0B-4C5D-8C5C-200239B6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4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EFD0-CF80-4114-8D70-2E111D58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44639-3991-4CF4-AD45-514735BAB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8ECAF-94CC-4371-861A-7171EED89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43D65-FB10-4CF6-BE9B-8CC25DC5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3C403-8EA4-49D8-949C-AE271182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92DE3-F3EC-466A-A8B8-7AE65B94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6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3599-E7E6-41D7-BB56-5B0E69DA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99819-CED2-428C-B333-185FDD474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35E30-40E8-45C0-989E-19434D615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5086E-5779-4AAA-89F5-DD6E150E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5BF9C-E273-4006-9317-D99C812C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5126F-F1E3-4AF0-9989-8376B6A0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7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D908-5EA1-4DFA-A203-324B29E8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EF9FC-E1BA-4EBD-A16D-F7C53911F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B5EC3-1469-4395-884A-FF36CF0F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6F322-24DA-4F6B-93FA-FC82F11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3CCF6-E038-44A4-8C73-AC1C4E7B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D7408-F3D4-44AA-B4FC-4A266A2F6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B5A8E-67D5-47EB-8537-18C9A4AED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F5A9-1E36-427F-9D4D-FC482A8D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9D3F-C4FC-4EC8-AB3D-E8213841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36A9D-3695-4C7C-A494-EF780B18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3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E2EE1-44D7-4328-9951-8B01B3EC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A490-98ED-45D5-9F0F-C8F861455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280B9-3F2A-4692-8666-9CB484641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04842-5301-4883-9E99-77A13E9FDD8C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BF160-57DB-4EA2-BA41-7C4B74A91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9D76-0E4C-428D-9DD2-2999D9346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D4F30-5DC2-4149-99E7-FC851E41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5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14B8-DD7E-4239-A400-510AF87B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FlexRay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B38E-0440-473F-B878-14D165FA4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754" y="1825624"/>
            <a:ext cx="10158046" cy="3252813"/>
          </a:xfrm>
        </p:spPr>
        <p:txBody>
          <a:bodyPr>
            <a:noAutofit/>
          </a:bodyPr>
          <a:lstStyle/>
          <a:p>
            <a:pPr algn="l"/>
            <a:r>
              <a:rPr lang="en-US" b="0" i="0" u="none" strike="noStrike" baseline="0" dirty="0"/>
              <a:t>Communication in distributed systems within automotive context</a:t>
            </a:r>
          </a:p>
          <a:p>
            <a:pPr marL="0" indent="0" algn="l">
              <a:buNone/>
            </a:pP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Developed by the FlexRay consortium (BMW,</a:t>
            </a:r>
            <a:r>
              <a:rPr lang="fr-FR" dirty="0"/>
              <a:t> </a:t>
            </a:r>
            <a:r>
              <a:rPr lang="en-US" b="0" i="0" u="none" strike="noStrike" baseline="0" dirty="0"/>
              <a:t>DaimlerChrysler, Motorola, Philips) founded in 1999</a:t>
            </a:r>
            <a:endParaRPr lang="fr-FR" b="0" i="0" u="none" strike="noStrike" baseline="0" dirty="0"/>
          </a:p>
          <a:p>
            <a:pPr marL="0" indent="0" algn="l">
              <a:buNone/>
            </a:pPr>
            <a:endParaRPr lang="fr-FR" b="0" i="0" u="none" strike="noStrike" baseline="0" dirty="0"/>
          </a:p>
          <a:p>
            <a:pPr marL="0" indent="0" algn="l">
              <a:buNone/>
            </a:pPr>
            <a:r>
              <a:rPr lang="fr-FR" b="0" i="0" u="none" strike="noStrike" baseline="0" dirty="0"/>
              <a:t>Aim:</a:t>
            </a:r>
          </a:p>
          <a:p>
            <a:pPr lvl="1"/>
            <a:r>
              <a:rPr lang="fr-FR" b="0" i="0" u="none" strike="noStrike" baseline="0" dirty="0"/>
              <a:t>flexible, fault</a:t>
            </a:r>
            <a:r>
              <a:rPr lang="fr-FR" dirty="0"/>
              <a:t>-</a:t>
            </a:r>
            <a:r>
              <a:rPr lang="fr-FR" b="0" i="0" u="none" strike="noStrike" baseline="0" dirty="0"/>
              <a:t>tolerant communication Protocol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5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8D6D-B138-4CA8-BE15-0956DF871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853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Open Bus System</a:t>
            </a:r>
          </a:p>
          <a:p>
            <a:pPr algn="l"/>
            <a:r>
              <a:rPr lang="en-US" b="0" i="0" u="none" strike="noStrike" baseline="0" dirty="0"/>
              <a:t>Support of redundant transmission channels</a:t>
            </a:r>
          </a:p>
          <a:p>
            <a:pPr algn="l"/>
            <a:r>
              <a:rPr lang="en-US" b="0" i="0" u="none" strike="noStrike" baseline="0" dirty="0"/>
              <a:t>Data rate of 10 Mbit/sec per channel</a:t>
            </a:r>
          </a:p>
          <a:p>
            <a:pPr algn="l"/>
            <a:r>
              <a:rPr lang="en-US" b="0" i="0" u="none" strike="noStrike" baseline="0" dirty="0"/>
              <a:t>Static and dynamic data transmission (scalable)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	– Deterministic data transmission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	– Arbitration free transmission</a:t>
            </a:r>
          </a:p>
          <a:p>
            <a:pPr algn="l"/>
            <a:r>
              <a:rPr lang="en-US" b="0" i="0" u="none" strike="noStrike" baseline="0" dirty="0"/>
              <a:t>Fault tolerant and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time triggered </a:t>
            </a:r>
            <a:r>
              <a:rPr lang="en-US" b="0" i="0" u="none" strike="noStrike" baseline="0" dirty="0"/>
              <a:t>services implemented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600313-7BA0-4292-AA53-96DCCDF3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63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FlexRay </a:t>
            </a:r>
          </a:p>
        </p:txBody>
      </p:sp>
    </p:spTree>
    <p:extLst>
      <p:ext uri="{BB962C8B-B14F-4D97-AF65-F5344CB8AC3E}">
        <p14:creationId xmlns:p14="http://schemas.microsoft.com/office/powerpoint/2010/main" val="99983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F551-EEDE-4D58-AB91-396E9AD8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01D9-B8B4-4826-B3F2-B529AE70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85526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FlexRay is a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Time Division Multiple Access </a:t>
            </a:r>
            <a:r>
              <a:rPr lang="en-US" b="0" i="0" u="none" strike="noStrike" baseline="0" dirty="0"/>
              <a:t>(TDMA) protocol</a:t>
            </a:r>
          </a:p>
          <a:p>
            <a:pPr algn="l"/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Every node in a </a:t>
            </a:r>
            <a:r>
              <a:rPr lang="en-US" b="0" i="0" u="none" strike="noStrike" baseline="0" dirty="0" err="1"/>
              <a:t>flexray</a:t>
            </a:r>
            <a:r>
              <a:rPr lang="en-US" b="0" i="0" u="none" strike="noStrike" baseline="0" dirty="0"/>
              <a:t> gets a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fixed duration of time </a:t>
            </a:r>
            <a:r>
              <a:rPr lang="en-US" b="0" i="0" u="none" strike="noStrike" baseline="0" dirty="0"/>
              <a:t>on the bus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to communicate</a:t>
            </a:r>
            <a:r>
              <a:rPr lang="en-US" b="0" i="0" u="none" strike="noStrike" baseline="0" dirty="0"/>
              <a:t>.</a:t>
            </a:r>
          </a:p>
          <a:p>
            <a:pPr marL="0" indent="0" algn="l">
              <a:buNone/>
            </a:pP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A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FlexRay cluster </a:t>
            </a:r>
            <a:r>
              <a:rPr lang="en-US" b="0" i="0" u="none" strike="noStrike" baseline="0" dirty="0"/>
              <a:t>is set of nodes (ECU’s) which communicate to each other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over a fixed baud rate.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25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822A-F3E0-41C9-BBB9-D44F687B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FlexRay Network topology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6BEFA-BB48-4190-9F88-E91F557FA3D8}"/>
              </a:ext>
            </a:extLst>
          </p:cNvPr>
          <p:cNvSpPr txBox="1"/>
          <p:nvPr/>
        </p:nvSpPr>
        <p:spPr>
          <a:xfrm flipH="1">
            <a:off x="838200" y="1879894"/>
            <a:ext cx="9728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2060"/>
                </a:solidFill>
                <a:latin typeface="TimesNewRomanPSMT"/>
              </a:rPr>
              <a:t>Dual channel bus configuration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0B416-326B-4CAD-A421-11AC92C03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73" y="2912401"/>
            <a:ext cx="7521453" cy="272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1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8C46-AB74-4FCC-8F57-08913047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Configuration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C9446-8AD8-40AF-9579-1C1FA657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13" y="2110373"/>
            <a:ext cx="5801773" cy="373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9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127A-7FCF-4130-9A9E-C457015E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66205-7439-47C9-8E52-5F0B1470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254" y="1690688"/>
            <a:ext cx="7495150" cy="359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5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6C1-F425-4682-AA30-1EB69C27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5F7DA-D338-45B0-8E30-DFE4B7FA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77402"/>
            <a:ext cx="9918895" cy="2744763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It is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an instance </a:t>
            </a:r>
            <a:r>
              <a:rPr lang="en-US" b="0" i="0" u="none" strike="noStrike" baseline="0" dirty="0">
                <a:latin typeface="TimesNewRomanPSMT"/>
              </a:rPr>
              <a:t>on the bus which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repeats</a:t>
            </a:r>
            <a:r>
              <a:rPr lang="en-US" b="0" i="0" u="none" strike="noStrike" baseline="0" dirty="0">
                <a:latin typeface="TimesNewRomanPSMT"/>
              </a:rPr>
              <a:t> after a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fixed duration</a:t>
            </a:r>
            <a:r>
              <a:rPr lang="en-US" b="0" i="0" u="none" strike="noStrike" baseline="0" dirty="0">
                <a:latin typeface="TimesNewRomanPSMT"/>
              </a:rPr>
              <a:t>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Cycle duration </a:t>
            </a:r>
            <a:r>
              <a:rPr lang="en-US" b="0" i="0" u="none" strike="noStrike" baseline="0" dirty="0">
                <a:latin typeface="TimesNewRomanPSMT"/>
              </a:rPr>
              <a:t>defines the baud rate of the bus i.e.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the rate </a:t>
            </a:r>
            <a:r>
              <a:rPr lang="en-US" b="0" i="0" u="none" strike="noStrike" baseline="0" dirty="0">
                <a:latin typeface="TimesNewRomanPSMT"/>
              </a:rPr>
              <a:t>at which the nodes forming a cluster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will communicate with each other</a:t>
            </a:r>
            <a:r>
              <a:rPr lang="en-US" b="0" i="0" u="none" strike="noStrike" baseline="0" dirty="0">
                <a:latin typeface="TimesNewRomanPSMT"/>
              </a:rPr>
              <a:t>.</a:t>
            </a:r>
          </a:p>
          <a:p>
            <a:pPr marL="0" indent="0" algn="l">
              <a:buNone/>
            </a:pPr>
            <a:endParaRPr lang="en-US" dirty="0">
              <a:latin typeface="Arial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E.g. The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cycle time </a:t>
            </a:r>
            <a:r>
              <a:rPr lang="en-US" b="0" i="0" u="none" strike="noStrike" baseline="0" dirty="0">
                <a:latin typeface="TimesNewRomanPSMT"/>
              </a:rPr>
              <a:t>of the bus is defined to be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5 </a:t>
            </a:r>
            <a:r>
              <a:rPr lang="en-US" b="0" i="0" u="none" strike="noStrike" baseline="0" dirty="0" err="1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ms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15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855A-B7D3-4DEE-BF2E-0C8798C4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division of Communication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7B87-A037-41AA-9E3C-3E6AFAF3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501" y="2294963"/>
            <a:ext cx="4071425" cy="2268073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Static Segment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Dynamic Segment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Symbol Window</a:t>
            </a:r>
            <a:endParaRPr lang="en-US" dirty="0">
              <a:latin typeface="Arial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NIT (Network Idle Time).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37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3A02-5294-4DFF-8A1B-A2A34961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Segment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403C-8512-478F-BF04-EE1EA785A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It is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a portion </a:t>
            </a:r>
            <a:r>
              <a:rPr lang="en-US" b="0" i="0" u="none" strike="noStrike" baseline="0" dirty="0">
                <a:latin typeface="TimesNewRomanPSMT"/>
              </a:rPr>
              <a:t>in the communication cycle wherein the access to the bus is solely determined by time i.e. the time duration of this segment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is fixed </a:t>
            </a:r>
            <a:r>
              <a:rPr lang="en-US" b="0" i="0" u="none" strike="noStrike" baseline="0" dirty="0">
                <a:latin typeface="TimesNewRomanPSMT"/>
              </a:rPr>
              <a:t>and the nodes are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allotted fixed time to communicate on the bus.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It is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a mandatory </a:t>
            </a:r>
            <a:r>
              <a:rPr lang="en-US" b="0" i="0" u="none" strike="noStrike" baseline="0" dirty="0">
                <a:latin typeface="TimesNewRomanPSMT"/>
              </a:rPr>
              <a:t>segment in the communication cycle.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A Static Segment consists of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Static Slots</a:t>
            </a:r>
            <a:r>
              <a:rPr lang="en-US" b="0" i="0" u="none" strike="noStrike" baseline="0" dirty="0">
                <a:latin typeface="TimesNewRomanPSMT"/>
              </a:rPr>
              <a:t>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29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EB1-03BE-4A52-BEE0-51BE9292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Slots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C45C-E45B-4912-B57A-DBBBF96C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It is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fixed duration</a:t>
            </a:r>
            <a:r>
              <a:rPr lang="en-US" b="0" i="0" u="none" strike="noStrike" baseline="0" dirty="0">
                <a:latin typeface="TimesNewRomanPSMT"/>
              </a:rPr>
              <a:t> slot which is allotted to a node for communicating on the bus.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This duration remains with the node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irrespective of whether the data is available for transmission or not.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A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fixed number of static slots </a:t>
            </a:r>
            <a:r>
              <a:rPr lang="en-US" b="0" i="0" u="none" strike="noStrike" baseline="0" dirty="0">
                <a:latin typeface="TimesNewRomanPSMT"/>
              </a:rPr>
              <a:t>are available per static segment.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4289772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4756-8817-49BB-8385-C8305EC1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71DB-8FD2-4B4E-9211-C621E4C1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4922"/>
            <a:ext cx="10515600" cy="2810974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data is transmitted based on the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mini-slotting scheme </a:t>
            </a:r>
            <a:r>
              <a:rPr lang="en-US" b="0" i="0" u="none" strike="noStrike" baseline="0" dirty="0"/>
              <a:t>(Flexible Time Division Multiple Access)</a:t>
            </a:r>
          </a:p>
          <a:p>
            <a:r>
              <a:rPr lang="en-US" b="0" i="0" dirty="0">
                <a:effectLst/>
              </a:rPr>
              <a:t>The Dynamic Segment is used for a wider variety of 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</a:rPr>
              <a:t>event-based data </a:t>
            </a:r>
            <a:r>
              <a:rPr lang="en-US" b="0" i="0" dirty="0">
                <a:effectLst/>
              </a:rPr>
              <a:t>that does 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</a:rPr>
              <a:t>not require determinism.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l"/>
            <a:r>
              <a:rPr lang="en-US" b="0" i="0" u="none" strike="noStrike" baseline="0" dirty="0"/>
              <a:t>The time duration allotted to a node is based on the data to be transmitted i.e. if a node has data to be transmitted that is larger than the smallest time slot in the dynamic segment (mini slot) then the time duration is increased.</a:t>
            </a:r>
          </a:p>
        </p:txBody>
      </p:sp>
    </p:spTree>
    <p:extLst>
      <p:ext uri="{BB962C8B-B14F-4D97-AF65-F5344CB8AC3E}">
        <p14:creationId xmlns:p14="http://schemas.microsoft.com/office/powerpoint/2010/main" val="2025683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A47EB-9E4F-4453-9394-465FA48D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994" y="1825625"/>
            <a:ext cx="10523806" cy="235248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-BoldMT"/>
              </a:rPr>
              <a:t>Mini slots:</a:t>
            </a:r>
          </a:p>
          <a:p>
            <a:pPr marL="0" indent="0" algn="l">
              <a:buNone/>
            </a:pPr>
            <a:endParaRPr lang="en-US" sz="2800" b="1" i="0" u="none" strike="noStrike" baseline="0" dirty="0">
              <a:solidFill>
                <a:schemeClr val="accent2">
                  <a:lumMod val="50000"/>
                </a:schemeClr>
              </a:solidFill>
              <a:latin typeface="TimesNewRomanPS-BoldMT"/>
            </a:endParaRPr>
          </a:p>
          <a:p>
            <a:pPr lvl="1"/>
            <a:r>
              <a:rPr lang="en-US" b="0" i="0" u="none" strike="noStrike" baseline="0" dirty="0">
                <a:latin typeface="TimesNewRomanPSMT"/>
              </a:rPr>
              <a:t>It is the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smallest instance </a:t>
            </a:r>
            <a:r>
              <a:rPr lang="en-US" b="0" i="0" u="none" strike="noStrike" baseline="0" dirty="0">
                <a:latin typeface="TimesNewRomanPSMT"/>
              </a:rPr>
              <a:t>in the dynamic segment allotted to a node for communicating on the bus.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The data to be transmitted by the bus is larger than the duration of the mini slot then node can continue its transmission in the next mini slot.</a:t>
            </a:r>
          </a:p>
        </p:txBody>
      </p:sp>
    </p:spTree>
    <p:extLst>
      <p:ext uri="{BB962C8B-B14F-4D97-AF65-F5344CB8AC3E}">
        <p14:creationId xmlns:p14="http://schemas.microsoft.com/office/powerpoint/2010/main" val="386255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D41A3-A621-4079-BA2B-5F2629562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62" y="1825625"/>
            <a:ext cx="10509738" cy="25072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Symbol Window:</a:t>
            </a:r>
          </a:p>
          <a:p>
            <a:pPr marL="0" indent="0" algn="l">
              <a:buNone/>
            </a:pPr>
            <a:endParaRPr lang="en-US" sz="2800" b="1" i="0" u="none" strike="noStrike" baseline="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dirty="0"/>
              <a:t>Symbol window used for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network maintenance.</a:t>
            </a:r>
          </a:p>
          <a:p>
            <a:pPr lvl="1"/>
            <a:r>
              <a:rPr lang="en-US" b="0" i="0" u="none" strike="noStrike" baseline="0" dirty="0"/>
              <a:t>For example </a:t>
            </a: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</a:rPr>
              <a:t>wake-up symbol</a:t>
            </a:r>
            <a:r>
              <a:rPr lang="en-US" b="0" i="0" dirty="0">
                <a:effectLst/>
              </a:rPr>
              <a:t> for waking up the FlexRay cluster</a:t>
            </a:r>
            <a:endParaRPr lang="en-US" dirty="0">
              <a:effectLst/>
            </a:endParaRPr>
          </a:p>
          <a:p>
            <a:pPr lvl="1"/>
            <a:r>
              <a:rPr lang="en-US" b="0" i="0" u="none" strike="noStrike" baseline="0" dirty="0"/>
              <a:t>It is an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</a:rPr>
              <a:t>optional field</a:t>
            </a:r>
            <a:r>
              <a:rPr lang="en-US" b="0" i="0" u="none" strike="noStrike" baseline="0" dirty="0"/>
              <a:t> in the communication cycle.</a:t>
            </a:r>
          </a:p>
        </p:txBody>
      </p:sp>
    </p:spTree>
    <p:extLst>
      <p:ext uri="{BB962C8B-B14F-4D97-AF65-F5344CB8AC3E}">
        <p14:creationId xmlns:p14="http://schemas.microsoft.com/office/powerpoint/2010/main" val="3448434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E14E4-B879-4B04-83C6-02BEB6B3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-BoldMT"/>
              </a:rPr>
              <a:t>Network Idle Time (NIT):</a:t>
            </a:r>
          </a:p>
          <a:p>
            <a:pPr marL="0" indent="0" algn="l">
              <a:buNone/>
            </a:pPr>
            <a:endParaRPr lang="en-US" b="1" i="0" u="none" strike="noStrike" baseline="0" dirty="0">
              <a:solidFill>
                <a:schemeClr val="accent2">
                  <a:lumMod val="50000"/>
                </a:schemeClr>
              </a:solidFill>
              <a:latin typeface="TimesNewRomanPS-BoldMT"/>
            </a:endParaRPr>
          </a:p>
          <a:p>
            <a:pPr lvl="1"/>
            <a:r>
              <a:rPr lang="en-US" b="0" i="0" u="none" strike="noStrike" baseline="0" dirty="0">
                <a:latin typeface="TimesNewRomanPSMT"/>
              </a:rPr>
              <a:t>It is a period during which the node applies the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clock correction </a:t>
            </a:r>
            <a:r>
              <a:rPr lang="en-US" b="0" i="0" u="none" strike="noStrike" baseline="0" dirty="0">
                <a:latin typeface="TimesNewRomanPSMT"/>
              </a:rPr>
              <a:t>and helps nodes to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re-synchronize</a:t>
            </a:r>
            <a:r>
              <a:rPr lang="en-US" b="0" i="0" u="none" strike="noStrike" baseline="0" dirty="0">
                <a:latin typeface="TimesNewRomanPSMT"/>
              </a:rPr>
              <a:t> to the bus.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It is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a mandatory </a:t>
            </a:r>
            <a:r>
              <a:rPr lang="en-US" b="0" i="0" u="none" strike="noStrike" baseline="0" dirty="0">
                <a:latin typeface="TimesNewRomanPSMT"/>
              </a:rPr>
              <a:t>field in the communication cycle.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The duration of NIT is defined in terms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of macro ticks </a:t>
            </a:r>
            <a:r>
              <a:rPr lang="en-US" b="0" i="0" u="none" strike="noStrike" baseline="0" dirty="0">
                <a:latin typeface="TimesNewRomanPSMT"/>
              </a:rPr>
              <a:t>which is a multiple of </a:t>
            </a:r>
            <a:r>
              <a:rPr lang="en-US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TimesNewRomanPSMT"/>
              </a:rPr>
              <a:t>micro ticks</a:t>
            </a:r>
            <a:r>
              <a:rPr lang="en-US" b="0" i="0" u="none" strike="noStrike" baseline="0" dirty="0">
                <a:latin typeface="TimesNewRomanPSM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936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C7F93-80F0-46CD-A82E-8E2AFBF15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529272"/>
            <a:ext cx="10591800" cy="336747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baseline="0" dirty="0">
                <a:latin typeface="TimesNewRomanPSMT"/>
              </a:rPr>
              <a:t>The Header is 5 bytes (40 bits) long and includes the following fields: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Status Bits - 5 bits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Frame ID - 11 bits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Payload Length - 7 bits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Header CRC - 11 bits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Cycle Count - 6 bits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E5472-7767-4349-8AE3-3AC5FA14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387507"/>
            <a:ext cx="6060831" cy="1740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F13EF-D3D4-4B08-81BC-7FEF0531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53" y="1787609"/>
            <a:ext cx="7422247" cy="210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55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B59D-03B9-4F11-A25B-ADE7B02A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A360-99BE-40AA-99DF-BCC9E0465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348" y="1825625"/>
            <a:ext cx="10242452" cy="16033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The payload contains the actual data transferred by the frame.</a:t>
            </a:r>
          </a:p>
          <a:p>
            <a:pPr algn="l"/>
            <a:r>
              <a:rPr lang="en-US" b="0" i="0" u="none" strike="noStrike" baseline="0" dirty="0">
                <a:latin typeface="TimesNewRomanPSMT"/>
              </a:rPr>
              <a:t>The length of the FlexRay payload or data frame is up to 127 words (254 bytes)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790DE2-5657-435E-B74E-024EE961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024" y="3578347"/>
            <a:ext cx="7815575" cy="2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31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7641-AD5B-40F7-9581-D8A18827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8266-A0C7-407B-83AC-D5B6A291D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686" y="1825625"/>
            <a:ext cx="10172114" cy="527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none" strike="noStrike" baseline="0" dirty="0">
                <a:latin typeface="TimesNewRomanPSMT"/>
              </a:rPr>
              <a:t>The trailer contains three 8-bit CRCs to detect errors.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5721D-33FB-4078-86F9-B4D5B25A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820" y="3086174"/>
            <a:ext cx="7585553" cy="283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00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144905-581F-4500-81ED-6F567FABD0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106510" y="996382"/>
            <a:ext cx="10247290" cy="2432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23C01D-B183-4939-982F-3F4BFD28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62" y="365126"/>
            <a:ext cx="10631438" cy="868436"/>
          </a:xfrm>
        </p:spPr>
        <p:txBody>
          <a:bodyPr/>
          <a:lstStyle/>
          <a:p>
            <a:r>
              <a:rPr lang="en-US" dirty="0"/>
              <a:t>Frame Format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E3B506-EE59-4684-BF0B-138588B42439}"/>
              </a:ext>
            </a:extLst>
          </p:cNvPr>
          <p:cNvSpPr/>
          <p:nvPr/>
        </p:nvSpPr>
        <p:spPr>
          <a:xfrm>
            <a:off x="2335237" y="1723294"/>
            <a:ext cx="9603489" cy="5134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B90C7-9D24-43BC-A1A9-40197ACA7B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1106510" y="3429000"/>
            <a:ext cx="10247290" cy="2432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042BD3-E7F1-439D-BD78-EAC1F74B4261}"/>
              </a:ext>
            </a:extLst>
          </p:cNvPr>
          <p:cNvSpPr txBox="1"/>
          <p:nvPr/>
        </p:nvSpPr>
        <p:spPr>
          <a:xfrm>
            <a:off x="8800222" y="789675"/>
            <a:ext cx="2113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Segment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BB809F2-3EEB-4B7B-9C00-C106A4D25021}"/>
              </a:ext>
            </a:extLst>
          </p:cNvPr>
          <p:cNvSpPr/>
          <p:nvPr/>
        </p:nvSpPr>
        <p:spPr>
          <a:xfrm rot="17718799">
            <a:off x="9073686" y="1471439"/>
            <a:ext cx="895643" cy="3181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42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E83055-D7B1-40D0-8142-65014C61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92" y="1013787"/>
            <a:ext cx="11355216" cy="483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5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640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ArialMT</vt:lpstr>
      <vt:lpstr>Calibri</vt:lpstr>
      <vt:lpstr>Calibri Light</vt:lpstr>
      <vt:lpstr>Times New Roman</vt:lpstr>
      <vt:lpstr>TimesNewRomanPS-BoldMT</vt:lpstr>
      <vt:lpstr>TimesNewRomanPSMT</vt:lpstr>
      <vt:lpstr>Office Theme</vt:lpstr>
      <vt:lpstr>Introduction to FlexRay </vt:lpstr>
      <vt:lpstr>Key Features of FlexRay </vt:lpstr>
      <vt:lpstr>General</vt:lpstr>
      <vt:lpstr>FlexRay Network topology</vt:lpstr>
      <vt:lpstr>Star Configuration </vt:lpstr>
      <vt:lpstr>Hybrid Topology</vt:lpstr>
      <vt:lpstr>Communication Cycle</vt:lpstr>
      <vt:lpstr>Sub division of Communication Cycle</vt:lpstr>
      <vt:lpstr>Static Segment </vt:lpstr>
      <vt:lpstr>Static Slots </vt:lpstr>
      <vt:lpstr>Dynamic Segment</vt:lpstr>
      <vt:lpstr>PowerPoint Presentation</vt:lpstr>
      <vt:lpstr>PowerPoint Presentation</vt:lpstr>
      <vt:lpstr>PowerPoint Presentation</vt:lpstr>
      <vt:lpstr>PowerPoint Presentation</vt:lpstr>
      <vt:lpstr>Payload</vt:lpstr>
      <vt:lpstr>Trailer</vt:lpstr>
      <vt:lpstr>Frame Format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FlexRay </dc:title>
  <dc:creator>Aravinth K</dc:creator>
  <cp:lastModifiedBy>Aravinth K</cp:lastModifiedBy>
  <cp:revision>58</cp:revision>
  <dcterms:created xsi:type="dcterms:W3CDTF">2021-05-12T05:51:47Z</dcterms:created>
  <dcterms:modified xsi:type="dcterms:W3CDTF">2021-08-08T06:11:05Z</dcterms:modified>
</cp:coreProperties>
</file>