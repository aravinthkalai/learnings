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1" r:id="rId6"/>
    <p:sldId id="278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462" r:id="rId25"/>
    <p:sldId id="463" r:id="rId26"/>
    <p:sldId id="464" r:id="rId27"/>
    <p:sldId id="465" r:id="rId28"/>
    <p:sldId id="466" r:id="rId29"/>
    <p:sldId id="467" r:id="rId30"/>
    <p:sldId id="468" r:id="rId31"/>
    <p:sldId id="46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779EF-54D4-48A0-976C-790338420E2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FBABE-57E5-484A-AF74-E62BFCDA3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4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2CE7EA96-0ED6-5E46-1ADB-ACAA668E5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>
            <a:extLst>
              <a:ext uri="{FF2B5EF4-FFF2-40B4-BE49-F238E27FC236}">
                <a16:creationId xmlns:a16="http://schemas.microsoft.com/office/drawing/2014/main" id="{7685EFCD-7154-4877-3369-ECD515ADC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>
            <a:extLst>
              <a:ext uri="{FF2B5EF4-FFF2-40B4-BE49-F238E27FC236}">
                <a16:creationId xmlns:a16="http://schemas.microsoft.com/office/drawing/2014/main" id="{FA550094-13A2-A52C-DD66-5222C3044E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1812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482C4564-3ABA-CBCF-2634-3DBD2608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>
            <a:extLst>
              <a:ext uri="{FF2B5EF4-FFF2-40B4-BE49-F238E27FC236}">
                <a16:creationId xmlns:a16="http://schemas.microsoft.com/office/drawing/2014/main" id="{8AE5C67E-7095-E8B0-41E4-447819DD94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>
            <a:extLst>
              <a:ext uri="{FF2B5EF4-FFF2-40B4-BE49-F238E27FC236}">
                <a16:creationId xmlns:a16="http://schemas.microsoft.com/office/drawing/2014/main" id="{B799EC4F-C5AC-5686-D721-90949CFF1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2318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75E8FE8A-EA35-0D13-A5EA-C82967BA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>
            <a:extLst>
              <a:ext uri="{FF2B5EF4-FFF2-40B4-BE49-F238E27FC236}">
                <a16:creationId xmlns:a16="http://schemas.microsoft.com/office/drawing/2014/main" id="{65C44853-ACF5-F3A8-9F9E-21F799A4C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>
            <a:extLst>
              <a:ext uri="{FF2B5EF4-FFF2-40B4-BE49-F238E27FC236}">
                <a16:creationId xmlns:a16="http://schemas.microsoft.com/office/drawing/2014/main" id="{99C08A36-6C00-993F-19BB-7B5FFE2FE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34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4EF8FF21-2671-04B6-CD1F-C7AA91F2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>
            <a:extLst>
              <a:ext uri="{FF2B5EF4-FFF2-40B4-BE49-F238E27FC236}">
                <a16:creationId xmlns:a16="http://schemas.microsoft.com/office/drawing/2014/main" id="{24076874-4C85-7743-A228-44D3879DD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>
            <a:extLst>
              <a:ext uri="{FF2B5EF4-FFF2-40B4-BE49-F238E27FC236}">
                <a16:creationId xmlns:a16="http://schemas.microsoft.com/office/drawing/2014/main" id="{25C0D536-1EA6-90F3-059E-AFEE7AC28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4356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2DF7CCAB-9B27-6AD3-4342-CF549F5C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>
            <a:extLst>
              <a:ext uri="{FF2B5EF4-FFF2-40B4-BE49-F238E27FC236}">
                <a16:creationId xmlns:a16="http://schemas.microsoft.com/office/drawing/2014/main" id="{B66CC322-3C2B-DC9A-C09B-473297FE4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>
            <a:extLst>
              <a:ext uri="{FF2B5EF4-FFF2-40B4-BE49-F238E27FC236}">
                <a16:creationId xmlns:a16="http://schemas.microsoft.com/office/drawing/2014/main" id="{EA2D2608-4226-7113-6B6A-8249A41AC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7839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ECD252F7-B3C0-B16A-CC7B-5F557820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>
            <a:extLst>
              <a:ext uri="{FF2B5EF4-FFF2-40B4-BE49-F238E27FC236}">
                <a16:creationId xmlns:a16="http://schemas.microsoft.com/office/drawing/2014/main" id="{C95B3601-B9B5-04DA-DFCD-8A1A1915A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>
            <a:extLst>
              <a:ext uri="{FF2B5EF4-FFF2-40B4-BE49-F238E27FC236}">
                <a16:creationId xmlns:a16="http://schemas.microsoft.com/office/drawing/2014/main" id="{96E45FA5-C5AC-C292-BBBA-C808481F8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1201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9A2AF5A7-BA6A-30B8-EF5B-07910F64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>
            <a:extLst>
              <a:ext uri="{FF2B5EF4-FFF2-40B4-BE49-F238E27FC236}">
                <a16:creationId xmlns:a16="http://schemas.microsoft.com/office/drawing/2014/main" id="{37B5CF54-EC51-E18F-E3E5-B6148132B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>
            <a:extLst>
              <a:ext uri="{FF2B5EF4-FFF2-40B4-BE49-F238E27FC236}">
                <a16:creationId xmlns:a16="http://schemas.microsoft.com/office/drawing/2014/main" id="{AC24F531-B567-9B97-8DAE-C1342A307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399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03BAA36B-8E3E-A36A-9DDB-22D9386B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>
            <a:extLst>
              <a:ext uri="{FF2B5EF4-FFF2-40B4-BE49-F238E27FC236}">
                <a16:creationId xmlns:a16="http://schemas.microsoft.com/office/drawing/2014/main" id="{02393636-BADB-6FC1-74BC-A6AE0E248D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:notes">
            <a:extLst>
              <a:ext uri="{FF2B5EF4-FFF2-40B4-BE49-F238E27FC236}">
                <a16:creationId xmlns:a16="http://schemas.microsoft.com/office/drawing/2014/main" id="{7B970F95-0F87-555E-027F-AC719E442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3063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25D1-E2C5-4D7D-9F9D-55E54EB5D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3314A-8120-4A38-A826-ED0CA76ED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46234-6930-4643-9DA7-4FA7413E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5F365-2BA7-44AC-B690-F9AB5D91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644EB-6E6C-4D72-8448-64CA4216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53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1CE39-26DC-4C20-BBDD-782D90DF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C041-7A71-45AB-B92D-AD75524C2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76FDF-03F2-483E-9DC4-FAFA476F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BFFB-A4BF-4910-B7FB-4B828F37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74356-5241-4F0E-A791-49CE955B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4287-29A6-4983-8F70-97998D6EE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17D73-375B-404D-A7EA-1425BDA4C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B672-EBFA-41AE-BC17-63BB8501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3C101-A410-4D3D-BA4F-196A75FFC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08EBA-303A-491C-A383-C3A478B8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7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004E5-14E8-4E2C-B942-F063335C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7B7EA-3DEF-45D2-B23E-00EC24725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FF50E-478A-46C3-98C5-D70BFF866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942F5-BE86-4B76-81CB-CC971D85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C35BB-AEDA-4023-9D5B-08CDBA1C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DA517-CC14-4D7E-8ED1-5ACBC303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51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2485-10A2-428A-8F7E-45728EE0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BB30C-50C5-474E-AA7F-3ADA3EAE2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A2501-D110-4652-BBAB-CD4E666FC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7A374-4BEB-427B-852F-C61679552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8CB9B-0281-4B73-A258-C562ABE00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C4A82-FFC1-467E-A173-2AFB7240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40AF6-B863-497E-BC70-8371FB86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32300-6716-418D-9F6B-E6C0CFD3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94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0B33E-974B-4C85-90E3-EF939A5F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D0A5D-E3EF-43C4-9F1E-BD6B7D4E9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27B01-D441-4481-876F-846E501C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B006A-4143-46ED-80BC-D431AD97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9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F96BA-384A-4788-92E8-284DBD5C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5FEDEC-AE2C-4D02-978A-4C459FB8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18CC2-115B-4B0E-97E8-FF0C5092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8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94D9-74C2-4591-87F1-B9C0AFDE2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C5C7B-E540-4D1D-9EC0-DB692FB0E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5DDB1-0B6C-498A-9A96-B97444C2B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9CDF-E240-47E3-B57A-EAF3E2F1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61570-5587-4D26-BF15-0B97F84C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9B8B4-8BE4-4954-817A-8C1A7474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89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9583-F66F-4B36-81DB-D9B76D949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EEFF46-1C4B-48A9-BAD8-835E8561E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07BCA-F694-4143-A2A0-4A5355D43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F7EE2-9960-4265-B7A9-1C467563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B72B4-CCD3-4536-9709-A95232F2B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61A75-2AA8-4E78-AEBF-70B86F05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6B3B-D4DD-4898-8FAF-5607C77B9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354A9-2B9B-4302-A8A2-0D9A34C52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1CBBA-D1C3-4FD3-9F37-E88560605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AD5D9-08CE-479E-9826-A8D34A32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2FE50-2B88-4583-B240-B1FC6B39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82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0FA968-169A-44F6-B811-772C944A3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6EBB3-D1CB-4119-99A9-F12C93AE1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B162-850F-448B-A265-AF2C238F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34D61-16AA-4103-A1AB-4E7FD1FC9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3C2A3-8FAA-4639-98D0-3BDB923B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76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F866E-0CA7-421A-A87C-BF345F30F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D6E1D-DB0C-48DB-A389-996AF0CA8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06E06-7077-4C56-AF82-A75387A9E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F9039-D21A-4354-A211-BAEB9CFC42B2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B2F12-3F09-4560-A1FC-D8EF8DA0D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1B1BA-0A21-4FF4-95AF-4B2908028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4A9E6-A109-4B0D-B715-B40BC57C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58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D7A1-AABA-4D08-B173-DF1195CBD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2491911"/>
            <a:ext cx="10721009" cy="292822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6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PROTOCOL</a:t>
            </a:r>
          </a:p>
          <a:p>
            <a:pPr marL="0" indent="0" algn="ctr">
              <a:buNone/>
            </a:pPr>
            <a:r>
              <a:rPr lang="en-US" sz="3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(Controller area network)</a:t>
            </a:r>
            <a:endParaRPr lang="en-IN" sz="3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9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776B-4B00-423A-850C-4200AE963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8FFBA-B599-42DC-837C-B1883A9AF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bus is a vehicle bus standard designed to allow microcontroller and devices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communicate with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other in vehicle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based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protocol.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send up to 8 bytes of data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present in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physical and data link layer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OSI layers.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multi-master, multicast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bus .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by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 11898-1, 11898-2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</a:t>
            </a:r>
          </a:p>
          <a:p>
            <a:endParaRPr lang="en-IN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31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5A54-DD97-45F5-9C45-6A2C9B9AC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49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49368-EA58-4395-8F56-57E3BF478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reduce communication complexity on automobiles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BOSCH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work on  CAN protocol in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1983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official CAN released in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1986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Intel/ Philips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 fist manufacture of CAN based microcontroller in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1987.</a:t>
            </a: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1991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based first luxury car released by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Mercedes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Benz</a:t>
            </a:r>
          </a:p>
        </p:txBody>
      </p:sp>
    </p:spTree>
    <p:extLst>
      <p:ext uri="{BB962C8B-B14F-4D97-AF65-F5344CB8AC3E}">
        <p14:creationId xmlns:p14="http://schemas.microsoft.com/office/powerpoint/2010/main" val="376491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4B82-E17A-4A42-98CB-1541BBAE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and After CAN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31D20C-93E0-4759-B629-DC801DBEFA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4" r="49966"/>
          <a:stretch/>
        </p:blipFill>
        <p:spPr>
          <a:xfrm>
            <a:off x="2186608" y="2117849"/>
            <a:ext cx="874643" cy="3298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3A933E-D445-405B-9899-6DA45B5254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577"/>
          <a:stretch/>
        </p:blipFill>
        <p:spPr>
          <a:xfrm>
            <a:off x="257844" y="2117849"/>
            <a:ext cx="1928764" cy="3298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E69CE2-BE17-4D41-B588-F3D3EC6155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3"/>
          <a:stretch/>
        </p:blipFill>
        <p:spPr>
          <a:xfrm>
            <a:off x="3061250" y="2117849"/>
            <a:ext cx="2799677" cy="3298214"/>
          </a:xfrm>
          <a:prstGeom prst="rect">
            <a:avLst/>
          </a:prstGeom>
        </p:spPr>
      </p:pic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E7FD05BA-BF6C-4E7D-BC2A-C57907528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89" r="46793"/>
          <a:stretch/>
        </p:blipFill>
        <p:spPr>
          <a:xfrm>
            <a:off x="7977809" y="2117849"/>
            <a:ext cx="1020417" cy="3311947"/>
          </a:xfrm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4453912A-6275-4945-A092-8C3009E4D4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811"/>
          <a:stretch/>
        </p:blipFill>
        <p:spPr>
          <a:xfrm>
            <a:off x="5807920" y="2117849"/>
            <a:ext cx="2169890" cy="3311947"/>
          </a:xfrm>
          <a:prstGeom prst="rect">
            <a:avLst/>
          </a:prstGeom>
        </p:spPr>
      </p:pic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94D66C4B-E8F5-46C5-8AE0-7702C564DA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08" r="-1"/>
          <a:stretch/>
        </p:blipFill>
        <p:spPr>
          <a:xfrm>
            <a:off x="8998226" y="2117849"/>
            <a:ext cx="2805730" cy="331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2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8955-F682-4C0D-BF89-C28B605D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198" y="294788"/>
            <a:ext cx="10481603" cy="957238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STRUCTURE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E4870C-7DEC-4805-B793-7ED0910BC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887" y="2653891"/>
            <a:ext cx="8412768" cy="403593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71C584-04B3-46F0-94EA-47827FEF6FB9}"/>
              </a:ext>
            </a:extLst>
          </p:cNvPr>
          <p:cNvSpPr txBox="1"/>
          <p:nvPr/>
        </p:nvSpPr>
        <p:spPr>
          <a:xfrm>
            <a:off x="2053882" y="1252026"/>
            <a:ext cx="75141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Dominant 			-	 0</a:t>
            </a:r>
          </a:p>
          <a:p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Recessive			- 	 1</a:t>
            </a:r>
          </a:p>
          <a:p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Dominant voltage level		 -	1.5v to 2.5v</a:t>
            </a:r>
          </a:p>
          <a:p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Recessive voltage level		 -	Above 2.5v</a:t>
            </a:r>
          </a:p>
        </p:txBody>
      </p:sp>
    </p:spTree>
    <p:extLst>
      <p:ext uri="{BB962C8B-B14F-4D97-AF65-F5344CB8AC3E}">
        <p14:creationId xmlns:p14="http://schemas.microsoft.com/office/powerpoint/2010/main" val="254616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C7713C-3698-4F86-A3D6-493D26305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8" t="22060" r="4247" b="6169"/>
          <a:stretch/>
        </p:blipFill>
        <p:spPr>
          <a:xfrm>
            <a:off x="2093843" y="1155268"/>
            <a:ext cx="7315201" cy="53224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37527E-95AE-4B52-B322-ACB957260D71}"/>
              </a:ext>
            </a:extLst>
          </p:cNvPr>
          <p:cNvSpPr txBox="1"/>
          <p:nvPr/>
        </p:nvSpPr>
        <p:spPr>
          <a:xfrm>
            <a:off x="556591" y="318052"/>
            <a:ext cx="1088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WIRED AND LOGIC</a:t>
            </a:r>
          </a:p>
        </p:txBody>
      </p:sp>
    </p:spTree>
    <p:extLst>
      <p:ext uri="{BB962C8B-B14F-4D97-AF65-F5344CB8AC3E}">
        <p14:creationId xmlns:p14="http://schemas.microsoft.com/office/powerpoint/2010/main" val="48579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FD09-C507-4079-9102-E6980F1C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806" y="308854"/>
            <a:ext cx="10354994" cy="61961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with different layers in OSI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5B2E16-2264-4FC3-A52D-2C2A9EFFA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806" y="1265827"/>
            <a:ext cx="9854897" cy="5283319"/>
          </a:xfrm>
        </p:spPr>
      </p:pic>
    </p:spTree>
    <p:extLst>
      <p:ext uri="{BB962C8B-B14F-4D97-AF65-F5344CB8AC3E}">
        <p14:creationId xmlns:p14="http://schemas.microsoft.com/office/powerpoint/2010/main" val="130441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67D1-7B3E-4DE7-BCCC-7F38A55F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FRAME FORMATS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6E7902-E84B-4A52-8A4E-895CAA83E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09"/>
          <a:stretch/>
        </p:blipFill>
        <p:spPr>
          <a:xfrm>
            <a:off x="1744436" y="2112011"/>
            <a:ext cx="8175347" cy="1148024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A672455-F129-4DC3-AB0C-55BAA8A2F2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91" r="48879"/>
          <a:stretch/>
        </p:blipFill>
        <p:spPr>
          <a:xfrm>
            <a:off x="1744437" y="3220279"/>
            <a:ext cx="4179286" cy="2544416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C3CF68D-990B-444E-9A44-A105F82CCF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28"/>
          <a:stretch/>
        </p:blipFill>
        <p:spPr>
          <a:xfrm>
            <a:off x="6096000" y="2112011"/>
            <a:ext cx="3823783" cy="369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7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1127-D887-426E-BABC-6261AF40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7AA72-A3B0-4D6D-90F3-1E8F1224C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frame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frame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frame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  frame</a:t>
            </a:r>
          </a:p>
        </p:txBody>
      </p:sp>
    </p:spTree>
    <p:extLst>
      <p:ext uri="{BB962C8B-B14F-4D97-AF65-F5344CB8AC3E}">
        <p14:creationId xmlns:p14="http://schemas.microsoft.com/office/powerpoint/2010/main" val="385806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0EFC-D6D1-4D7D-9A09-C202750B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frame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6BD9F-5390-497E-B172-E1F526C2E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609"/>
          <a:stretch/>
        </p:blipFill>
        <p:spPr>
          <a:xfrm>
            <a:off x="374375" y="2202117"/>
            <a:ext cx="463826" cy="3020222"/>
          </a:xfr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576FE50C-CD58-4F0B-9372-03D21C7E43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4" r="66833"/>
          <a:stretch/>
        </p:blipFill>
        <p:spPr>
          <a:xfrm>
            <a:off x="838200" y="2202117"/>
            <a:ext cx="3021495" cy="3020222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425D286-07D7-4D4A-AC93-A39D1E2A75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94" r="53614"/>
          <a:stretch/>
        </p:blipFill>
        <p:spPr>
          <a:xfrm>
            <a:off x="3859694" y="2202117"/>
            <a:ext cx="1414671" cy="3020222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F98FD617-EAD8-4793-B2C5-F0E5E42BA2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85" r="33794"/>
          <a:stretch/>
        </p:blipFill>
        <p:spPr>
          <a:xfrm>
            <a:off x="5274364" y="2202117"/>
            <a:ext cx="2093845" cy="3020222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E0EAE229-7ADD-4052-99DF-8EC56D22F5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07" r="23004"/>
          <a:stretch/>
        </p:blipFill>
        <p:spPr>
          <a:xfrm>
            <a:off x="7368209" y="2202117"/>
            <a:ext cx="1139688" cy="3020222"/>
          </a:xfrm>
          <a:prstGeom prst="rect">
            <a:avLst/>
          </a:prstGeom>
        </p:spPr>
      </p:pic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67FD273B-D38D-453C-AEE3-04956338E6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96" r="18739"/>
          <a:stretch/>
        </p:blipFill>
        <p:spPr>
          <a:xfrm>
            <a:off x="8507897" y="2202117"/>
            <a:ext cx="450574" cy="3020222"/>
          </a:xfrm>
          <a:prstGeom prst="rect">
            <a:avLst/>
          </a:prstGeom>
        </p:spPr>
      </p:pic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2131D9F6-4246-4261-9E0D-C71ADDD34F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61" r="1678"/>
          <a:stretch/>
        </p:blipFill>
        <p:spPr>
          <a:xfrm>
            <a:off x="8958470" y="2202117"/>
            <a:ext cx="1802295" cy="30202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4D7545-E1BC-4E2C-842E-5809B8D8093A}"/>
              </a:ext>
            </a:extLst>
          </p:cNvPr>
          <p:cNvSpPr txBox="1"/>
          <p:nvPr/>
        </p:nvSpPr>
        <p:spPr>
          <a:xfrm>
            <a:off x="993914" y="5060625"/>
            <a:ext cx="77392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RTR	-	 	Remote Transfer Request</a:t>
            </a:r>
          </a:p>
          <a:p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	-		Identifier Extension Bit</a:t>
            </a:r>
          </a:p>
          <a:p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DLC 	-		Data Length Code</a:t>
            </a:r>
          </a:p>
          <a:p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CRC	- 		Cyclic Redundancy Check</a:t>
            </a:r>
          </a:p>
          <a:p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EOF	-		 End Of Frame</a:t>
            </a:r>
          </a:p>
        </p:txBody>
      </p:sp>
    </p:spTree>
    <p:extLst>
      <p:ext uri="{BB962C8B-B14F-4D97-AF65-F5344CB8AC3E}">
        <p14:creationId xmlns:p14="http://schemas.microsoft.com/office/powerpoint/2010/main" val="356108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1E19-776B-47F8-93C7-4A2FCB5D8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2.0 B EXTENTED FORMAT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199087-8698-4990-94D8-0EBB27DCA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517"/>
          <a:stretch/>
        </p:blipFill>
        <p:spPr>
          <a:xfrm>
            <a:off x="801126" y="2226365"/>
            <a:ext cx="351814" cy="3334206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55BA0F6-92C3-41DF-BC5B-954FB6A85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2" r="70276"/>
          <a:stretch/>
        </p:blipFill>
        <p:spPr>
          <a:xfrm>
            <a:off x="1152940" y="2226365"/>
            <a:ext cx="2650434" cy="3334206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6C5E382-2E8E-4D78-8CC3-BF05E11C63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4" r="66793"/>
          <a:stretch/>
        </p:blipFill>
        <p:spPr>
          <a:xfrm>
            <a:off x="3803374" y="2226365"/>
            <a:ext cx="351814" cy="3334206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8CE86E62-F81F-438C-AB4E-BBF0DB3325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8" r="53219"/>
          <a:stretch/>
        </p:blipFill>
        <p:spPr>
          <a:xfrm>
            <a:off x="4155188" y="2226365"/>
            <a:ext cx="1370969" cy="3334206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091F715F-6BF0-40B4-B42F-B251F7DE1C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1" r="33145"/>
          <a:stretch/>
        </p:blipFill>
        <p:spPr>
          <a:xfrm>
            <a:off x="5526158" y="2226365"/>
            <a:ext cx="2027582" cy="3334206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329C00C5-C522-4DF5-8539-EC0A0C9827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56" r="1130"/>
          <a:stretch/>
        </p:blipFill>
        <p:spPr>
          <a:xfrm>
            <a:off x="7553740" y="2226365"/>
            <a:ext cx="3233530" cy="333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3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1D5B-6581-4EF4-807D-116290AC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frame 11bit identifier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CB12EC-627F-42EE-8110-63BB384F0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33"/>
          <a:stretch/>
        </p:blipFill>
        <p:spPr>
          <a:xfrm>
            <a:off x="601024" y="2259944"/>
            <a:ext cx="591672" cy="2921655"/>
          </a:xfr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8DB91F0-6D63-4837-AC27-76549F138E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7" r="63510"/>
          <a:stretch/>
        </p:blipFill>
        <p:spPr>
          <a:xfrm>
            <a:off x="1192696" y="2259944"/>
            <a:ext cx="3286539" cy="2921655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E9345010-F516-4103-88B5-4D9F61EB68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90" r="60766"/>
          <a:stretch/>
        </p:blipFill>
        <p:spPr>
          <a:xfrm>
            <a:off x="4479234" y="2259944"/>
            <a:ext cx="291549" cy="2921655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5BEA5104-4703-4213-A0C9-B8BE4C3A9A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3" r="55031"/>
          <a:stretch/>
        </p:blipFill>
        <p:spPr>
          <a:xfrm>
            <a:off x="4770783" y="2259944"/>
            <a:ext cx="609600" cy="2921655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D92D72D1-80A2-4E77-9474-C9DF328CDE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69" r="44806"/>
          <a:stretch/>
        </p:blipFill>
        <p:spPr>
          <a:xfrm>
            <a:off x="5380382" y="2259944"/>
            <a:ext cx="1086679" cy="2921655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6412D848-190F-412B-9F55-E7CABCCC45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94" r="21863"/>
          <a:stretch/>
        </p:blipFill>
        <p:spPr>
          <a:xfrm>
            <a:off x="6467061" y="2259944"/>
            <a:ext cx="2438400" cy="2921655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A9B77FA6-7062-40D6-AF37-F48E129CC2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37"/>
          <a:stretch/>
        </p:blipFill>
        <p:spPr>
          <a:xfrm>
            <a:off x="8905460" y="2259944"/>
            <a:ext cx="2323613" cy="292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0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158F-3D8B-42AE-8489-A098E1D2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frame 29bit identifier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38E7F1-FA4F-44B7-B8CA-04C6A6FE8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810"/>
          <a:stretch/>
        </p:blipFill>
        <p:spPr>
          <a:xfrm>
            <a:off x="238415" y="2605962"/>
            <a:ext cx="599786" cy="2919740"/>
          </a:xfr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F81907F-04AA-4CB9-889B-AF0DF5FB8D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0" r="83027"/>
          <a:stretch/>
        </p:blipFill>
        <p:spPr>
          <a:xfrm>
            <a:off x="838200" y="2605962"/>
            <a:ext cx="1361661" cy="2919740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6C261DAE-558F-4D6D-8F46-010B218CB4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4" r="76834"/>
          <a:stretch/>
        </p:blipFill>
        <p:spPr>
          <a:xfrm>
            <a:off x="2199861" y="2605962"/>
            <a:ext cx="715617" cy="2919740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F9B683D0-6AFF-40F3-93A4-9AF4E9680A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6" r="65051"/>
          <a:stretch/>
        </p:blipFill>
        <p:spPr>
          <a:xfrm>
            <a:off x="2915479" y="2605962"/>
            <a:ext cx="1361659" cy="2919740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485433C1-5D90-4F93-B4DB-1EF8D47CB3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49" r="56651"/>
          <a:stretch/>
        </p:blipFill>
        <p:spPr>
          <a:xfrm>
            <a:off x="4277138" y="2605962"/>
            <a:ext cx="970723" cy="2919740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7DBD2188-E8B7-4540-98D8-1E8B360C55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49" r="46674"/>
          <a:stretch/>
        </p:blipFill>
        <p:spPr>
          <a:xfrm>
            <a:off x="5247861" y="2605962"/>
            <a:ext cx="1152939" cy="2919740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06239C65-9531-4913-B9CF-F0C2B50BE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26" r="34403"/>
          <a:stretch/>
        </p:blipFill>
        <p:spPr>
          <a:xfrm>
            <a:off x="6400800" y="2605962"/>
            <a:ext cx="1417983" cy="2919740"/>
          </a:xfrm>
          <a:prstGeom prst="rect">
            <a:avLst/>
          </a:prstGeom>
        </p:spPr>
      </p:pic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C4DFDB63-B0D7-4A34-A6D7-BE1F9441D9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99" r="3813"/>
          <a:stretch/>
        </p:blipFill>
        <p:spPr>
          <a:xfrm>
            <a:off x="7818782" y="2605962"/>
            <a:ext cx="3535017" cy="291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8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36D4-B0F0-4899-A2F4-A09DAE40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FRAME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0CC585-12C2-4316-88D9-C81744072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2" r="64117" b="55243"/>
          <a:stretch/>
        </p:blipFill>
        <p:spPr>
          <a:xfrm>
            <a:off x="1248901" y="1690689"/>
            <a:ext cx="2554474" cy="2112686"/>
          </a:xfr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BACEC0B6-3552-4063-A24E-376B7AF0B5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2" r="64118" b="55244"/>
          <a:stretch/>
        </p:blipFill>
        <p:spPr>
          <a:xfrm>
            <a:off x="1248900" y="1690689"/>
            <a:ext cx="2554473" cy="2112686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B2E9B9EA-5747-44E5-9A74-71DFCD0586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3" r="45195" b="55244"/>
          <a:stretch/>
        </p:blipFill>
        <p:spPr>
          <a:xfrm>
            <a:off x="3803373" y="1690688"/>
            <a:ext cx="2107098" cy="2112687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7ED4BA8-0CE0-4BCF-94A3-71FAF85F48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5" r="16752" b="55244"/>
          <a:stretch/>
        </p:blipFill>
        <p:spPr>
          <a:xfrm>
            <a:off x="5910470" y="1690688"/>
            <a:ext cx="3167269" cy="2112687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3DE52986-244A-4ABC-BD0E-2CFA6BC70F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2" t="44756" r="64118"/>
          <a:stretch/>
        </p:blipFill>
        <p:spPr>
          <a:xfrm>
            <a:off x="1248900" y="3803375"/>
            <a:ext cx="2554473" cy="2607744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999A1721-87D5-4B7A-B354-5F417AB749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3" t="55244" r="45195"/>
          <a:stretch/>
        </p:blipFill>
        <p:spPr>
          <a:xfrm>
            <a:off x="3803372" y="4298432"/>
            <a:ext cx="2107097" cy="2112687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B8D19F4F-919C-4394-90B8-C8369F01C6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4" t="44757" r="16753"/>
          <a:stretch/>
        </p:blipFill>
        <p:spPr>
          <a:xfrm>
            <a:off x="5910469" y="3803376"/>
            <a:ext cx="3167270" cy="2607744"/>
          </a:xfrm>
          <a:prstGeom prst="rect">
            <a:avLst/>
          </a:prstGeom>
        </p:spPr>
      </p:pic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E11BBE88-7992-4EE1-9141-C4D530B36A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" r="87059"/>
          <a:stretch/>
        </p:blipFill>
        <p:spPr>
          <a:xfrm>
            <a:off x="0" y="1690688"/>
            <a:ext cx="1248898" cy="4720431"/>
          </a:xfrm>
          <a:prstGeom prst="rect">
            <a:avLst/>
          </a:prstGeom>
        </p:spPr>
      </p:pic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A9FD8CF7-AC54-4E78-9040-A3FE747EC6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47"/>
          <a:stretch/>
        </p:blipFill>
        <p:spPr>
          <a:xfrm>
            <a:off x="9356034" y="1690688"/>
            <a:ext cx="1587065" cy="472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2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CC2E-43C2-4A8D-AE2A-6FB27830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 frame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CA300E-E163-4630-AD61-511E14BA0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1" t="33219" r="64980"/>
          <a:stretch/>
        </p:blipFill>
        <p:spPr>
          <a:xfrm>
            <a:off x="2597426" y="3180522"/>
            <a:ext cx="2080591" cy="2994991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C5475867-97BD-4CA5-9F06-C841A9A905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0" t="33219" r="45131"/>
          <a:stretch/>
        </p:blipFill>
        <p:spPr>
          <a:xfrm>
            <a:off x="4678017" y="3180522"/>
            <a:ext cx="2080592" cy="2994991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A08F4B5-E242-431C-A0B2-82E80F923E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69" t="33219" r="18075"/>
          <a:stretch/>
        </p:blipFill>
        <p:spPr>
          <a:xfrm>
            <a:off x="6758608" y="3180522"/>
            <a:ext cx="2835965" cy="2994991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ACB2EB04-E02E-410C-ABE0-ADB8EA3EB0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51" b="70443"/>
          <a:stretch/>
        </p:blipFill>
        <p:spPr>
          <a:xfrm>
            <a:off x="1007166" y="1690689"/>
            <a:ext cx="2080591" cy="1325564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9813719A-38E4-4E2A-9D49-EA9DEC91F7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51" b="66780"/>
          <a:stretch/>
        </p:blipFill>
        <p:spPr>
          <a:xfrm>
            <a:off x="9408702" y="1690689"/>
            <a:ext cx="2080593" cy="148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7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4A5F-B9EA-44C4-B2DE-4BF6FB2D6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Interframe space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493AA-0521-4A1C-93BC-02AF54F62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813"/>
          <a:stretch/>
        </p:blipFill>
        <p:spPr>
          <a:xfrm>
            <a:off x="1036645" y="2023904"/>
            <a:ext cx="2143877" cy="3285068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D4F3033-0712-41DF-AE9C-918334CAA3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8" r="37689"/>
          <a:stretch/>
        </p:blipFill>
        <p:spPr>
          <a:xfrm>
            <a:off x="3180521" y="2023904"/>
            <a:ext cx="4161183" cy="3285068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51539B5-85C9-46D3-9514-851A4F5B45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11" r="7435"/>
          <a:stretch/>
        </p:blipFill>
        <p:spPr>
          <a:xfrm>
            <a:off x="7341705" y="2023904"/>
            <a:ext cx="3061252" cy="32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9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A8F7-3A1A-4F74-8076-3ACB193E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81BF7-C675-4F62-9182-03FA1C6F5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CRC Error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 Error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Error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Stuff Error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Error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192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E0B8-1546-47AA-AE47-E8FC23D0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75794" cy="809222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CRC Error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2FDD9B-9F30-4F71-AA18-633FD0A69086}"/>
              </a:ext>
            </a:extLst>
          </p:cNvPr>
          <p:cNvCxnSpPr/>
          <p:nvPr/>
        </p:nvCxnSpPr>
        <p:spPr>
          <a:xfrm>
            <a:off x="2115403" y="2634018"/>
            <a:ext cx="84752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2D49D5-F7C0-44E5-AAB8-11B851A4E4D4}"/>
              </a:ext>
            </a:extLst>
          </p:cNvPr>
          <p:cNvCxnSpPr/>
          <p:nvPr/>
        </p:nvCxnSpPr>
        <p:spPr>
          <a:xfrm>
            <a:off x="2115403" y="4082955"/>
            <a:ext cx="84752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79AFD08-A710-4E08-B077-BE255FEDA835}"/>
              </a:ext>
            </a:extLst>
          </p:cNvPr>
          <p:cNvSpPr/>
          <p:nvPr/>
        </p:nvSpPr>
        <p:spPr>
          <a:xfrm>
            <a:off x="3295369" y="4679214"/>
            <a:ext cx="1882250" cy="9400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0C7919-A7D5-400A-AF88-29CECD110110}"/>
              </a:ext>
            </a:extLst>
          </p:cNvPr>
          <p:cNvSpPr/>
          <p:nvPr/>
        </p:nvSpPr>
        <p:spPr>
          <a:xfrm>
            <a:off x="6769289" y="4599296"/>
            <a:ext cx="2033503" cy="94004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AEBE88-8A94-494F-A78B-4A6D52C1274D}"/>
              </a:ext>
            </a:extLst>
          </p:cNvPr>
          <p:cNvSpPr/>
          <p:nvPr/>
        </p:nvSpPr>
        <p:spPr>
          <a:xfrm>
            <a:off x="6537278" y="1313908"/>
            <a:ext cx="1842438" cy="91067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2507C-3FE1-4992-9F94-98AB1C6BF009}"/>
              </a:ext>
            </a:extLst>
          </p:cNvPr>
          <p:cNvSpPr txBox="1"/>
          <p:nvPr/>
        </p:nvSpPr>
        <p:spPr>
          <a:xfrm>
            <a:off x="6912586" y="1571794"/>
            <a:ext cx="109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NODE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E1FB5-202B-4CF4-BBCF-DF5C95C28C23}"/>
              </a:ext>
            </a:extLst>
          </p:cNvPr>
          <p:cNvSpPr txBox="1"/>
          <p:nvPr/>
        </p:nvSpPr>
        <p:spPr>
          <a:xfrm>
            <a:off x="7192370" y="4882624"/>
            <a:ext cx="109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NODE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95EC3-A5DE-44DF-9462-90C9F4675D1D}"/>
              </a:ext>
            </a:extLst>
          </p:cNvPr>
          <p:cNvSpPr txBox="1"/>
          <p:nvPr/>
        </p:nvSpPr>
        <p:spPr>
          <a:xfrm>
            <a:off x="3572296" y="4992791"/>
            <a:ext cx="109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NODE 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A3D915-AF97-4286-A3D0-97C9BD7AA279}"/>
              </a:ext>
            </a:extLst>
          </p:cNvPr>
          <p:cNvCxnSpPr/>
          <p:nvPr/>
        </p:nvCxnSpPr>
        <p:spPr>
          <a:xfrm>
            <a:off x="4039737" y="2634018"/>
            <a:ext cx="0" cy="2032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02BF8B-217C-4CEF-AF23-C6418A02EB37}"/>
              </a:ext>
            </a:extLst>
          </p:cNvPr>
          <p:cNvCxnSpPr/>
          <p:nvPr/>
        </p:nvCxnSpPr>
        <p:spPr>
          <a:xfrm flipV="1">
            <a:off x="4913195" y="4110160"/>
            <a:ext cx="0" cy="583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977E68-5679-4163-93A4-AFB57B9EF1C8}"/>
              </a:ext>
            </a:extLst>
          </p:cNvPr>
          <p:cNvCxnSpPr/>
          <p:nvPr/>
        </p:nvCxnSpPr>
        <p:spPr>
          <a:xfrm flipV="1">
            <a:off x="7192370" y="4082955"/>
            <a:ext cx="0" cy="516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D01226-B1DF-4122-BB81-B1A01D97429D}"/>
              </a:ext>
            </a:extLst>
          </p:cNvPr>
          <p:cNvCxnSpPr/>
          <p:nvPr/>
        </p:nvCxnSpPr>
        <p:spPr>
          <a:xfrm flipV="1">
            <a:off x="8079475" y="2621526"/>
            <a:ext cx="0" cy="1977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541DD9-AE91-4158-9E85-C7E413D2C6BF}"/>
              </a:ext>
            </a:extLst>
          </p:cNvPr>
          <p:cNvCxnSpPr>
            <a:cxnSpLocks/>
          </p:cNvCxnSpPr>
          <p:nvPr/>
        </p:nvCxnSpPr>
        <p:spPr>
          <a:xfrm>
            <a:off x="6857999" y="2224585"/>
            <a:ext cx="0" cy="185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EDFD765-5EF1-4667-968B-5AC6457C8517}"/>
              </a:ext>
            </a:extLst>
          </p:cNvPr>
          <p:cNvCxnSpPr/>
          <p:nvPr/>
        </p:nvCxnSpPr>
        <p:spPr>
          <a:xfrm>
            <a:off x="7472144" y="2224585"/>
            <a:ext cx="0" cy="396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3590ED-6017-4478-B343-8B51D9123B82}"/>
              </a:ext>
            </a:extLst>
          </p:cNvPr>
          <p:cNvSpPr txBox="1"/>
          <p:nvPr/>
        </p:nvSpPr>
        <p:spPr>
          <a:xfrm>
            <a:off x="1678675" y="2167202"/>
            <a:ext cx="131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CAN 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2FEB7C-0F93-4DA8-9C93-162ABB94CAF7}"/>
              </a:ext>
            </a:extLst>
          </p:cNvPr>
          <p:cNvSpPr txBox="1"/>
          <p:nvPr/>
        </p:nvSpPr>
        <p:spPr>
          <a:xfrm>
            <a:off x="1831074" y="3536406"/>
            <a:ext cx="131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CAN 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5C0E43-F0B4-4037-A922-C1D8F58ACC77}"/>
              </a:ext>
            </a:extLst>
          </p:cNvPr>
          <p:cNvSpPr txBox="1"/>
          <p:nvPr/>
        </p:nvSpPr>
        <p:spPr>
          <a:xfrm>
            <a:off x="3463123" y="3721072"/>
            <a:ext cx="655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CRC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2F4A4E-22E1-4432-9D2B-B017A3BD7BCC}"/>
              </a:ext>
            </a:extLst>
          </p:cNvPr>
          <p:cNvSpPr txBox="1"/>
          <p:nvPr/>
        </p:nvSpPr>
        <p:spPr>
          <a:xfrm>
            <a:off x="6174486" y="2691500"/>
            <a:ext cx="761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CRC error flag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7C3B0F-6895-463D-8673-2FBB44203FFD}"/>
              </a:ext>
            </a:extLst>
          </p:cNvPr>
          <p:cNvSpPr txBox="1"/>
          <p:nvPr/>
        </p:nvSpPr>
        <p:spPr>
          <a:xfrm>
            <a:off x="8192076" y="3167074"/>
            <a:ext cx="761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CRC error flag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CFB030-364B-4F8B-AEC8-365FB8A2E14C}"/>
              </a:ext>
            </a:extLst>
          </p:cNvPr>
          <p:cNvSpPr txBox="1"/>
          <p:nvPr/>
        </p:nvSpPr>
        <p:spPr>
          <a:xfrm>
            <a:off x="7461926" y="2303009"/>
            <a:ext cx="822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ACK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6942B5-F87C-4E7A-9878-2368AC14880B}"/>
              </a:ext>
            </a:extLst>
          </p:cNvPr>
          <p:cNvSpPr txBox="1"/>
          <p:nvPr/>
        </p:nvSpPr>
        <p:spPr>
          <a:xfrm>
            <a:off x="7349319" y="4045167"/>
            <a:ext cx="822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ACK 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4B137E-D877-47E2-BDF5-017E8EF071B4}"/>
              </a:ext>
            </a:extLst>
          </p:cNvPr>
          <p:cNvSpPr txBox="1"/>
          <p:nvPr/>
        </p:nvSpPr>
        <p:spPr>
          <a:xfrm>
            <a:off x="3595634" y="4353635"/>
            <a:ext cx="43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53456D-595E-4797-8575-843E45F67910}"/>
              </a:ext>
            </a:extLst>
          </p:cNvPr>
          <p:cNvSpPr txBox="1"/>
          <p:nvPr/>
        </p:nvSpPr>
        <p:spPr>
          <a:xfrm>
            <a:off x="4401406" y="4324525"/>
            <a:ext cx="35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8381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B9DD6-557C-47A5-88A4-8208287E5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263" y="586854"/>
            <a:ext cx="10821537" cy="5590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Error:</a:t>
            </a: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Error occur when recessive bits are changed as a dominant bit</a:t>
            </a:r>
          </a:p>
          <a:p>
            <a:r>
              <a:rPr lang="en-IN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End of frame, ACK delimiter, CRC delimiter , interframe space </a:t>
            </a:r>
          </a:p>
          <a:p>
            <a:pPr marL="0" indent="0">
              <a:buNone/>
            </a:pPr>
            <a:endParaRPr lang="en-IN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Stuff Error:</a:t>
            </a: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Stuffing is a concept in communication Network to avoid the excessive DC component</a:t>
            </a: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 bit added after 5 successive same bit</a:t>
            </a:r>
          </a:p>
        </p:txBody>
      </p:sp>
    </p:spTree>
    <p:extLst>
      <p:ext uri="{BB962C8B-B14F-4D97-AF65-F5344CB8AC3E}">
        <p14:creationId xmlns:p14="http://schemas.microsoft.com/office/powerpoint/2010/main" val="2584309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63EB-F677-45F2-9588-435BABF2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confinement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28891-EA32-455D-9D98-70D45ADD0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Error flag (continuous 8 dominant bits)</a:t>
            </a:r>
          </a:p>
          <a:p>
            <a:pPr>
              <a:lnSpc>
                <a:spcPct val="250000"/>
              </a:lnSpc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Error flag</a:t>
            </a:r>
          </a:p>
          <a:p>
            <a:pPr>
              <a:lnSpc>
                <a:spcPct val="250000"/>
              </a:lnSpc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 off</a:t>
            </a:r>
          </a:p>
        </p:txBody>
      </p:sp>
    </p:spTree>
    <p:extLst>
      <p:ext uri="{BB962C8B-B14F-4D97-AF65-F5344CB8AC3E}">
        <p14:creationId xmlns:p14="http://schemas.microsoft.com/office/powerpoint/2010/main" val="2478035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D08CEF-B0C4-490C-9A75-962D82DEFF99}"/>
              </a:ext>
            </a:extLst>
          </p:cNvPr>
          <p:cNvCxnSpPr/>
          <p:nvPr/>
        </p:nvCxnSpPr>
        <p:spPr>
          <a:xfrm>
            <a:off x="2115403" y="2634018"/>
            <a:ext cx="84752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0E2A02-A8DA-4940-B39F-003BBB6E28DB}"/>
              </a:ext>
            </a:extLst>
          </p:cNvPr>
          <p:cNvCxnSpPr/>
          <p:nvPr/>
        </p:nvCxnSpPr>
        <p:spPr>
          <a:xfrm>
            <a:off x="2115403" y="4082955"/>
            <a:ext cx="84752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89B4CA7-B66A-4873-9E1A-2EC801F6B927}"/>
              </a:ext>
            </a:extLst>
          </p:cNvPr>
          <p:cNvSpPr/>
          <p:nvPr/>
        </p:nvSpPr>
        <p:spPr>
          <a:xfrm>
            <a:off x="3295369" y="4679214"/>
            <a:ext cx="1882250" cy="9400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AFE0E-593A-4A1D-AE20-ABE2CFD8F9D7}"/>
              </a:ext>
            </a:extLst>
          </p:cNvPr>
          <p:cNvSpPr/>
          <p:nvPr/>
        </p:nvSpPr>
        <p:spPr>
          <a:xfrm>
            <a:off x="6857999" y="4675515"/>
            <a:ext cx="2033503" cy="94004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7D6A9-9D36-4249-9419-77B40D9A0664}"/>
              </a:ext>
            </a:extLst>
          </p:cNvPr>
          <p:cNvSpPr txBox="1"/>
          <p:nvPr/>
        </p:nvSpPr>
        <p:spPr>
          <a:xfrm>
            <a:off x="7192370" y="4882624"/>
            <a:ext cx="109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NODE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721CB-8A17-4703-8ABE-49794AE61ED4}"/>
              </a:ext>
            </a:extLst>
          </p:cNvPr>
          <p:cNvSpPr txBox="1"/>
          <p:nvPr/>
        </p:nvSpPr>
        <p:spPr>
          <a:xfrm>
            <a:off x="3572296" y="4992791"/>
            <a:ext cx="109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NODE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60CEB3-CC39-43B6-AC39-A473398EDF55}"/>
              </a:ext>
            </a:extLst>
          </p:cNvPr>
          <p:cNvCxnSpPr/>
          <p:nvPr/>
        </p:nvCxnSpPr>
        <p:spPr>
          <a:xfrm>
            <a:off x="4039737" y="2634018"/>
            <a:ext cx="0" cy="2032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BC6D39-5F31-41D3-8391-482187746B72}"/>
              </a:ext>
            </a:extLst>
          </p:cNvPr>
          <p:cNvCxnSpPr/>
          <p:nvPr/>
        </p:nvCxnSpPr>
        <p:spPr>
          <a:xfrm flipV="1">
            <a:off x="4913195" y="4110160"/>
            <a:ext cx="0" cy="583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AE4AEB-234B-4D10-A01F-1B6A05B32347}"/>
              </a:ext>
            </a:extLst>
          </p:cNvPr>
          <p:cNvCxnSpPr>
            <a:cxnSpLocks/>
          </p:cNvCxnSpPr>
          <p:nvPr/>
        </p:nvCxnSpPr>
        <p:spPr>
          <a:xfrm flipV="1">
            <a:off x="7192370" y="4082956"/>
            <a:ext cx="0" cy="583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9144F1-BF35-423E-923A-2FB6414CBBE2}"/>
              </a:ext>
            </a:extLst>
          </p:cNvPr>
          <p:cNvCxnSpPr>
            <a:cxnSpLocks/>
          </p:cNvCxnSpPr>
          <p:nvPr/>
        </p:nvCxnSpPr>
        <p:spPr>
          <a:xfrm flipV="1">
            <a:off x="8079475" y="2621526"/>
            <a:ext cx="0" cy="2072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A08045-B663-4F84-8BFB-5D37D48EF985}"/>
              </a:ext>
            </a:extLst>
          </p:cNvPr>
          <p:cNvCxnSpPr>
            <a:cxnSpLocks/>
          </p:cNvCxnSpPr>
          <p:nvPr/>
        </p:nvCxnSpPr>
        <p:spPr>
          <a:xfrm>
            <a:off x="6857999" y="2224585"/>
            <a:ext cx="0" cy="1858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480644-505A-485E-8FCD-B6F2C8398BD2}"/>
              </a:ext>
            </a:extLst>
          </p:cNvPr>
          <p:cNvCxnSpPr/>
          <p:nvPr/>
        </p:nvCxnSpPr>
        <p:spPr>
          <a:xfrm>
            <a:off x="7472144" y="2224585"/>
            <a:ext cx="0" cy="396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A2CAA3-BA1A-46FA-85D5-783AC569368E}"/>
              </a:ext>
            </a:extLst>
          </p:cNvPr>
          <p:cNvSpPr txBox="1"/>
          <p:nvPr/>
        </p:nvSpPr>
        <p:spPr>
          <a:xfrm>
            <a:off x="1678675" y="2167202"/>
            <a:ext cx="131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CAN 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C2E0D-893E-4AC4-A3BF-3F371830FECE}"/>
              </a:ext>
            </a:extLst>
          </p:cNvPr>
          <p:cNvSpPr txBox="1"/>
          <p:nvPr/>
        </p:nvSpPr>
        <p:spPr>
          <a:xfrm>
            <a:off x="1323835" y="3898289"/>
            <a:ext cx="131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CAN 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A519F6-B3C3-4390-B457-C493C52573F0}"/>
              </a:ext>
            </a:extLst>
          </p:cNvPr>
          <p:cNvSpPr/>
          <p:nvPr/>
        </p:nvSpPr>
        <p:spPr>
          <a:xfrm>
            <a:off x="6455392" y="1286656"/>
            <a:ext cx="2033503" cy="94004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46592F-7C96-4730-9A9F-6048B0D154C1}"/>
              </a:ext>
            </a:extLst>
          </p:cNvPr>
          <p:cNvSpPr txBox="1"/>
          <p:nvPr/>
        </p:nvSpPr>
        <p:spPr>
          <a:xfrm>
            <a:off x="6936481" y="1621954"/>
            <a:ext cx="109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NODE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5835C4-A7D0-4A34-B35E-865720973AA7}"/>
              </a:ext>
            </a:extLst>
          </p:cNvPr>
          <p:cNvSpPr txBox="1"/>
          <p:nvPr/>
        </p:nvSpPr>
        <p:spPr>
          <a:xfrm>
            <a:off x="2442950" y="4992791"/>
            <a:ext cx="69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D59732-585A-46E9-8BBB-19FA3B005D3F}"/>
              </a:ext>
            </a:extLst>
          </p:cNvPr>
          <p:cNvSpPr txBox="1"/>
          <p:nvPr/>
        </p:nvSpPr>
        <p:spPr>
          <a:xfrm>
            <a:off x="8606606" y="1572010"/>
            <a:ext cx="69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3DB4C3-6506-4F44-BDE6-D83A62123B2A}"/>
              </a:ext>
            </a:extLst>
          </p:cNvPr>
          <p:cNvSpPr txBox="1"/>
          <p:nvPr/>
        </p:nvSpPr>
        <p:spPr>
          <a:xfrm>
            <a:off x="5639377" y="1605874"/>
            <a:ext cx="69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32DE75-8E73-4560-85A8-37D36D5CC4C2}"/>
              </a:ext>
            </a:extLst>
          </p:cNvPr>
          <p:cNvSpPr txBox="1"/>
          <p:nvPr/>
        </p:nvSpPr>
        <p:spPr>
          <a:xfrm>
            <a:off x="9074908" y="4980687"/>
            <a:ext cx="69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7DB97A-0349-48CB-8966-6500324B6E23}"/>
              </a:ext>
            </a:extLst>
          </p:cNvPr>
          <p:cNvSpPr txBox="1"/>
          <p:nvPr/>
        </p:nvSpPr>
        <p:spPr>
          <a:xfrm>
            <a:off x="6133526" y="4992791"/>
            <a:ext cx="69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863E14-2213-46C6-A1E1-8141017B98CE}"/>
              </a:ext>
            </a:extLst>
          </p:cNvPr>
          <p:cNvSpPr txBox="1"/>
          <p:nvPr/>
        </p:nvSpPr>
        <p:spPr>
          <a:xfrm>
            <a:off x="5162838" y="4992791"/>
            <a:ext cx="69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ADA0AB-5B28-431A-8FF1-878347BF8919}"/>
              </a:ext>
            </a:extLst>
          </p:cNvPr>
          <p:cNvSpPr/>
          <p:nvPr/>
        </p:nvSpPr>
        <p:spPr>
          <a:xfrm>
            <a:off x="2197298" y="2969862"/>
            <a:ext cx="518600" cy="8360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DD32B7-D8D8-4645-8E9E-F1F8EE524F0E}"/>
              </a:ext>
            </a:extLst>
          </p:cNvPr>
          <p:cNvSpPr/>
          <p:nvPr/>
        </p:nvSpPr>
        <p:spPr>
          <a:xfrm>
            <a:off x="10101626" y="3010953"/>
            <a:ext cx="518600" cy="8360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CF78EA7-DD77-4978-B1A8-F90090261024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2456598" y="2640323"/>
            <a:ext cx="0" cy="329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C33493-1E9C-479C-8B3C-9FFA144207FC}"/>
              </a:ext>
            </a:extLst>
          </p:cNvPr>
          <p:cNvCxnSpPr>
            <a:cxnSpLocks/>
          </p:cNvCxnSpPr>
          <p:nvPr/>
        </p:nvCxnSpPr>
        <p:spPr>
          <a:xfrm>
            <a:off x="2450058" y="3791877"/>
            <a:ext cx="6540" cy="291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D6FAD90-0304-4F67-88B6-8BFA2ECDA2F9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10360926" y="3847047"/>
            <a:ext cx="9894" cy="244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C7F97D0-D901-4807-8669-1EFF30DB96BB}"/>
              </a:ext>
            </a:extLst>
          </p:cNvPr>
          <p:cNvCxnSpPr>
            <a:stCxn id="39" idx="0"/>
            <a:endCxn id="39" idx="0"/>
          </p:cNvCxnSpPr>
          <p:nvPr/>
        </p:nvCxnSpPr>
        <p:spPr>
          <a:xfrm>
            <a:off x="10360926" y="301095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F143E38-DEC1-42BE-BA40-C4C8EBE61575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10360926" y="2634018"/>
            <a:ext cx="0" cy="376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4EAD31B-DCBC-4E7B-9BE1-BA0420101D0B}"/>
              </a:ext>
            </a:extLst>
          </p:cNvPr>
          <p:cNvSpPr txBox="1"/>
          <p:nvPr/>
        </p:nvSpPr>
        <p:spPr>
          <a:xfrm>
            <a:off x="2363056" y="3085301"/>
            <a:ext cx="200024" cy="66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0EE6B3-E62F-4ECF-8E00-AAD9626ED54D}"/>
              </a:ext>
            </a:extLst>
          </p:cNvPr>
          <p:cNvSpPr txBox="1"/>
          <p:nvPr/>
        </p:nvSpPr>
        <p:spPr>
          <a:xfrm>
            <a:off x="10270808" y="3122177"/>
            <a:ext cx="200024" cy="66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Rt</a:t>
            </a:r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29B0CA45-77C7-4AE0-8805-0AFB3D0B602E}"/>
              </a:ext>
            </a:extLst>
          </p:cNvPr>
          <p:cNvSpPr/>
          <p:nvPr/>
        </p:nvSpPr>
        <p:spPr>
          <a:xfrm rot="10800000">
            <a:off x="4236494" y="3452382"/>
            <a:ext cx="205848" cy="12142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DDE8CE-DD77-4048-9676-8E946D3F1201}"/>
              </a:ext>
            </a:extLst>
          </p:cNvPr>
          <p:cNvSpPr txBox="1"/>
          <p:nvPr/>
        </p:nvSpPr>
        <p:spPr>
          <a:xfrm>
            <a:off x="5738886" y="2044462"/>
            <a:ext cx="80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1374DB51-1B70-4096-BAFF-1B9515075FC0}"/>
              </a:ext>
            </a:extLst>
          </p:cNvPr>
          <p:cNvSpPr/>
          <p:nvPr/>
        </p:nvSpPr>
        <p:spPr>
          <a:xfrm>
            <a:off x="6464636" y="2238112"/>
            <a:ext cx="205848" cy="12142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DA5913-FCE0-4AAB-9D70-48058A686025}"/>
              </a:ext>
            </a:extLst>
          </p:cNvPr>
          <p:cNvSpPr txBox="1"/>
          <p:nvPr/>
        </p:nvSpPr>
        <p:spPr>
          <a:xfrm>
            <a:off x="6893836" y="2306230"/>
            <a:ext cx="53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A91130-B97A-4AF6-8979-B4689C460EBB}"/>
              </a:ext>
            </a:extLst>
          </p:cNvPr>
          <p:cNvSpPr txBox="1"/>
          <p:nvPr/>
        </p:nvSpPr>
        <p:spPr>
          <a:xfrm>
            <a:off x="7617146" y="2634721"/>
            <a:ext cx="515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bit error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2FA3A0-7DBC-43C2-95DC-41F841742D78}"/>
              </a:ext>
            </a:extLst>
          </p:cNvPr>
          <p:cNvSpPr txBox="1"/>
          <p:nvPr/>
        </p:nvSpPr>
        <p:spPr>
          <a:xfrm>
            <a:off x="8117570" y="4249093"/>
            <a:ext cx="198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000 000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C6A7DE-E9E5-466E-A1C6-F489F3875656}"/>
              </a:ext>
            </a:extLst>
          </p:cNvPr>
          <p:cNvSpPr txBox="1"/>
          <p:nvPr/>
        </p:nvSpPr>
        <p:spPr>
          <a:xfrm>
            <a:off x="8719204" y="2256112"/>
            <a:ext cx="99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000 000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E08CEB-F055-4642-B612-88ED59F81B8A}"/>
              </a:ext>
            </a:extLst>
          </p:cNvPr>
          <p:cNvSpPr txBox="1"/>
          <p:nvPr/>
        </p:nvSpPr>
        <p:spPr>
          <a:xfrm>
            <a:off x="8488895" y="854118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3C8F00-2A08-45BE-96CA-5B83F1297C25}"/>
              </a:ext>
            </a:extLst>
          </p:cNvPr>
          <p:cNvSpPr txBox="1"/>
          <p:nvPr/>
        </p:nvSpPr>
        <p:spPr>
          <a:xfrm>
            <a:off x="2511406" y="5398445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51DF0-604A-4075-B8C8-0AE5E5687DDB}"/>
              </a:ext>
            </a:extLst>
          </p:cNvPr>
          <p:cNvSpPr txBox="1"/>
          <p:nvPr/>
        </p:nvSpPr>
        <p:spPr>
          <a:xfrm>
            <a:off x="5818751" y="824950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250923C-2615-44C2-8937-8FFE22516A9B}"/>
              </a:ext>
            </a:extLst>
          </p:cNvPr>
          <p:cNvSpPr txBox="1"/>
          <p:nvPr/>
        </p:nvSpPr>
        <p:spPr>
          <a:xfrm>
            <a:off x="9215949" y="5323061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674731-FFC4-47A9-8134-661C315D33ED}"/>
              </a:ext>
            </a:extLst>
          </p:cNvPr>
          <p:cNvSpPr txBox="1"/>
          <p:nvPr/>
        </p:nvSpPr>
        <p:spPr>
          <a:xfrm>
            <a:off x="6209104" y="5421598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A2BA0B-3E6F-4E20-BF4E-A4F307408232}"/>
              </a:ext>
            </a:extLst>
          </p:cNvPr>
          <p:cNvSpPr txBox="1"/>
          <p:nvPr/>
        </p:nvSpPr>
        <p:spPr>
          <a:xfrm>
            <a:off x="5331125" y="5306368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8F0031A-5A51-45A8-B073-FC5F37ACF6E0}"/>
              </a:ext>
            </a:extLst>
          </p:cNvPr>
          <p:cNvSpPr txBox="1"/>
          <p:nvPr/>
        </p:nvSpPr>
        <p:spPr>
          <a:xfrm>
            <a:off x="4840603" y="1975206"/>
            <a:ext cx="82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1+8=9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B99EAA-BA61-4AEF-9DCD-B9E9994486FE}"/>
              </a:ext>
            </a:extLst>
          </p:cNvPr>
          <p:cNvSpPr txBox="1"/>
          <p:nvPr/>
        </p:nvSpPr>
        <p:spPr>
          <a:xfrm>
            <a:off x="9702553" y="2247657"/>
            <a:ext cx="1266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Error echo</a:t>
            </a:r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7D66B4D3-F06C-4C1D-9CAC-2C1AFC305A49}"/>
              </a:ext>
            </a:extLst>
          </p:cNvPr>
          <p:cNvSpPr/>
          <p:nvPr/>
        </p:nvSpPr>
        <p:spPr>
          <a:xfrm rot="10800000">
            <a:off x="7309150" y="3414970"/>
            <a:ext cx="205848" cy="12142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7F829CA-6717-4969-A8DD-B6535DF2A330}"/>
              </a:ext>
            </a:extLst>
          </p:cNvPr>
          <p:cNvSpPr txBox="1"/>
          <p:nvPr/>
        </p:nvSpPr>
        <p:spPr>
          <a:xfrm>
            <a:off x="9256806" y="5790930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E1AA854-E4CA-4F05-A537-AD1A84A265F3}"/>
              </a:ext>
            </a:extLst>
          </p:cNvPr>
          <p:cNvSpPr txBox="1"/>
          <p:nvPr/>
        </p:nvSpPr>
        <p:spPr>
          <a:xfrm>
            <a:off x="2503323" y="5910018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5567F70-6C68-4039-93E0-1D71C15B8427}"/>
              </a:ext>
            </a:extLst>
          </p:cNvPr>
          <p:cNvSpPr txBox="1"/>
          <p:nvPr/>
        </p:nvSpPr>
        <p:spPr>
          <a:xfrm>
            <a:off x="6316778" y="801234"/>
            <a:ext cx="6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CABCDAE-DE2D-4E69-B51E-46896592F48A}"/>
              </a:ext>
            </a:extLst>
          </p:cNvPr>
          <p:cNvSpPr txBox="1"/>
          <p:nvPr/>
        </p:nvSpPr>
        <p:spPr>
          <a:xfrm>
            <a:off x="6395303" y="5851172"/>
            <a:ext cx="2093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REC or TEC &lt;=128 </a:t>
            </a:r>
          </a:p>
          <a:p>
            <a:r>
              <a:rPr lang="en-IN" dirty="0"/>
              <a:t>It becomes a passive error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A2B4FF0-E8B4-4E58-A9E1-856D36A91941}"/>
              </a:ext>
            </a:extLst>
          </p:cNvPr>
          <p:cNvSpPr txBox="1"/>
          <p:nvPr/>
        </p:nvSpPr>
        <p:spPr>
          <a:xfrm>
            <a:off x="9674840" y="5975596"/>
            <a:ext cx="23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REC or TEC &lt;=256</a:t>
            </a:r>
          </a:p>
          <a:p>
            <a:r>
              <a:rPr lang="en-IN" dirty="0"/>
              <a:t>It goes to bus off state</a:t>
            </a:r>
          </a:p>
        </p:txBody>
      </p:sp>
    </p:spTree>
    <p:extLst>
      <p:ext uri="{BB962C8B-B14F-4D97-AF65-F5344CB8AC3E}">
        <p14:creationId xmlns:p14="http://schemas.microsoft.com/office/powerpoint/2010/main" val="3106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/>
      <p:bldP spid="67" grpId="0"/>
      <p:bldP spid="68" grpId="0"/>
      <p:bldP spid="69" grpId="0"/>
      <p:bldP spid="70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2" grpId="0" animBg="1"/>
      <p:bldP spid="83" grpId="0"/>
      <p:bldP spid="84" grpId="0"/>
      <p:bldP spid="85" grpId="0"/>
      <p:bldP spid="86" grpId="0"/>
      <p:bldP spid="8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03EA80-B0A4-447F-BFB9-61FE00914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640" y="1459196"/>
            <a:ext cx="9994282" cy="3939607"/>
          </a:xfrm>
        </p:spPr>
      </p:pic>
    </p:spTree>
    <p:extLst>
      <p:ext uri="{BB962C8B-B14F-4D97-AF65-F5344CB8AC3E}">
        <p14:creationId xmlns:p14="http://schemas.microsoft.com/office/powerpoint/2010/main" val="346300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FB4A-CDCD-4672-9438-DE1C5429C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51058"/>
            <a:ext cx="10337800" cy="941161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master  arbitration Data frame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D68887-1C36-4364-AFE7-395FC1BF7F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684"/>
          <a:stretch/>
        </p:blipFill>
        <p:spPr>
          <a:xfrm>
            <a:off x="1527310" y="1484033"/>
            <a:ext cx="533719" cy="51367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9CC9AA-0AB0-4EB3-859C-4CC2E30ECC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" r="80325"/>
          <a:stretch/>
        </p:blipFill>
        <p:spPr>
          <a:xfrm>
            <a:off x="2061028" y="1484033"/>
            <a:ext cx="1441827" cy="51367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01E165-E0D7-494D-A166-7AAE008E99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76" r="76121"/>
          <a:stretch/>
        </p:blipFill>
        <p:spPr>
          <a:xfrm>
            <a:off x="3502855" y="1484033"/>
            <a:ext cx="422032" cy="51367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30C4A3-A521-4A50-8A86-A8BFA8CC18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9" r="70096"/>
          <a:stretch/>
        </p:blipFill>
        <p:spPr>
          <a:xfrm>
            <a:off x="3924886" y="1484033"/>
            <a:ext cx="604911" cy="513675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F63C7A5-3041-46B3-8634-DC70E47040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3" r="9533"/>
          <a:stretch/>
        </p:blipFill>
        <p:spPr>
          <a:xfrm>
            <a:off x="4529796" y="1484033"/>
            <a:ext cx="6080899" cy="51367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5580DAB-F777-4258-8E46-A9E6EF22BD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30" r="2132" b="67819"/>
          <a:stretch/>
        </p:blipFill>
        <p:spPr>
          <a:xfrm>
            <a:off x="10610697" y="3429000"/>
            <a:ext cx="817098" cy="165306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55DDE9F-98C0-4B2D-A629-CD043420E3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67" b="67819"/>
          <a:stretch/>
        </p:blipFill>
        <p:spPr>
          <a:xfrm>
            <a:off x="10610696" y="1484033"/>
            <a:ext cx="957189" cy="16530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6B570A-6B23-4F30-86C6-46E2B6F4FB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67" t="67818"/>
          <a:stretch/>
        </p:blipFill>
        <p:spPr>
          <a:xfrm>
            <a:off x="10610696" y="4967723"/>
            <a:ext cx="957190" cy="165306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4D09817-BFE4-49DE-B4DD-DDDB74CCC9E0}"/>
              </a:ext>
            </a:extLst>
          </p:cNvPr>
          <p:cNvSpPr txBox="1"/>
          <p:nvPr/>
        </p:nvSpPr>
        <p:spPr>
          <a:xfrm>
            <a:off x="168812" y="2166425"/>
            <a:ext cx="14124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 (11bit)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A046D0-0309-4841-9C16-281D42034C54}"/>
              </a:ext>
            </a:extLst>
          </p:cNvPr>
          <p:cNvSpPr txBox="1"/>
          <p:nvPr/>
        </p:nvSpPr>
        <p:spPr>
          <a:xfrm>
            <a:off x="188949" y="3241915"/>
            <a:ext cx="14124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2 (11bit)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2A201D-4B3B-444E-989E-272A26D4E5B3}"/>
              </a:ext>
            </a:extLst>
          </p:cNvPr>
          <p:cNvSpPr txBox="1"/>
          <p:nvPr/>
        </p:nvSpPr>
        <p:spPr>
          <a:xfrm>
            <a:off x="234944" y="4317406"/>
            <a:ext cx="14124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3 (29 bit)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C27B43-C33F-4FE5-A18B-FB0B9F4A3CE9}"/>
              </a:ext>
            </a:extLst>
          </p:cNvPr>
          <p:cNvSpPr txBox="1"/>
          <p:nvPr/>
        </p:nvSpPr>
        <p:spPr>
          <a:xfrm>
            <a:off x="218015" y="5356334"/>
            <a:ext cx="14124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4 (29bit)</a:t>
            </a:r>
          </a:p>
        </p:txBody>
      </p:sp>
    </p:spTree>
    <p:extLst>
      <p:ext uri="{BB962C8B-B14F-4D97-AF65-F5344CB8AC3E}">
        <p14:creationId xmlns:p14="http://schemas.microsoft.com/office/powerpoint/2010/main" val="338395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16AAE625-4B22-A2C2-0927-458C41E4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117B0BA8-3421-DC9F-F485-5D410A146A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ISOTP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059A7-9B57-9403-21BD-2826197DD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6667" y="1825625"/>
            <a:ext cx="10515600" cy="4736042"/>
          </a:xfrm>
        </p:spPr>
        <p:txBody>
          <a:bodyPr/>
          <a:lstStyle/>
          <a:p>
            <a:r>
              <a:rPr lang="en-US" dirty="0">
                <a:solidFill>
                  <a:srgbClr val="1E4E79"/>
                </a:solidFill>
              </a:rPr>
              <a:t>A Classical CAN frame can carry maximum of </a:t>
            </a:r>
            <a:r>
              <a:rPr lang="en-US" dirty="0">
                <a:solidFill>
                  <a:srgbClr val="833C0B"/>
                </a:solidFill>
              </a:rPr>
              <a:t>8 bytes </a:t>
            </a:r>
            <a:r>
              <a:rPr lang="en-US" dirty="0">
                <a:solidFill>
                  <a:srgbClr val="1E4E79"/>
                </a:solidFill>
              </a:rPr>
              <a:t>of data</a:t>
            </a:r>
          </a:p>
          <a:p>
            <a:r>
              <a:rPr lang="en-US" dirty="0">
                <a:solidFill>
                  <a:srgbClr val="1E4E79"/>
                </a:solidFill>
              </a:rPr>
              <a:t>With ISO-TP:</a:t>
            </a:r>
          </a:p>
          <a:p>
            <a:pPr marL="76200" indent="0">
              <a:buNone/>
            </a:pPr>
            <a:r>
              <a:rPr lang="en-US" dirty="0">
                <a:solidFill>
                  <a:srgbClr val="1E4E79"/>
                </a:solidFill>
              </a:rPr>
              <a:t>	The message is divided into multiple CAN frames and reconstructed by the 	receiver.</a:t>
            </a:r>
          </a:p>
          <a:p>
            <a:pPr marL="76200" indent="0">
              <a:buNone/>
            </a:pPr>
            <a:r>
              <a:rPr lang="en-US" dirty="0">
                <a:solidFill>
                  <a:srgbClr val="833C0B"/>
                </a:solidFill>
              </a:rPr>
              <a:t>Types of ISO-TP Frames</a:t>
            </a:r>
          </a:p>
          <a:p>
            <a:pPr marL="533400" indent="-457200">
              <a:buFont typeface="+mj-lt"/>
              <a:buAutoNum type="arabicPeriod"/>
            </a:pPr>
            <a:r>
              <a:rPr lang="en-US" dirty="0">
                <a:solidFill>
                  <a:srgbClr val="1E4E79"/>
                </a:solidFill>
              </a:rPr>
              <a:t>Single Frame (SF)</a:t>
            </a:r>
          </a:p>
          <a:p>
            <a:pPr marL="533400" indent="-457200">
              <a:buFont typeface="+mj-lt"/>
              <a:buAutoNum type="arabicPeriod"/>
            </a:pPr>
            <a:r>
              <a:rPr lang="en-US" dirty="0">
                <a:solidFill>
                  <a:srgbClr val="1E4E79"/>
                </a:solidFill>
              </a:rPr>
              <a:t>First Frame (FF)</a:t>
            </a:r>
          </a:p>
          <a:p>
            <a:pPr marL="533400" indent="-457200">
              <a:buFont typeface="+mj-lt"/>
              <a:buAutoNum type="arabicPeriod"/>
            </a:pPr>
            <a:r>
              <a:rPr lang="en-US" dirty="0">
                <a:solidFill>
                  <a:srgbClr val="1E4E79"/>
                </a:solidFill>
              </a:rPr>
              <a:t>Flow Control (FC)</a:t>
            </a:r>
          </a:p>
          <a:p>
            <a:pPr marL="533400" indent="-457200">
              <a:buFont typeface="+mj-lt"/>
              <a:buAutoNum type="arabicPeriod"/>
            </a:pPr>
            <a:r>
              <a:rPr lang="en-US" dirty="0">
                <a:solidFill>
                  <a:srgbClr val="1E4E79"/>
                </a:solidFill>
              </a:rPr>
              <a:t>Consecutive Frame (CF)</a:t>
            </a:r>
          </a:p>
        </p:txBody>
      </p:sp>
    </p:spTree>
    <p:extLst>
      <p:ext uri="{BB962C8B-B14F-4D97-AF65-F5344CB8AC3E}">
        <p14:creationId xmlns:p14="http://schemas.microsoft.com/office/powerpoint/2010/main" val="42216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FDE0D942-3CF0-E70A-73C8-A09B87FC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AB28D093-DD32-369A-441B-EBDFD539F4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00B050"/>
              </a:buClr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ISOTP - </a:t>
            </a:r>
            <a:r>
              <a:rPr lang="en-US" dirty="0">
                <a:solidFill>
                  <a:srgbClr val="00B050"/>
                </a:solidFill>
              </a:rPr>
              <a:t>Single Frame (SF)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67713-77FF-922F-FBF3-45E3BA1EC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6667" y="1825625"/>
            <a:ext cx="10515600" cy="11231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E4E79"/>
                </a:solidFill>
              </a:rPr>
              <a:t>Used when the message size is </a:t>
            </a:r>
            <a:r>
              <a:rPr lang="en-US" dirty="0">
                <a:solidFill>
                  <a:srgbClr val="833C0B"/>
                </a:solidFill>
              </a:rPr>
              <a:t>7 bytes </a:t>
            </a:r>
            <a:r>
              <a:rPr lang="en-US" dirty="0">
                <a:solidFill>
                  <a:srgbClr val="1E4E79"/>
                </a:solidFill>
              </a:rPr>
              <a:t>or less.</a:t>
            </a:r>
          </a:p>
          <a:p>
            <a:pPr marL="76200" indent="0">
              <a:buNone/>
            </a:pPr>
            <a:r>
              <a:rPr lang="en-US" dirty="0">
                <a:solidFill>
                  <a:srgbClr val="833C0B"/>
                </a:solidFill>
              </a:rPr>
              <a:t>CAN Frame Structure</a:t>
            </a:r>
            <a:endParaRPr lang="en-US" dirty="0">
              <a:solidFill>
                <a:srgbClr val="1E4E79"/>
              </a:solidFill>
            </a:endParaRPr>
          </a:p>
          <a:p>
            <a:pPr marL="76200" indent="0">
              <a:buNone/>
            </a:pPr>
            <a:endParaRPr lang="en-US" dirty="0">
              <a:solidFill>
                <a:srgbClr val="1E4E7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48C4B5-EDFE-E747-13DB-AC24C58D69FB}"/>
              </a:ext>
            </a:extLst>
          </p:cNvPr>
          <p:cNvSpPr/>
          <p:nvPr/>
        </p:nvSpPr>
        <p:spPr>
          <a:xfrm>
            <a:off x="990601" y="3558808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64B85-8CB8-B08A-115B-F4A33ACC2EE9}"/>
              </a:ext>
            </a:extLst>
          </p:cNvPr>
          <p:cNvSpPr/>
          <p:nvPr/>
        </p:nvSpPr>
        <p:spPr>
          <a:xfrm>
            <a:off x="2218267" y="3558808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DLC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23835-1BAB-04D5-5225-24CD51A9D9CA}"/>
              </a:ext>
            </a:extLst>
          </p:cNvPr>
          <p:cNvSpPr/>
          <p:nvPr/>
        </p:nvSpPr>
        <p:spPr>
          <a:xfrm>
            <a:off x="3445933" y="3558807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2E8A2-73AC-2E93-7E3F-3598DB6BE582}"/>
              </a:ext>
            </a:extLst>
          </p:cNvPr>
          <p:cNvSpPr/>
          <p:nvPr/>
        </p:nvSpPr>
        <p:spPr>
          <a:xfrm>
            <a:off x="990601" y="4179521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0x7E0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286EEA-6D3B-39D5-764D-8D549A190DCB}"/>
              </a:ext>
            </a:extLst>
          </p:cNvPr>
          <p:cNvSpPr/>
          <p:nvPr/>
        </p:nvSpPr>
        <p:spPr>
          <a:xfrm>
            <a:off x="2218267" y="4179520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C451C4-05E3-E019-D0CF-93AB5BF7165C}"/>
              </a:ext>
            </a:extLst>
          </p:cNvPr>
          <p:cNvSpPr/>
          <p:nvPr/>
        </p:nvSpPr>
        <p:spPr>
          <a:xfrm>
            <a:off x="3445933" y="4179519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4D43C-B7A0-0E43-8915-20240267F466}"/>
              </a:ext>
            </a:extLst>
          </p:cNvPr>
          <p:cNvSpPr/>
          <p:nvPr/>
        </p:nvSpPr>
        <p:spPr>
          <a:xfrm>
            <a:off x="4059766" y="4179519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835275-980B-A973-4B40-12585042C8A5}"/>
              </a:ext>
            </a:extLst>
          </p:cNvPr>
          <p:cNvSpPr/>
          <p:nvPr/>
        </p:nvSpPr>
        <p:spPr>
          <a:xfrm>
            <a:off x="4673599" y="4179519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603DC7-58A2-8A46-532C-D362BB0A7F14}"/>
              </a:ext>
            </a:extLst>
          </p:cNvPr>
          <p:cNvSpPr/>
          <p:nvPr/>
        </p:nvSpPr>
        <p:spPr>
          <a:xfrm>
            <a:off x="5287432" y="4179518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401DC5-76D8-C9C9-30F8-7A5DB3FB1638}"/>
              </a:ext>
            </a:extLst>
          </p:cNvPr>
          <p:cNvSpPr/>
          <p:nvPr/>
        </p:nvSpPr>
        <p:spPr>
          <a:xfrm>
            <a:off x="5858929" y="4179517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EA209-44A5-9302-28FA-447D21BAAC38}"/>
              </a:ext>
            </a:extLst>
          </p:cNvPr>
          <p:cNvSpPr/>
          <p:nvPr/>
        </p:nvSpPr>
        <p:spPr>
          <a:xfrm>
            <a:off x="6481231" y="4179516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74EC89-B268-DB6C-B263-92A2D20DB3C6}"/>
              </a:ext>
            </a:extLst>
          </p:cNvPr>
          <p:cNvSpPr txBox="1"/>
          <p:nvPr/>
        </p:nvSpPr>
        <p:spPr>
          <a:xfrm>
            <a:off x="5482163" y="2898510"/>
            <a:ext cx="5228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PCI (protocol control information)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99CA6A-0E6F-2057-8B05-FC415C26E66D}"/>
              </a:ext>
            </a:extLst>
          </p:cNvPr>
          <p:cNvCxnSpPr/>
          <p:nvPr/>
        </p:nvCxnSpPr>
        <p:spPr>
          <a:xfrm flipV="1">
            <a:off x="4368800" y="3073402"/>
            <a:ext cx="1037168" cy="4995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FE6382-8366-8825-FB71-427F56544029}"/>
              </a:ext>
            </a:extLst>
          </p:cNvPr>
          <p:cNvSpPr txBox="1"/>
          <p:nvPr/>
        </p:nvSpPr>
        <p:spPr>
          <a:xfrm>
            <a:off x="3291417" y="5110674"/>
            <a:ext cx="5228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PCI = 0x07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Lower Nibble =	7 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 Length Information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Upper  Nibble =	0 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 Frame information</a:t>
            </a:r>
            <a:endParaRPr lang="en-US" sz="2000" dirty="0">
              <a:solidFill>
                <a:srgbClr val="1E4E79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FB7989-B32A-AC6F-125E-8731781982D5}"/>
              </a:ext>
            </a:extLst>
          </p:cNvPr>
          <p:cNvSpPr txBox="1"/>
          <p:nvPr/>
        </p:nvSpPr>
        <p:spPr>
          <a:xfrm>
            <a:off x="8360830" y="5225752"/>
            <a:ext cx="39052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0x0X  → Single Frame (SF)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0x1X  → First Frame (FF)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0x2X  → Consecutive Frame (CF)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0x3X  → Flow Control (FC)</a:t>
            </a:r>
            <a:endParaRPr lang="en-US" sz="2000" dirty="0">
              <a:solidFill>
                <a:srgbClr val="1E4E79"/>
              </a:solidFill>
              <a:latin typeface="Times New Roman"/>
              <a:cs typeface="Times New Roman"/>
              <a:sym typeface="Times New Roman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A90EDBB-6155-1499-DAAD-8554AA4DF54C}"/>
              </a:ext>
            </a:extLst>
          </p:cNvPr>
          <p:cNvCxnSpPr>
            <a:cxnSpLocks/>
          </p:cNvCxnSpPr>
          <p:nvPr/>
        </p:nvCxnSpPr>
        <p:spPr>
          <a:xfrm>
            <a:off x="3826929" y="4698400"/>
            <a:ext cx="0" cy="457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A0D8C70-7E03-AAB5-4D39-6F52E55E946C}"/>
              </a:ext>
            </a:extLst>
          </p:cNvPr>
          <p:cNvCxnSpPr>
            <a:cxnSpLocks/>
          </p:cNvCxnSpPr>
          <p:nvPr/>
        </p:nvCxnSpPr>
        <p:spPr>
          <a:xfrm>
            <a:off x="7831662" y="5971538"/>
            <a:ext cx="52916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2B3E465-0801-1D1C-9FFA-466512EE6C56}"/>
              </a:ext>
            </a:extLst>
          </p:cNvPr>
          <p:cNvSpPr/>
          <p:nvPr/>
        </p:nvSpPr>
        <p:spPr>
          <a:xfrm>
            <a:off x="4673599" y="3555355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(1 to 7 bytes)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4BFC10-ECB5-747B-94C1-163FCFD2AB74}"/>
              </a:ext>
            </a:extLst>
          </p:cNvPr>
          <p:cNvSpPr/>
          <p:nvPr/>
        </p:nvSpPr>
        <p:spPr>
          <a:xfrm>
            <a:off x="7052728" y="4179516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FF161F-ABDF-7F66-414C-C34A5D219EB4}"/>
              </a:ext>
            </a:extLst>
          </p:cNvPr>
          <p:cNvSpPr/>
          <p:nvPr/>
        </p:nvSpPr>
        <p:spPr>
          <a:xfrm>
            <a:off x="7662326" y="4179515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1353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0"/>
      <p:bldP spid="3" grpId="0" build="p"/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8" grpId="0"/>
      <p:bldP spid="22" grpId="0"/>
      <p:bldP spid="23" grpId="0"/>
      <p:bldP spid="43" grpId="0" animBg="1"/>
      <p:bldP spid="44" grpId="0" animBg="1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06C11A27-9886-E121-24EF-7D95AC64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5738C53E-9652-7F03-695A-273996B8C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00B050"/>
              </a:buClr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ISOTP - </a:t>
            </a:r>
            <a:r>
              <a:rPr lang="en-US" dirty="0">
                <a:solidFill>
                  <a:srgbClr val="00B050"/>
                </a:solidFill>
              </a:rPr>
              <a:t>First Frame (FF)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2222A-836B-81C2-490D-71CBA4FF7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6667" y="1825625"/>
            <a:ext cx="10515600" cy="112314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1E4E79"/>
                </a:solidFill>
              </a:rPr>
              <a:t>Used when the message is </a:t>
            </a:r>
            <a:r>
              <a:rPr lang="en-US" dirty="0">
                <a:solidFill>
                  <a:srgbClr val="833C0B"/>
                </a:solidFill>
              </a:rPr>
              <a:t>greater than 7 bytes</a:t>
            </a:r>
            <a:r>
              <a:rPr lang="en-US" dirty="0">
                <a:solidFill>
                  <a:srgbClr val="1E4E79"/>
                </a:solidFill>
              </a:rPr>
              <a:t>.</a:t>
            </a:r>
          </a:p>
          <a:p>
            <a:pPr marL="76200" indent="0">
              <a:buNone/>
            </a:pPr>
            <a:r>
              <a:rPr lang="en-US" dirty="0">
                <a:solidFill>
                  <a:srgbClr val="833C0B"/>
                </a:solidFill>
              </a:rPr>
              <a:t>Example : Suppose we want to send 20 bytes of data </a:t>
            </a:r>
          </a:p>
          <a:p>
            <a:pPr marL="76200" indent="0">
              <a:buNone/>
            </a:pPr>
            <a:r>
              <a:rPr lang="en-US" dirty="0">
                <a:solidFill>
                  <a:srgbClr val="1E4E79"/>
                </a:solidFill>
              </a:rPr>
              <a:t>CAN Frame Structure</a:t>
            </a:r>
          </a:p>
          <a:p>
            <a:pPr marL="76200" indent="0">
              <a:buNone/>
            </a:pPr>
            <a:endParaRPr lang="en-US" dirty="0">
              <a:solidFill>
                <a:srgbClr val="1E4E79"/>
              </a:solidFill>
            </a:endParaRPr>
          </a:p>
          <a:p>
            <a:pPr marL="76200" indent="0">
              <a:buNone/>
            </a:pPr>
            <a:endParaRPr lang="en-US" dirty="0">
              <a:solidFill>
                <a:srgbClr val="1E4E7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75FF0-966B-7D31-6473-FBE8A998D8A8}"/>
              </a:ext>
            </a:extLst>
          </p:cNvPr>
          <p:cNvSpPr/>
          <p:nvPr/>
        </p:nvSpPr>
        <p:spPr>
          <a:xfrm>
            <a:off x="990601" y="3558808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087E3-3195-DA7A-4861-92CE36520B10}"/>
              </a:ext>
            </a:extLst>
          </p:cNvPr>
          <p:cNvSpPr/>
          <p:nvPr/>
        </p:nvSpPr>
        <p:spPr>
          <a:xfrm>
            <a:off x="2218267" y="3558808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DLC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84646C-72AD-88DA-C35E-F7AECAD9664A}"/>
              </a:ext>
            </a:extLst>
          </p:cNvPr>
          <p:cNvSpPr/>
          <p:nvPr/>
        </p:nvSpPr>
        <p:spPr>
          <a:xfrm>
            <a:off x="3445933" y="3558807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PCI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996DF8-4359-C0DA-322A-0BAE0C5E5DE2}"/>
              </a:ext>
            </a:extLst>
          </p:cNvPr>
          <p:cNvSpPr/>
          <p:nvPr/>
        </p:nvSpPr>
        <p:spPr>
          <a:xfrm>
            <a:off x="990601" y="4179521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0x7E0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96C71A-40EC-0EC1-3676-3DA75A63BBCE}"/>
              </a:ext>
            </a:extLst>
          </p:cNvPr>
          <p:cNvSpPr/>
          <p:nvPr/>
        </p:nvSpPr>
        <p:spPr>
          <a:xfrm>
            <a:off x="2218267" y="4179520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C0F11E-F18C-3A4A-5592-0F6F8C230494}"/>
              </a:ext>
            </a:extLst>
          </p:cNvPr>
          <p:cNvSpPr/>
          <p:nvPr/>
        </p:nvSpPr>
        <p:spPr>
          <a:xfrm>
            <a:off x="3445933" y="4179519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9470DD-94D6-5D55-661A-7E892CCE99E9}"/>
              </a:ext>
            </a:extLst>
          </p:cNvPr>
          <p:cNvSpPr/>
          <p:nvPr/>
        </p:nvSpPr>
        <p:spPr>
          <a:xfrm>
            <a:off x="4059766" y="4179519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655E67-8BD6-E914-1CA7-622C0764BDDE}"/>
              </a:ext>
            </a:extLst>
          </p:cNvPr>
          <p:cNvSpPr/>
          <p:nvPr/>
        </p:nvSpPr>
        <p:spPr>
          <a:xfrm>
            <a:off x="4673599" y="4179519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1151C5-F80D-3186-FFB2-96D9C8C66832}"/>
              </a:ext>
            </a:extLst>
          </p:cNvPr>
          <p:cNvSpPr/>
          <p:nvPr/>
        </p:nvSpPr>
        <p:spPr>
          <a:xfrm>
            <a:off x="5287432" y="4179518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81BD25-B3B5-4E80-DF16-B3BB09248757}"/>
              </a:ext>
            </a:extLst>
          </p:cNvPr>
          <p:cNvSpPr/>
          <p:nvPr/>
        </p:nvSpPr>
        <p:spPr>
          <a:xfrm>
            <a:off x="5858929" y="4179517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8264BE-E02A-76C2-8AF1-D711E1336DE0}"/>
              </a:ext>
            </a:extLst>
          </p:cNvPr>
          <p:cNvSpPr/>
          <p:nvPr/>
        </p:nvSpPr>
        <p:spPr>
          <a:xfrm>
            <a:off x="6481231" y="4179516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C9A29D-C7BB-5DC4-5F12-4B6454B0984D}"/>
              </a:ext>
            </a:extLst>
          </p:cNvPr>
          <p:cNvSpPr txBox="1"/>
          <p:nvPr/>
        </p:nvSpPr>
        <p:spPr>
          <a:xfrm>
            <a:off x="5482163" y="2898510"/>
            <a:ext cx="5228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PCI (protocol control information)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ED30204-3D7D-F991-258C-9B59B269FAEB}"/>
              </a:ext>
            </a:extLst>
          </p:cNvPr>
          <p:cNvCxnSpPr/>
          <p:nvPr/>
        </p:nvCxnSpPr>
        <p:spPr>
          <a:xfrm flipV="1">
            <a:off x="4368800" y="3073402"/>
            <a:ext cx="1037168" cy="4995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1A384C-BD4C-2DBC-A795-F778F7F70460}"/>
              </a:ext>
            </a:extLst>
          </p:cNvPr>
          <p:cNvSpPr txBox="1"/>
          <p:nvPr/>
        </p:nvSpPr>
        <p:spPr>
          <a:xfrm>
            <a:off x="1638300" y="5116572"/>
            <a:ext cx="5228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PCI = 0x10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Lower Nibble =	</a:t>
            </a:r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0 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 Length Information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Upper  Nibble =	1 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 First Frame</a:t>
            </a:r>
            <a:endParaRPr lang="en-US" sz="2000" dirty="0">
              <a:solidFill>
                <a:srgbClr val="1E4E79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0D30AB-3AB2-CF5D-9004-4652EF7DA0B3}"/>
              </a:ext>
            </a:extLst>
          </p:cNvPr>
          <p:cNvSpPr txBox="1"/>
          <p:nvPr/>
        </p:nvSpPr>
        <p:spPr>
          <a:xfrm>
            <a:off x="6790265" y="5192496"/>
            <a:ext cx="51646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</a:rPr>
              <a:t>The total message length is 12 bits, formed by combining:</a:t>
            </a:r>
          </a:p>
          <a:p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</a:rPr>
              <a:t>Length	= (Lower nibble of Byte0 &lt;&lt; 8) | Byte1</a:t>
            </a:r>
          </a:p>
          <a:p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</a:rPr>
              <a:t>Length	= (0x0 &lt;&lt; 8) | 0x14</a:t>
            </a:r>
          </a:p>
          <a:p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</a:rPr>
              <a:t>	= 0x</a:t>
            </a:r>
            <a:r>
              <a:rPr lang="en-US" sz="160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</a:rPr>
              <a:t>14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F996B82-12BE-A093-7CE6-90C664AB7BAD}"/>
              </a:ext>
            </a:extLst>
          </p:cNvPr>
          <p:cNvCxnSpPr>
            <a:cxnSpLocks/>
          </p:cNvCxnSpPr>
          <p:nvPr/>
        </p:nvCxnSpPr>
        <p:spPr>
          <a:xfrm>
            <a:off x="3826929" y="4698400"/>
            <a:ext cx="0" cy="457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7B95756-D9BF-B91F-E637-8BE4C589BFA0}"/>
              </a:ext>
            </a:extLst>
          </p:cNvPr>
          <p:cNvCxnSpPr>
            <a:cxnSpLocks/>
          </p:cNvCxnSpPr>
          <p:nvPr/>
        </p:nvCxnSpPr>
        <p:spPr>
          <a:xfrm>
            <a:off x="6096000" y="5624403"/>
            <a:ext cx="52916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822A69-0CD7-97AE-18B7-EC0FFFB4B853}"/>
              </a:ext>
            </a:extLst>
          </p:cNvPr>
          <p:cNvSpPr txBox="1"/>
          <p:nvPr/>
        </p:nvSpPr>
        <p:spPr>
          <a:xfrm>
            <a:off x="8348137" y="3765923"/>
            <a:ext cx="37600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833C0B"/>
                </a:solidFill>
                <a:latin typeface="Times New Roman"/>
                <a:ea typeface="Times New Roman"/>
                <a:cs typeface="Times New Roman"/>
              </a:rPr>
              <a:t>Suppose the </a:t>
            </a:r>
            <a:r>
              <a:rPr lang="en-US" sz="1600" dirty="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</a:t>
            </a:r>
            <a:r>
              <a:rPr lang="en-US" sz="1600" dirty="0">
                <a:solidFill>
                  <a:srgbClr val="833C0B"/>
                </a:solidFill>
                <a:latin typeface="Times New Roman"/>
                <a:ea typeface="Times New Roman"/>
                <a:cs typeface="Times New Roman"/>
              </a:rPr>
              <a:t> length is 300 bytes.</a:t>
            </a:r>
          </a:p>
          <a:p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</a:rPr>
              <a:t>300 Dec to Hex </a:t>
            </a:r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 0X12C</a:t>
            </a:r>
          </a:p>
          <a:p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Byte 0 = 0X11</a:t>
            </a:r>
          </a:p>
          <a:p>
            <a:r>
              <a:rPr lang="en-US" sz="16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Byte 1 = 0X2C</a:t>
            </a:r>
            <a:endParaRPr lang="en-US" sz="1600" dirty="0">
              <a:solidFill>
                <a:srgbClr val="1E4E79"/>
              </a:solidFill>
              <a:latin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F0F868-7750-11ED-7481-607DBE24269E}"/>
              </a:ext>
            </a:extLst>
          </p:cNvPr>
          <p:cNvSpPr/>
          <p:nvPr/>
        </p:nvSpPr>
        <p:spPr>
          <a:xfrm>
            <a:off x="7103533" y="4183325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3F4DDA-DAAC-B9BB-9A7C-5000EC5E9EA8}"/>
              </a:ext>
            </a:extLst>
          </p:cNvPr>
          <p:cNvSpPr/>
          <p:nvPr/>
        </p:nvSpPr>
        <p:spPr>
          <a:xfrm>
            <a:off x="7717366" y="4183326"/>
            <a:ext cx="618068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BFF246-2AEE-2459-3F4F-0F771A741FD1}"/>
              </a:ext>
            </a:extLst>
          </p:cNvPr>
          <p:cNvSpPr/>
          <p:nvPr/>
        </p:nvSpPr>
        <p:spPr>
          <a:xfrm>
            <a:off x="4673599" y="3555355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Length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7C0E8-BD1C-DF77-7CE5-2E0467D2093A}"/>
              </a:ext>
            </a:extLst>
          </p:cNvPr>
          <p:cNvSpPr/>
          <p:nvPr/>
        </p:nvSpPr>
        <p:spPr>
          <a:xfrm>
            <a:off x="5888565" y="3555355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6 bytes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0F6E1E-145A-84CB-EFEE-D617FD8C8B9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368800" y="4721386"/>
            <a:ext cx="2497666" cy="6212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04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0"/>
      <p:bldP spid="3" grpId="0" build="p"/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8" grpId="0"/>
      <p:bldP spid="22" grpId="0"/>
      <p:bldP spid="23" grpId="0"/>
      <p:bldP spid="15" grpId="0"/>
      <p:bldP spid="16" grpId="0" animBg="1"/>
      <p:bldP spid="17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903F7B63-8E76-4C1C-D654-E54509D1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0F7389A9-9AA2-7997-B22C-61B557AFD1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00B050"/>
              </a:buClr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ISOTP - </a:t>
            </a:r>
            <a:r>
              <a:rPr lang="en-US" dirty="0">
                <a:solidFill>
                  <a:srgbClr val="00B050"/>
                </a:solidFill>
              </a:rPr>
              <a:t>Flow Control (FC)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4A7534C-D8B3-85E2-12A0-0867F0B5E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6667" y="1825625"/>
            <a:ext cx="6629400" cy="341524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E4E79"/>
                </a:solidFill>
              </a:rPr>
              <a:t>After receiving the First Frame, the </a:t>
            </a:r>
            <a:r>
              <a:rPr lang="en-US" dirty="0">
                <a:solidFill>
                  <a:srgbClr val="833C0B"/>
                </a:solidFill>
              </a:rPr>
              <a:t>receiver</a:t>
            </a:r>
            <a:r>
              <a:rPr lang="en-US" sz="2000" dirty="0">
                <a:solidFill>
                  <a:srgbClr val="1E4E79"/>
                </a:solidFill>
              </a:rPr>
              <a:t> sends a Flow Control frame.</a:t>
            </a:r>
          </a:p>
          <a:p>
            <a:pPr marL="76200" indent="0">
              <a:buNone/>
            </a:pPr>
            <a:r>
              <a:rPr lang="en-US" dirty="0">
                <a:solidFill>
                  <a:srgbClr val="833C0B"/>
                </a:solidFill>
              </a:rPr>
              <a:t>Purpose:</a:t>
            </a:r>
          </a:p>
          <a:p>
            <a:r>
              <a:rPr lang="en-US" altLang="en-US" sz="2000" dirty="0">
                <a:solidFill>
                  <a:srgbClr val="1E4E79"/>
                </a:solidFill>
              </a:rPr>
              <a:t>Allow or pause transmission </a:t>
            </a:r>
          </a:p>
          <a:p>
            <a:r>
              <a:rPr lang="en-US" altLang="en-US" sz="2000" dirty="0">
                <a:solidFill>
                  <a:srgbClr val="1E4E79"/>
                </a:solidFill>
              </a:rPr>
              <a:t>Specify how many Consecutive Frames may be sent</a:t>
            </a:r>
          </a:p>
          <a:p>
            <a:r>
              <a:rPr lang="en-US" altLang="en-US" sz="2000" dirty="0">
                <a:solidFill>
                  <a:srgbClr val="1E4E79"/>
                </a:solidFill>
              </a:rPr>
              <a:t>Specify the delay between frames </a:t>
            </a:r>
          </a:p>
          <a:p>
            <a:pPr marL="76200" indent="0">
              <a:buNone/>
            </a:pPr>
            <a:r>
              <a:rPr lang="en-US" sz="2000" dirty="0">
                <a:solidFill>
                  <a:srgbClr val="1E4E79"/>
                </a:solidFill>
              </a:rPr>
              <a:t>CAN Frame Structure</a:t>
            </a:r>
          </a:p>
          <a:p>
            <a:endParaRPr lang="en-US" altLang="en-US" sz="2000" dirty="0">
              <a:solidFill>
                <a:srgbClr val="1E4E79"/>
              </a:solidFill>
            </a:endParaRPr>
          </a:p>
          <a:p>
            <a:endParaRPr lang="en-US" sz="2000" dirty="0">
              <a:solidFill>
                <a:srgbClr val="1E4E79"/>
              </a:solidFill>
            </a:endParaRPr>
          </a:p>
          <a:p>
            <a:endParaRPr lang="en-US" sz="2000" dirty="0">
              <a:solidFill>
                <a:srgbClr val="1E4E79"/>
              </a:solidFill>
            </a:endParaRPr>
          </a:p>
          <a:p>
            <a:pPr marL="76200" indent="0">
              <a:buNone/>
            </a:pPr>
            <a:endParaRPr lang="en-US" dirty="0">
              <a:solidFill>
                <a:srgbClr val="1E4E79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C3DD75-C0F5-82A9-9866-2C7F4029CEA2}"/>
              </a:ext>
            </a:extLst>
          </p:cNvPr>
          <p:cNvSpPr/>
          <p:nvPr/>
        </p:nvSpPr>
        <p:spPr>
          <a:xfrm>
            <a:off x="846667" y="5074342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ID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46EE3F-ED78-7184-DC2F-243E6A1CED41}"/>
              </a:ext>
            </a:extLst>
          </p:cNvPr>
          <p:cNvSpPr/>
          <p:nvPr/>
        </p:nvSpPr>
        <p:spPr>
          <a:xfrm>
            <a:off x="2074333" y="5074342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DLC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A9443B-BE01-514D-09AC-79A74A182B07}"/>
              </a:ext>
            </a:extLst>
          </p:cNvPr>
          <p:cNvSpPr/>
          <p:nvPr/>
        </p:nvSpPr>
        <p:spPr>
          <a:xfrm>
            <a:off x="3301999" y="5074341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4F1200-BC5E-495F-A03E-80049FE6D52A}"/>
              </a:ext>
            </a:extLst>
          </p:cNvPr>
          <p:cNvSpPr/>
          <p:nvPr/>
        </p:nvSpPr>
        <p:spPr>
          <a:xfrm>
            <a:off x="4529665" y="5074341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</a:t>
            </a:r>
          </a:p>
          <a:p>
            <a:pPr algn="ctr"/>
            <a:r>
              <a:rPr lang="en-US" dirty="0"/>
              <a:t>Size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C97478-2363-EEC5-BA3C-297FE62AB044}"/>
              </a:ext>
            </a:extLst>
          </p:cNvPr>
          <p:cNvSpPr/>
          <p:nvPr/>
        </p:nvSpPr>
        <p:spPr>
          <a:xfrm>
            <a:off x="5757331" y="5074340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</a:t>
            </a:r>
          </a:p>
          <a:p>
            <a:pPr algn="ctr"/>
            <a:r>
              <a:rPr lang="en-US" dirty="0"/>
              <a:t>Min (</a:t>
            </a:r>
            <a:r>
              <a:rPr lang="en-US" dirty="0" err="1"/>
              <a:t>ms</a:t>
            </a:r>
            <a:r>
              <a:rPr lang="en-US" dirty="0"/>
              <a:t>)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4B97B5-0EE5-C866-5526-DA0FA69BA3CC}"/>
              </a:ext>
            </a:extLst>
          </p:cNvPr>
          <p:cNvSpPr/>
          <p:nvPr/>
        </p:nvSpPr>
        <p:spPr>
          <a:xfrm>
            <a:off x="838200" y="5768609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0x7E0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ABCD9E-F929-F6C4-7614-BA9302B44352}"/>
              </a:ext>
            </a:extLst>
          </p:cNvPr>
          <p:cNvSpPr/>
          <p:nvPr/>
        </p:nvSpPr>
        <p:spPr>
          <a:xfrm>
            <a:off x="2065866" y="5768609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FD8177-46D2-6E38-C688-989256DEA264}"/>
              </a:ext>
            </a:extLst>
          </p:cNvPr>
          <p:cNvSpPr/>
          <p:nvPr/>
        </p:nvSpPr>
        <p:spPr>
          <a:xfrm>
            <a:off x="3293532" y="5768608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B48AF89-98D7-2446-8B2B-AB8CA2D7FB56}"/>
              </a:ext>
            </a:extLst>
          </p:cNvPr>
          <p:cNvSpPr/>
          <p:nvPr/>
        </p:nvSpPr>
        <p:spPr>
          <a:xfrm>
            <a:off x="4521198" y="5768608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3C8C61-3681-7A19-4C74-89CC637365AC}"/>
              </a:ext>
            </a:extLst>
          </p:cNvPr>
          <p:cNvSpPr/>
          <p:nvPr/>
        </p:nvSpPr>
        <p:spPr>
          <a:xfrm>
            <a:off x="5748864" y="5768607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42EC36-104B-288D-6CD9-922E02C2F525}"/>
              </a:ext>
            </a:extLst>
          </p:cNvPr>
          <p:cNvSpPr txBox="1"/>
          <p:nvPr/>
        </p:nvSpPr>
        <p:spPr>
          <a:xfrm>
            <a:off x="7349066" y="1825625"/>
            <a:ext cx="436880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833C0B"/>
                </a:solidFill>
                <a:latin typeface="Times New Roman"/>
                <a:cs typeface="Times New Roman"/>
                <a:sym typeface="Times New Roman"/>
              </a:rPr>
              <a:t>Flow Status (FS)</a:t>
            </a:r>
          </a:p>
          <a:p>
            <a:endParaRPr lang="en-US" sz="2400" dirty="0">
              <a:solidFill>
                <a:srgbClr val="833C0B"/>
              </a:solidFill>
              <a:latin typeface="Times New Roman"/>
              <a:cs typeface="Times New Roman"/>
              <a:sym typeface="Times New Roman"/>
            </a:endParaRPr>
          </a:p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CTS(Continue to Send) - 0X30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Receiver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Continue sending.</a:t>
            </a:r>
          </a:p>
          <a:p>
            <a:r>
              <a:rPr lang="en-US" dirty="0"/>
              <a:t>	</a:t>
            </a:r>
          </a:p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WT(Wait)	 - 0X31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Receiver: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</a:rPr>
              <a:t>Pause transmission and wait for next FC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</a:rPr>
              <a:t>Used when the receiver is temporarily busy.</a:t>
            </a:r>
          </a:p>
          <a:p>
            <a:endParaRPr lang="en-US" sz="1800" dirty="0">
              <a:solidFill>
                <a:srgbClr val="1E4E79"/>
              </a:solidFill>
              <a:latin typeface="Times New Roman"/>
              <a:cs typeface="Times New Roman"/>
            </a:endParaRPr>
          </a:p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OVFLW(Overflow)	- 0X32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Receiver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</a:rPr>
              <a:t>My buffer is full.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</a:rPr>
              <a:t>Stop transmission (Abort)</a:t>
            </a:r>
          </a:p>
        </p:txBody>
      </p:sp>
    </p:spTree>
    <p:extLst>
      <p:ext uri="{BB962C8B-B14F-4D97-AF65-F5344CB8AC3E}">
        <p14:creationId xmlns:p14="http://schemas.microsoft.com/office/powerpoint/2010/main" val="76790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28" grpId="0" animBg="1"/>
      <p:bldP spid="29" grpId="0" animBg="1"/>
      <p:bldP spid="30" grpId="0" animBg="1"/>
      <p:bldP spid="31" grpId="0" animBg="1"/>
      <p:bldP spid="32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C0AC8379-6A47-CABC-27EB-3811589C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143D589B-57CF-0568-208F-C56EF6F9E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00B050"/>
              </a:buClr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ISOTP - </a:t>
            </a:r>
            <a:r>
              <a:rPr lang="en-US" dirty="0">
                <a:solidFill>
                  <a:srgbClr val="00B050"/>
                </a:solidFill>
              </a:rPr>
              <a:t>Flow Control (FC)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BCC485-521B-8E42-BE44-7066DE92DDBA}"/>
              </a:ext>
            </a:extLst>
          </p:cNvPr>
          <p:cNvSpPr txBox="1"/>
          <p:nvPr/>
        </p:nvSpPr>
        <p:spPr>
          <a:xfrm>
            <a:off x="491067" y="1859340"/>
            <a:ext cx="568113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Size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Size controls how many Consecutive Frames the sender may transmit before waiting for another Flow Control frame.</a:t>
            </a:r>
          </a:p>
          <a:p>
            <a:endParaRPr lang="en-US" sz="2400" dirty="0">
              <a:solidFill>
                <a:srgbClr val="833C0B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lang="en-US" sz="2400" dirty="0">
                <a:solidFill>
                  <a:srgbClr val="833C0B"/>
                </a:solidFill>
                <a:latin typeface="Times New Roman"/>
                <a:ea typeface="Times New Roman"/>
                <a:cs typeface="Times New Roman"/>
              </a:rPr>
              <a:t>Example :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ea typeface="Times New Roman"/>
                <a:cs typeface="Times New Roman"/>
              </a:rPr>
              <a:t>Block size is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F2708E-7631-795B-B285-FB8F48ADB7B8}"/>
              </a:ext>
            </a:extLst>
          </p:cNvPr>
          <p:cNvSpPr/>
          <p:nvPr/>
        </p:nvSpPr>
        <p:spPr>
          <a:xfrm>
            <a:off x="6739467" y="1532467"/>
            <a:ext cx="1109133" cy="3863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5B8D7E-5F11-8A9F-B5F7-08E069F55C3F}"/>
              </a:ext>
            </a:extLst>
          </p:cNvPr>
          <p:cNvSpPr/>
          <p:nvPr/>
        </p:nvSpPr>
        <p:spPr>
          <a:xfrm>
            <a:off x="9863666" y="1532467"/>
            <a:ext cx="1109133" cy="3863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30C6C2-E4CC-8C13-0CAA-2367C51A06FD}"/>
              </a:ext>
            </a:extLst>
          </p:cNvPr>
          <p:cNvSpPr/>
          <p:nvPr/>
        </p:nvSpPr>
        <p:spPr>
          <a:xfrm>
            <a:off x="6843180" y="2694988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9766E6-FBBD-D105-E0B6-D318A94E3A0A}"/>
              </a:ext>
            </a:extLst>
          </p:cNvPr>
          <p:cNvSpPr/>
          <p:nvPr/>
        </p:nvSpPr>
        <p:spPr>
          <a:xfrm>
            <a:off x="6862230" y="4843118"/>
            <a:ext cx="783167" cy="3863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Wait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EB992A-A355-DD10-B3DA-F5D288618161}"/>
              </a:ext>
            </a:extLst>
          </p:cNvPr>
          <p:cNvCxnSpPr>
            <a:cxnSpLocks/>
          </p:cNvCxnSpPr>
          <p:nvPr/>
        </p:nvCxnSpPr>
        <p:spPr>
          <a:xfrm>
            <a:off x="7522633" y="2248080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E67724-6D30-45D9-4EC8-FFE54BCFD9F8}"/>
              </a:ext>
            </a:extLst>
          </p:cNvPr>
          <p:cNvCxnSpPr/>
          <p:nvPr/>
        </p:nvCxnSpPr>
        <p:spPr>
          <a:xfrm>
            <a:off x="7482415" y="2859782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A150E7-85D8-901C-908F-0E539FD35CCA}"/>
              </a:ext>
            </a:extLst>
          </p:cNvPr>
          <p:cNvCxnSpPr/>
          <p:nvPr/>
        </p:nvCxnSpPr>
        <p:spPr>
          <a:xfrm>
            <a:off x="7522633" y="3428294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11F9F7-4258-BCAB-A7FA-68BABE230F96}"/>
              </a:ext>
            </a:extLst>
          </p:cNvPr>
          <p:cNvCxnSpPr/>
          <p:nvPr/>
        </p:nvCxnSpPr>
        <p:spPr>
          <a:xfrm>
            <a:off x="7522633" y="3966197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443278-F397-9906-C31A-B77B8851A6A1}"/>
              </a:ext>
            </a:extLst>
          </p:cNvPr>
          <p:cNvCxnSpPr/>
          <p:nvPr/>
        </p:nvCxnSpPr>
        <p:spPr>
          <a:xfrm>
            <a:off x="7522633" y="4483910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DD016B-A48D-8936-BA84-37527F2E67CC}"/>
              </a:ext>
            </a:extLst>
          </p:cNvPr>
          <p:cNvCxnSpPr/>
          <p:nvPr/>
        </p:nvCxnSpPr>
        <p:spPr>
          <a:xfrm>
            <a:off x="7522633" y="5773225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FEA659-D098-3136-1622-C85D03D36E3D}"/>
              </a:ext>
            </a:extLst>
          </p:cNvPr>
          <p:cNvCxnSpPr/>
          <p:nvPr/>
        </p:nvCxnSpPr>
        <p:spPr>
          <a:xfrm>
            <a:off x="7522633" y="6337232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9117E93-300C-BA4C-87BC-63C75EA70389}"/>
              </a:ext>
            </a:extLst>
          </p:cNvPr>
          <p:cNvCxnSpPr>
            <a:cxnSpLocks/>
          </p:cNvCxnSpPr>
          <p:nvPr/>
        </p:nvCxnSpPr>
        <p:spPr>
          <a:xfrm flipH="1">
            <a:off x="7586132" y="2492188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A5605A-8DAA-DFB9-84F0-D5142F6BD609}"/>
              </a:ext>
            </a:extLst>
          </p:cNvPr>
          <p:cNvCxnSpPr>
            <a:cxnSpLocks/>
          </p:cNvCxnSpPr>
          <p:nvPr/>
        </p:nvCxnSpPr>
        <p:spPr>
          <a:xfrm flipH="1">
            <a:off x="7619998" y="5325533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8C8A3D7-6D33-2AD2-AB49-CA513B58AD28}"/>
              </a:ext>
            </a:extLst>
          </p:cNvPr>
          <p:cNvSpPr/>
          <p:nvPr/>
        </p:nvSpPr>
        <p:spPr>
          <a:xfrm>
            <a:off x="6843179" y="3260742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CF2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F60DEB7-E030-5CC2-BBE5-8DBA1C7F7256}"/>
              </a:ext>
            </a:extLst>
          </p:cNvPr>
          <p:cNvSpPr/>
          <p:nvPr/>
        </p:nvSpPr>
        <p:spPr>
          <a:xfrm>
            <a:off x="6841063" y="3734500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CF3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90C30FA-A397-45B9-BF5C-8D56ED2471F0}"/>
              </a:ext>
            </a:extLst>
          </p:cNvPr>
          <p:cNvSpPr/>
          <p:nvPr/>
        </p:nvSpPr>
        <p:spPr>
          <a:xfrm>
            <a:off x="6841062" y="4254431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CF4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7A968C5-F3A5-2814-2FD1-5CAA3045C52A}"/>
              </a:ext>
            </a:extLst>
          </p:cNvPr>
          <p:cNvSpPr/>
          <p:nvPr/>
        </p:nvSpPr>
        <p:spPr>
          <a:xfrm>
            <a:off x="6841062" y="2053035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FF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B0CEACC-F02D-3CBD-D402-E7320D0EA58D}"/>
              </a:ext>
            </a:extLst>
          </p:cNvPr>
          <p:cNvSpPr/>
          <p:nvPr/>
        </p:nvSpPr>
        <p:spPr>
          <a:xfrm>
            <a:off x="10223498" y="2305245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FC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E529B94-3B9F-0D35-0493-F558079936AD}"/>
              </a:ext>
            </a:extLst>
          </p:cNvPr>
          <p:cNvSpPr/>
          <p:nvPr/>
        </p:nvSpPr>
        <p:spPr>
          <a:xfrm>
            <a:off x="10223498" y="5138590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BF4EC53-825A-114A-745A-3E3674AD9211}"/>
              </a:ext>
            </a:extLst>
          </p:cNvPr>
          <p:cNvSpPr/>
          <p:nvPr/>
        </p:nvSpPr>
        <p:spPr>
          <a:xfrm>
            <a:off x="6883398" y="5512475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CF5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DC4D0CD-DBBD-A146-646E-DAC29D59A43C}"/>
              </a:ext>
            </a:extLst>
          </p:cNvPr>
          <p:cNvSpPr/>
          <p:nvPr/>
        </p:nvSpPr>
        <p:spPr>
          <a:xfrm>
            <a:off x="6883398" y="6080668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070DFE-CFF7-38E7-9482-B121430BC69F}"/>
              </a:ext>
            </a:extLst>
          </p:cNvPr>
          <p:cNvSpPr txBox="1"/>
          <p:nvPr/>
        </p:nvSpPr>
        <p:spPr>
          <a:xfrm>
            <a:off x="643467" y="4628316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If BS = 0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The sender transmits all remaining CFs without waiting for another FC frames.</a:t>
            </a:r>
          </a:p>
        </p:txBody>
      </p:sp>
    </p:spTree>
    <p:extLst>
      <p:ext uri="{BB962C8B-B14F-4D97-AF65-F5344CB8AC3E}">
        <p14:creationId xmlns:p14="http://schemas.microsoft.com/office/powerpoint/2010/main" val="333279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allAtOnce"/>
      <p:bldP spid="4" grpId="0" animBg="1"/>
      <p:bldP spid="5" grpId="0" animBg="1"/>
      <p:bldP spid="8" grpId="0" animBg="1"/>
      <p:bldP spid="1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8F2B1CD4-DFFF-9322-2578-A14B2A6A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0ADDB38D-F8E6-3288-3409-8CAEC0947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00B050"/>
              </a:buClr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ISOTP - </a:t>
            </a:r>
            <a:r>
              <a:rPr lang="en-US" dirty="0">
                <a:solidFill>
                  <a:srgbClr val="00B050"/>
                </a:solidFill>
              </a:rPr>
              <a:t>Flow Control (FC)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D10910-F352-DDDC-9863-AF55DAB8F218}"/>
              </a:ext>
            </a:extLst>
          </p:cNvPr>
          <p:cNvSpPr txBox="1"/>
          <p:nvPr/>
        </p:nvSpPr>
        <p:spPr>
          <a:xfrm>
            <a:off x="491067" y="1859340"/>
            <a:ext cx="56811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833C0B"/>
                </a:solidFill>
                <a:latin typeface="Times New Roman"/>
                <a:ea typeface="Times New Roman"/>
                <a:cs typeface="Times New Roman"/>
              </a:rPr>
              <a:t>STmin</a:t>
            </a:r>
            <a:r>
              <a:rPr lang="en-US" sz="2400" dirty="0">
                <a:solidFill>
                  <a:srgbClr val="833C0B"/>
                </a:solidFill>
                <a:latin typeface="Times New Roman"/>
                <a:ea typeface="Times New Roman"/>
                <a:cs typeface="Times New Roman"/>
              </a:rPr>
              <a:t> (Separation Time)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STmin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 defines the minimum delay between two Consecutive Frames.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STmin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 specifies the minimum time the sender must wait between transmitting Consecutive Frames.</a:t>
            </a:r>
          </a:p>
          <a:p>
            <a:r>
              <a:rPr lang="en-US" sz="2400" dirty="0">
                <a:solidFill>
                  <a:srgbClr val="833C0B"/>
                </a:solidFill>
                <a:latin typeface="Times New Roman"/>
                <a:ea typeface="Times New Roman"/>
                <a:cs typeface="Times New Roman"/>
              </a:rPr>
              <a:t>Example :</a:t>
            </a:r>
          </a:p>
          <a:p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STmin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 = 5 </a:t>
            </a: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ms</a:t>
            </a:r>
            <a:endParaRPr lang="en-US" sz="2000" dirty="0">
              <a:solidFill>
                <a:srgbClr val="1E4E79"/>
              </a:solidFill>
              <a:latin typeface="Times New Roman"/>
              <a:cs typeface="Times New Roman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BF24CE-62F6-A503-595D-78A510D126E9}"/>
              </a:ext>
            </a:extLst>
          </p:cNvPr>
          <p:cNvSpPr/>
          <p:nvPr/>
        </p:nvSpPr>
        <p:spPr>
          <a:xfrm>
            <a:off x="6957484" y="2074510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54ED5B-CE38-AE94-D5A7-9A6D15D5C5D8}"/>
              </a:ext>
            </a:extLst>
          </p:cNvPr>
          <p:cNvCxnSpPr/>
          <p:nvPr/>
        </p:nvCxnSpPr>
        <p:spPr>
          <a:xfrm>
            <a:off x="7596719" y="2239304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F13108-A24D-D526-4FA0-3FD0295E4B31}"/>
              </a:ext>
            </a:extLst>
          </p:cNvPr>
          <p:cNvCxnSpPr/>
          <p:nvPr/>
        </p:nvCxnSpPr>
        <p:spPr>
          <a:xfrm>
            <a:off x="7683506" y="3417448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EE566B-243E-166E-3A08-D78777ADC4A1}"/>
              </a:ext>
            </a:extLst>
          </p:cNvPr>
          <p:cNvCxnSpPr/>
          <p:nvPr/>
        </p:nvCxnSpPr>
        <p:spPr>
          <a:xfrm>
            <a:off x="7725841" y="4442849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F04693-DF21-B7A6-8180-77F9717B66EC}"/>
              </a:ext>
            </a:extLst>
          </p:cNvPr>
          <p:cNvCxnSpPr/>
          <p:nvPr/>
        </p:nvCxnSpPr>
        <p:spPr>
          <a:xfrm>
            <a:off x="7768177" y="5368612"/>
            <a:ext cx="260350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C364071-5328-690F-A6B8-3146A64C2260}"/>
              </a:ext>
            </a:extLst>
          </p:cNvPr>
          <p:cNvSpPr/>
          <p:nvPr/>
        </p:nvSpPr>
        <p:spPr>
          <a:xfrm>
            <a:off x="7004052" y="3249896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CF2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0721CCC-8C54-F4D7-AC98-FCE40710E669}"/>
              </a:ext>
            </a:extLst>
          </p:cNvPr>
          <p:cNvSpPr/>
          <p:nvPr/>
        </p:nvSpPr>
        <p:spPr>
          <a:xfrm>
            <a:off x="7044271" y="4211152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CF3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EC70D34-6BFC-9EC0-8742-108281F2B27D}"/>
              </a:ext>
            </a:extLst>
          </p:cNvPr>
          <p:cNvSpPr/>
          <p:nvPr/>
        </p:nvSpPr>
        <p:spPr>
          <a:xfrm>
            <a:off x="7086606" y="5139133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CF4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D6321B-83B8-046A-0F07-41551B5595B1}"/>
              </a:ext>
            </a:extLst>
          </p:cNvPr>
          <p:cNvCxnSpPr>
            <a:cxnSpLocks/>
          </p:cNvCxnSpPr>
          <p:nvPr/>
        </p:nvCxnSpPr>
        <p:spPr>
          <a:xfrm>
            <a:off x="7150101" y="2877449"/>
            <a:ext cx="3153832" cy="0"/>
          </a:xfrm>
          <a:prstGeom prst="straightConnector1">
            <a:avLst/>
          </a:prstGeom>
          <a:ln w="28575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F080885-C075-6606-4295-37141868A799}"/>
              </a:ext>
            </a:extLst>
          </p:cNvPr>
          <p:cNvSpPr/>
          <p:nvPr/>
        </p:nvSpPr>
        <p:spPr>
          <a:xfrm>
            <a:off x="8229599" y="2696788"/>
            <a:ext cx="821267" cy="3601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5ms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B5E888-653F-1CAF-CCA5-C48E7CE4049D}"/>
              </a:ext>
            </a:extLst>
          </p:cNvPr>
          <p:cNvCxnSpPr>
            <a:cxnSpLocks/>
          </p:cNvCxnSpPr>
          <p:nvPr/>
        </p:nvCxnSpPr>
        <p:spPr>
          <a:xfrm>
            <a:off x="7150101" y="3858096"/>
            <a:ext cx="3153832" cy="0"/>
          </a:xfrm>
          <a:prstGeom prst="straightConnector1">
            <a:avLst/>
          </a:prstGeom>
          <a:ln w="28575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420DA5D-3D1A-13A8-60FB-0993C7A4FC4F}"/>
              </a:ext>
            </a:extLst>
          </p:cNvPr>
          <p:cNvSpPr/>
          <p:nvPr/>
        </p:nvSpPr>
        <p:spPr>
          <a:xfrm>
            <a:off x="8229599" y="3677435"/>
            <a:ext cx="821267" cy="3601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5ms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C2042A-2251-9731-4CE1-3C4F6B5C1829}"/>
              </a:ext>
            </a:extLst>
          </p:cNvPr>
          <p:cNvCxnSpPr>
            <a:cxnSpLocks/>
          </p:cNvCxnSpPr>
          <p:nvPr/>
        </p:nvCxnSpPr>
        <p:spPr>
          <a:xfrm>
            <a:off x="7158567" y="4827331"/>
            <a:ext cx="3153832" cy="0"/>
          </a:xfrm>
          <a:prstGeom prst="straightConnector1">
            <a:avLst/>
          </a:prstGeom>
          <a:ln w="28575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62E74ADC-859F-B81E-6AD9-2333E461701E}"/>
              </a:ext>
            </a:extLst>
          </p:cNvPr>
          <p:cNvSpPr/>
          <p:nvPr/>
        </p:nvSpPr>
        <p:spPr>
          <a:xfrm>
            <a:off x="8238065" y="4646670"/>
            <a:ext cx="821267" cy="3601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5ms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D3689F-CE30-4991-9C88-EB36CA741611}"/>
              </a:ext>
            </a:extLst>
          </p:cNvPr>
          <p:cNvSpPr/>
          <p:nvPr/>
        </p:nvSpPr>
        <p:spPr>
          <a:xfrm>
            <a:off x="491067" y="5097679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0x7E0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991E00-BE51-5A12-B0EE-6D4AE6DD447C}"/>
              </a:ext>
            </a:extLst>
          </p:cNvPr>
          <p:cNvSpPr/>
          <p:nvPr/>
        </p:nvSpPr>
        <p:spPr>
          <a:xfrm>
            <a:off x="1718733" y="5097679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F09A1D0-86CB-DCD5-87F4-D40793C653E7}"/>
              </a:ext>
            </a:extLst>
          </p:cNvPr>
          <p:cNvSpPr/>
          <p:nvPr/>
        </p:nvSpPr>
        <p:spPr>
          <a:xfrm>
            <a:off x="2946399" y="5097678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3A03F2-62B7-E31E-4AD5-E4E6C949C2C0}"/>
              </a:ext>
            </a:extLst>
          </p:cNvPr>
          <p:cNvSpPr/>
          <p:nvPr/>
        </p:nvSpPr>
        <p:spPr>
          <a:xfrm>
            <a:off x="4174065" y="5097678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CA9D32-CF8D-1108-7F28-99308EEC7E56}"/>
              </a:ext>
            </a:extLst>
          </p:cNvPr>
          <p:cNvSpPr/>
          <p:nvPr/>
        </p:nvSpPr>
        <p:spPr>
          <a:xfrm>
            <a:off x="5401731" y="5097677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425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8" grpId="0" animBg="1"/>
      <p:bldP spid="35" grpId="0" animBg="1"/>
      <p:bldP spid="36" grpId="0" animBg="1"/>
      <p:bldP spid="37" grpId="0" animBg="1"/>
      <p:bldP spid="2" grpId="0" animBg="1"/>
      <p:bldP spid="15" grpId="0" animBg="1"/>
      <p:bldP spid="17" grpId="0" animBg="1"/>
      <p:bldP spid="32" grpId="0" animBg="1"/>
      <p:bldP spid="43" grpId="0" animBg="1"/>
      <p:bldP spid="45" grpId="0" animBg="1"/>
      <p:bldP spid="46" grpId="0" animBg="1"/>
      <p:bldP spid="4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3C1CC181-15E5-4CB4-64DF-375627B4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36D26F6A-C6CE-1D8A-246E-5AAC3E803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00B050"/>
              </a:buClr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ISOTP - </a:t>
            </a:r>
            <a:r>
              <a:rPr lang="en-US" dirty="0">
                <a:solidFill>
                  <a:srgbClr val="00B050"/>
                </a:solidFill>
              </a:rPr>
              <a:t>Consecutive Frame (CF)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BDD00F-664D-8676-1E99-673C2FE7DEDA}"/>
              </a:ext>
            </a:extLst>
          </p:cNvPr>
          <p:cNvSpPr txBox="1"/>
          <p:nvPr/>
        </p:nvSpPr>
        <p:spPr>
          <a:xfrm>
            <a:off x="491067" y="1859340"/>
            <a:ext cx="8800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After receiving FC, the sender starts transmitting the remaining data.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03B784-20F7-0516-4B9A-A12A506D0B13}"/>
              </a:ext>
            </a:extLst>
          </p:cNvPr>
          <p:cNvSpPr/>
          <p:nvPr/>
        </p:nvSpPr>
        <p:spPr>
          <a:xfrm>
            <a:off x="74387" y="3158066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432BEF-F6A7-12A5-9C8D-47453439D04C}"/>
              </a:ext>
            </a:extLst>
          </p:cNvPr>
          <p:cNvSpPr/>
          <p:nvPr/>
        </p:nvSpPr>
        <p:spPr>
          <a:xfrm>
            <a:off x="1302053" y="3158066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DLC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0FD48-6472-4FDF-D416-C827338AF765}"/>
              </a:ext>
            </a:extLst>
          </p:cNvPr>
          <p:cNvSpPr/>
          <p:nvPr/>
        </p:nvSpPr>
        <p:spPr>
          <a:xfrm>
            <a:off x="2529719" y="3158065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PCI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1749E-7A1D-6983-847E-1F2094B78B9A}"/>
              </a:ext>
            </a:extLst>
          </p:cNvPr>
          <p:cNvSpPr/>
          <p:nvPr/>
        </p:nvSpPr>
        <p:spPr>
          <a:xfrm>
            <a:off x="3757385" y="3158065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0 to 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9C86E6-17E0-0F90-A277-5A9F7CDCEE74}"/>
              </a:ext>
            </a:extLst>
          </p:cNvPr>
          <p:cNvSpPr/>
          <p:nvPr/>
        </p:nvSpPr>
        <p:spPr>
          <a:xfrm>
            <a:off x="57455" y="4099785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0x7E0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FFDD30-EB9D-4BB1-010D-C2A699DB9F0D}"/>
              </a:ext>
            </a:extLst>
          </p:cNvPr>
          <p:cNvSpPr/>
          <p:nvPr/>
        </p:nvSpPr>
        <p:spPr>
          <a:xfrm>
            <a:off x="1285121" y="4099785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F7C5E6-FCD9-5E4A-44A5-0DCD651447F3}"/>
              </a:ext>
            </a:extLst>
          </p:cNvPr>
          <p:cNvSpPr/>
          <p:nvPr/>
        </p:nvSpPr>
        <p:spPr>
          <a:xfrm>
            <a:off x="2512787" y="4099784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702C17-53F5-67CC-012B-1A838452DDC4}"/>
              </a:ext>
            </a:extLst>
          </p:cNvPr>
          <p:cNvSpPr/>
          <p:nvPr/>
        </p:nvSpPr>
        <p:spPr>
          <a:xfrm>
            <a:off x="3740453" y="4099784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A4B751-DFD4-E0FF-9A2B-62883D982C00}"/>
              </a:ext>
            </a:extLst>
          </p:cNvPr>
          <p:cNvSpPr/>
          <p:nvPr/>
        </p:nvSpPr>
        <p:spPr>
          <a:xfrm>
            <a:off x="5611586" y="4099783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9BE4C6-FDE5-168B-70CA-D55D4D1737D2}"/>
              </a:ext>
            </a:extLst>
          </p:cNvPr>
          <p:cNvSpPr/>
          <p:nvPr/>
        </p:nvSpPr>
        <p:spPr>
          <a:xfrm>
            <a:off x="4985051" y="4099784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FBD139-EDB4-9BC1-58E3-6090952A4EFD}"/>
              </a:ext>
            </a:extLst>
          </p:cNvPr>
          <p:cNvSpPr/>
          <p:nvPr/>
        </p:nvSpPr>
        <p:spPr>
          <a:xfrm>
            <a:off x="6229649" y="4099783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171D90-6E7D-B6C0-00E8-E58BECC7F459}"/>
              </a:ext>
            </a:extLst>
          </p:cNvPr>
          <p:cNvSpPr/>
          <p:nvPr/>
        </p:nvSpPr>
        <p:spPr>
          <a:xfrm>
            <a:off x="6856184" y="4099783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06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EEC0AF-A1CE-3CAE-98C9-7505D8786CD1}"/>
              </a:ext>
            </a:extLst>
          </p:cNvPr>
          <p:cNvSpPr/>
          <p:nvPr/>
        </p:nvSpPr>
        <p:spPr>
          <a:xfrm>
            <a:off x="4362752" y="4099783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3EE836-C88A-7CDB-83AB-9ECA3DE73E82}"/>
              </a:ext>
            </a:extLst>
          </p:cNvPr>
          <p:cNvSpPr/>
          <p:nvPr/>
        </p:nvSpPr>
        <p:spPr>
          <a:xfrm>
            <a:off x="7491181" y="4099783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07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A77C69-7AB0-DF4F-768B-0AF3BA19F967}"/>
              </a:ext>
            </a:extLst>
          </p:cNvPr>
          <p:cNvSpPr txBox="1"/>
          <p:nvPr/>
        </p:nvSpPr>
        <p:spPr>
          <a:xfrm>
            <a:off x="8149163" y="5037435"/>
            <a:ext cx="3983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</a:rPr>
              <a:t>PCI = 0x22</a:t>
            </a:r>
          </a:p>
          <a:p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Lower Nibble =2</a:t>
            </a:r>
            <a:r>
              <a:rPr lang="en-US" sz="1800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 Sequence Number</a:t>
            </a:r>
          </a:p>
          <a:p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Upper  Nibble =2 </a:t>
            </a: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 Consecutive Frame</a:t>
            </a:r>
            <a:endParaRPr lang="en-US" sz="1800" dirty="0">
              <a:solidFill>
                <a:srgbClr val="1E4E79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748850-1FD8-4E53-9100-9A7272F1F82F}"/>
              </a:ext>
            </a:extLst>
          </p:cNvPr>
          <p:cNvSpPr/>
          <p:nvPr/>
        </p:nvSpPr>
        <p:spPr>
          <a:xfrm>
            <a:off x="104017" y="5281917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0x7E0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F76F80-3329-CE42-1543-5BC79F0E8B3A}"/>
              </a:ext>
            </a:extLst>
          </p:cNvPr>
          <p:cNvSpPr/>
          <p:nvPr/>
        </p:nvSpPr>
        <p:spPr>
          <a:xfrm>
            <a:off x="1331683" y="5281917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E92744-BCF1-B28A-E278-526395A03871}"/>
              </a:ext>
            </a:extLst>
          </p:cNvPr>
          <p:cNvSpPr/>
          <p:nvPr/>
        </p:nvSpPr>
        <p:spPr>
          <a:xfrm>
            <a:off x="2559349" y="5281916"/>
            <a:ext cx="12276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827EFE-6821-44CE-FEED-6D0B19702724}"/>
              </a:ext>
            </a:extLst>
          </p:cNvPr>
          <p:cNvSpPr/>
          <p:nvPr/>
        </p:nvSpPr>
        <p:spPr>
          <a:xfrm>
            <a:off x="3787015" y="5281916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E64769E-E7C7-A03B-7928-E983C720CFC2}"/>
              </a:ext>
            </a:extLst>
          </p:cNvPr>
          <p:cNvSpPr/>
          <p:nvPr/>
        </p:nvSpPr>
        <p:spPr>
          <a:xfrm>
            <a:off x="5658148" y="5281915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6D9195-B3F0-56E4-EA45-79CAC15C957A}"/>
              </a:ext>
            </a:extLst>
          </p:cNvPr>
          <p:cNvSpPr/>
          <p:nvPr/>
        </p:nvSpPr>
        <p:spPr>
          <a:xfrm>
            <a:off x="5031613" y="5281916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263047-2BA5-CB61-B410-77E8BAC57E94}"/>
              </a:ext>
            </a:extLst>
          </p:cNvPr>
          <p:cNvSpPr/>
          <p:nvPr/>
        </p:nvSpPr>
        <p:spPr>
          <a:xfrm>
            <a:off x="6276211" y="5281915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685D06-FC7B-7195-C2BE-488B173DD0A1}"/>
              </a:ext>
            </a:extLst>
          </p:cNvPr>
          <p:cNvSpPr/>
          <p:nvPr/>
        </p:nvSpPr>
        <p:spPr>
          <a:xfrm>
            <a:off x="6902746" y="5281915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06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085DFC-DA19-81DE-417A-E9C299C3368C}"/>
              </a:ext>
            </a:extLst>
          </p:cNvPr>
          <p:cNvSpPr/>
          <p:nvPr/>
        </p:nvSpPr>
        <p:spPr>
          <a:xfrm>
            <a:off x="4409314" y="5281915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8A2870-99AC-CCF7-1021-5AFCCCCA136A}"/>
              </a:ext>
            </a:extLst>
          </p:cNvPr>
          <p:cNvSpPr/>
          <p:nvPr/>
        </p:nvSpPr>
        <p:spPr>
          <a:xfrm>
            <a:off x="7491181" y="5281914"/>
            <a:ext cx="626535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07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47125B-1945-05C1-8F03-405B2B9E14BE}"/>
              </a:ext>
            </a:extLst>
          </p:cNvPr>
          <p:cNvSpPr txBox="1"/>
          <p:nvPr/>
        </p:nvSpPr>
        <p:spPr>
          <a:xfrm>
            <a:off x="8149163" y="3997775"/>
            <a:ext cx="414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</a:rPr>
              <a:t>PCI = 0x21</a:t>
            </a:r>
          </a:p>
          <a:p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Lower Nibble =1</a:t>
            </a:r>
            <a:r>
              <a:rPr lang="en-US" sz="1800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 Sequence Number</a:t>
            </a:r>
          </a:p>
          <a:p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Times New Roman"/>
              </a:rPr>
              <a:t>Upper  Nibble =2 </a:t>
            </a:r>
            <a:r>
              <a:rPr lang="en-US" sz="1800" dirty="0">
                <a:solidFill>
                  <a:srgbClr val="1E4E79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 Consecutive Frame</a:t>
            </a:r>
            <a:endParaRPr lang="en-US" sz="1800" dirty="0">
              <a:solidFill>
                <a:srgbClr val="1E4E79"/>
              </a:solidFill>
              <a:latin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54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" grpId="0" animBg="1"/>
      <p:bldP spid="4" grpId="0" animBg="1"/>
      <p:bldP spid="5" grpId="0" animBg="1"/>
      <p:bldP spid="7" grpId="0" animBg="1"/>
      <p:bldP spid="10" grpId="0" animBg="1"/>
      <p:bldP spid="11" grpId="0" animBg="1"/>
      <p:bldP spid="12" grpId="0" animBg="1"/>
      <p:bldP spid="13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3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8" grpId="0" animBg="1"/>
      <p:bldP spid="4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C41D1BD3-4712-9E41-D6EE-35CC6A49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12E03AF2-F687-0A30-BB59-AEEBD6DDBDAF}"/>
              </a:ext>
            </a:extLst>
          </p:cNvPr>
          <p:cNvSpPr txBox="1"/>
          <p:nvPr/>
        </p:nvSpPr>
        <p:spPr>
          <a:xfrm>
            <a:off x="4073673" y="5868056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0x7E0 0x07 0x25 0x23 0x24 0x25 0x26 0x27 0x28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179BE8-21B1-113A-DAFC-0E353AF63722}"/>
              </a:ext>
            </a:extLst>
          </p:cNvPr>
          <p:cNvSpPr txBox="1"/>
          <p:nvPr/>
        </p:nvSpPr>
        <p:spPr>
          <a:xfrm>
            <a:off x="4073673" y="4061887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0x7E0 0x08 0x23 0x15 0x16 0x17 0x18 0x19 0x1A 0x1B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028A26-BCE5-44CD-4B22-B1F7A9632809}"/>
              </a:ext>
            </a:extLst>
          </p:cNvPr>
          <p:cNvSpPr txBox="1"/>
          <p:nvPr/>
        </p:nvSpPr>
        <p:spPr>
          <a:xfrm>
            <a:off x="4029678" y="3367879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0x7E0 0x08 0x22 0x0E 0x0F 0x10 0x11 0x12 0x13 0x14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BDCD64-6337-43EE-738A-B79E660A4467}"/>
              </a:ext>
            </a:extLst>
          </p:cNvPr>
          <p:cNvSpPr txBox="1"/>
          <p:nvPr/>
        </p:nvSpPr>
        <p:spPr>
          <a:xfrm>
            <a:off x="4005636" y="2709730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0x7E0 0x08 0x21 0x07 0x08 0x09 0x0A 0x0B 0x0C 0x0D</a:t>
            </a:r>
          </a:p>
        </p:txBody>
      </p:sp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06D62E5E-7C2A-1738-1226-8ED93F99C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51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2800" dirty="0"/>
              <a:t>Example: Transmitting 40 bytes of application data using CAN ISO-TP</a:t>
            </a:r>
            <a:endParaRPr lang="en-US" sz="2800" dirty="0">
              <a:solidFill>
                <a:srgbClr val="1E4E79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7DA576-C467-ACE6-7BBA-6172FC54EA76}"/>
              </a:ext>
            </a:extLst>
          </p:cNvPr>
          <p:cNvSpPr/>
          <p:nvPr/>
        </p:nvSpPr>
        <p:spPr>
          <a:xfrm>
            <a:off x="3106058" y="1040348"/>
            <a:ext cx="1109133" cy="3863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5FCB63-9C27-41A5-6A53-1F5EA36D4920}"/>
              </a:ext>
            </a:extLst>
          </p:cNvPr>
          <p:cNvSpPr/>
          <p:nvPr/>
        </p:nvSpPr>
        <p:spPr>
          <a:xfrm>
            <a:off x="10457239" y="1053625"/>
            <a:ext cx="1109133" cy="3863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9225B3-4979-EE13-C8F9-47F83B053768}"/>
              </a:ext>
            </a:extLst>
          </p:cNvPr>
          <p:cNvSpPr/>
          <p:nvPr/>
        </p:nvSpPr>
        <p:spPr>
          <a:xfrm>
            <a:off x="3261482" y="2909868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AEEFC0-7B16-F8E0-871F-ADFF6C5DD775}"/>
              </a:ext>
            </a:extLst>
          </p:cNvPr>
          <p:cNvCxnSpPr>
            <a:cxnSpLocks/>
          </p:cNvCxnSpPr>
          <p:nvPr/>
        </p:nvCxnSpPr>
        <p:spPr>
          <a:xfrm>
            <a:off x="3948495" y="1939905"/>
            <a:ext cx="6276822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8548EB-A75F-1AD4-171E-8F8CFA5D685D}"/>
              </a:ext>
            </a:extLst>
          </p:cNvPr>
          <p:cNvCxnSpPr>
            <a:cxnSpLocks/>
          </p:cNvCxnSpPr>
          <p:nvPr/>
        </p:nvCxnSpPr>
        <p:spPr>
          <a:xfrm>
            <a:off x="3948495" y="3089603"/>
            <a:ext cx="6276822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60C8F8-D20B-18B8-9D4B-00DDCD538695}"/>
              </a:ext>
            </a:extLst>
          </p:cNvPr>
          <p:cNvCxnSpPr>
            <a:cxnSpLocks/>
          </p:cNvCxnSpPr>
          <p:nvPr/>
        </p:nvCxnSpPr>
        <p:spPr>
          <a:xfrm>
            <a:off x="3948495" y="3794116"/>
            <a:ext cx="6381741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4B73BD-BEB1-6DA0-38E1-1F5DA140CAE1}"/>
              </a:ext>
            </a:extLst>
          </p:cNvPr>
          <p:cNvCxnSpPr>
            <a:cxnSpLocks/>
          </p:cNvCxnSpPr>
          <p:nvPr/>
        </p:nvCxnSpPr>
        <p:spPr>
          <a:xfrm>
            <a:off x="3920669" y="4421438"/>
            <a:ext cx="6433609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4CF159-C27A-7726-4434-C2220B3B15B0}"/>
              </a:ext>
            </a:extLst>
          </p:cNvPr>
          <p:cNvCxnSpPr>
            <a:cxnSpLocks/>
          </p:cNvCxnSpPr>
          <p:nvPr/>
        </p:nvCxnSpPr>
        <p:spPr>
          <a:xfrm>
            <a:off x="3948495" y="5172904"/>
            <a:ext cx="6449778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1DC3D5-B3F9-AFEB-A758-7DE5E93F6754}"/>
              </a:ext>
            </a:extLst>
          </p:cNvPr>
          <p:cNvCxnSpPr>
            <a:cxnSpLocks/>
          </p:cNvCxnSpPr>
          <p:nvPr/>
        </p:nvCxnSpPr>
        <p:spPr>
          <a:xfrm>
            <a:off x="3920668" y="6262547"/>
            <a:ext cx="6549269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FB04D4-9DDD-8BA5-D1AB-34DA5EA807A6}"/>
              </a:ext>
            </a:extLst>
          </p:cNvPr>
          <p:cNvCxnSpPr>
            <a:cxnSpLocks/>
          </p:cNvCxnSpPr>
          <p:nvPr/>
        </p:nvCxnSpPr>
        <p:spPr>
          <a:xfrm flipH="1" flipV="1">
            <a:off x="3948495" y="2390398"/>
            <a:ext cx="6643305" cy="23179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5838698-D288-742B-ED47-6D9BB89900D2}"/>
              </a:ext>
            </a:extLst>
          </p:cNvPr>
          <p:cNvCxnSpPr>
            <a:cxnSpLocks/>
          </p:cNvCxnSpPr>
          <p:nvPr/>
        </p:nvCxnSpPr>
        <p:spPr>
          <a:xfrm flipH="1">
            <a:off x="3920668" y="5617879"/>
            <a:ext cx="6671132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1C5259F-ECFC-F1B8-6E8B-8BA908ED5F8B}"/>
              </a:ext>
            </a:extLst>
          </p:cNvPr>
          <p:cNvSpPr/>
          <p:nvPr/>
        </p:nvSpPr>
        <p:spPr>
          <a:xfrm>
            <a:off x="3281434" y="3607174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CF2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E6451A3-1146-46E9-8B0B-B88CBD60EEB9}"/>
              </a:ext>
            </a:extLst>
          </p:cNvPr>
          <p:cNvSpPr/>
          <p:nvPr/>
        </p:nvSpPr>
        <p:spPr>
          <a:xfrm>
            <a:off x="3261481" y="4234496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CF3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F4F374D-6B0F-3519-2F58-6D0D6A2BD38A}"/>
              </a:ext>
            </a:extLst>
          </p:cNvPr>
          <p:cNvSpPr/>
          <p:nvPr/>
        </p:nvSpPr>
        <p:spPr>
          <a:xfrm>
            <a:off x="3281433" y="4985962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CF4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2FAB7C0-2E0F-4EF6-843E-4458C7ED0588}"/>
              </a:ext>
            </a:extLst>
          </p:cNvPr>
          <p:cNvSpPr/>
          <p:nvPr/>
        </p:nvSpPr>
        <p:spPr>
          <a:xfrm>
            <a:off x="3266924" y="1744860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FF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799CFA8-EFB6-F9D6-3D62-354810C203C8}"/>
              </a:ext>
            </a:extLst>
          </p:cNvPr>
          <p:cNvSpPr/>
          <p:nvPr/>
        </p:nvSpPr>
        <p:spPr>
          <a:xfrm>
            <a:off x="10622338" y="2203456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FC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15C0C35-48C3-76C4-6061-C78A53EF9E9F}"/>
              </a:ext>
            </a:extLst>
          </p:cNvPr>
          <p:cNvSpPr/>
          <p:nvPr/>
        </p:nvSpPr>
        <p:spPr>
          <a:xfrm>
            <a:off x="10622338" y="5430937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0C47631-A6BC-0A27-1334-889299B092F5}"/>
              </a:ext>
            </a:extLst>
          </p:cNvPr>
          <p:cNvSpPr/>
          <p:nvPr/>
        </p:nvSpPr>
        <p:spPr>
          <a:xfrm>
            <a:off x="3261481" y="6055415"/>
            <a:ext cx="639235" cy="373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C8199-DE94-169C-05A2-DE10E5FD128D}"/>
              </a:ext>
            </a:extLst>
          </p:cNvPr>
          <p:cNvSpPr txBox="1"/>
          <p:nvPr/>
        </p:nvSpPr>
        <p:spPr>
          <a:xfrm>
            <a:off x="3900717" y="1498153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0x7E0 0x08 0x10 0x28 0x01 0x02 0x03 0x04 0x05 0x06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26E410-2D8E-3C68-3BB9-DD99D5251D5C}"/>
              </a:ext>
            </a:extLst>
          </p:cNvPr>
          <p:cNvSpPr txBox="1"/>
          <p:nvPr/>
        </p:nvSpPr>
        <p:spPr>
          <a:xfrm>
            <a:off x="5170256" y="2013467"/>
            <a:ext cx="33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0x7E8 0x03 0x30 0x04 0x0A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BAE44D-33E1-113C-A2ED-CE27EB32D187}"/>
              </a:ext>
            </a:extLst>
          </p:cNvPr>
          <p:cNvSpPr txBox="1"/>
          <p:nvPr/>
        </p:nvSpPr>
        <p:spPr>
          <a:xfrm>
            <a:off x="5664203" y="2379940"/>
            <a:ext cx="160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Times New Roman"/>
                <a:cs typeface="Times New Roman"/>
              </a:rPr>
              <a:t>10ms delay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C8273F-7001-56CF-A7DD-428A28BC8031}"/>
              </a:ext>
            </a:extLst>
          </p:cNvPr>
          <p:cNvSpPr txBox="1"/>
          <p:nvPr/>
        </p:nvSpPr>
        <p:spPr>
          <a:xfrm>
            <a:off x="5664203" y="3049020"/>
            <a:ext cx="160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Times New Roman"/>
                <a:cs typeface="Times New Roman"/>
              </a:rPr>
              <a:t>10ms delay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8FB4C8-9541-3000-B9AF-7C35B687050D}"/>
              </a:ext>
            </a:extLst>
          </p:cNvPr>
          <p:cNvSpPr txBox="1"/>
          <p:nvPr/>
        </p:nvSpPr>
        <p:spPr>
          <a:xfrm>
            <a:off x="5664203" y="3731171"/>
            <a:ext cx="160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Times New Roman"/>
                <a:cs typeface="Times New Roman"/>
              </a:rPr>
              <a:t>10ms delay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C85E1E-F826-D66F-311F-0E642AB940EB}"/>
              </a:ext>
            </a:extLst>
          </p:cNvPr>
          <p:cNvSpPr txBox="1"/>
          <p:nvPr/>
        </p:nvSpPr>
        <p:spPr>
          <a:xfrm>
            <a:off x="5682040" y="4408326"/>
            <a:ext cx="160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Times New Roman"/>
                <a:cs typeface="Times New Roman"/>
              </a:rPr>
              <a:t>10ms delay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11E01-5E3F-B1C8-45EF-7F28931D8A63}"/>
              </a:ext>
            </a:extLst>
          </p:cNvPr>
          <p:cNvSpPr txBox="1"/>
          <p:nvPr/>
        </p:nvSpPr>
        <p:spPr>
          <a:xfrm>
            <a:off x="4145337" y="4713699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0x7E0 0x08 0x24 0x1C 0x1D 0x1E 0x1F 0x20 0x21 0x22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5FC167-EB42-EEE6-4E2F-59EA5CF668E4}"/>
              </a:ext>
            </a:extLst>
          </p:cNvPr>
          <p:cNvSpPr txBox="1"/>
          <p:nvPr/>
        </p:nvSpPr>
        <p:spPr>
          <a:xfrm>
            <a:off x="5168440" y="5205926"/>
            <a:ext cx="33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0x7E8 0x03 0x30 0x04 0x0A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C36D2F-1FC5-1DF6-FB2C-F952994C0928}"/>
              </a:ext>
            </a:extLst>
          </p:cNvPr>
          <p:cNvSpPr txBox="1"/>
          <p:nvPr/>
        </p:nvSpPr>
        <p:spPr>
          <a:xfrm>
            <a:off x="5701693" y="5575795"/>
            <a:ext cx="160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Times New Roman"/>
                <a:cs typeface="Times New Roman"/>
              </a:rPr>
              <a:t>10ms delay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71A71E-B39A-D26E-1FDA-CC1FC8BD043A}"/>
              </a:ext>
            </a:extLst>
          </p:cNvPr>
          <p:cNvCxnSpPr/>
          <p:nvPr/>
        </p:nvCxnSpPr>
        <p:spPr>
          <a:xfrm>
            <a:off x="4377267" y="6688667"/>
            <a:ext cx="609267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8B2505F-555B-613F-9E2D-08821D771A55}"/>
              </a:ext>
            </a:extLst>
          </p:cNvPr>
          <p:cNvSpPr txBox="1"/>
          <p:nvPr/>
        </p:nvSpPr>
        <p:spPr>
          <a:xfrm>
            <a:off x="5817658" y="6345774"/>
            <a:ext cx="2473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Times New Roman"/>
                <a:cs typeface="Times New Roman"/>
              </a:rPr>
              <a:t>Transfer complete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3C88BA-9C60-2A52-7286-28CF8B894625}"/>
              </a:ext>
            </a:extLst>
          </p:cNvPr>
          <p:cNvSpPr txBox="1"/>
          <p:nvPr/>
        </p:nvSpPr>
        <p:spPr>
          <a:xfrm>
            <a:off x="208718" y="4831840"/>
            <a:ext cx="30266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Note : 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If </a:t>
            </a: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STmin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 = 5 </a:t>
            </a: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ms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:</a:t>
            </a:r>
          </a:p>
          <a:p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Transmitting after 5 </a:t>
            </a: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ms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, 6 </a:t>
            </a: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ms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, or 10 </a:t>
            </a: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ms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 is valid. Transmitting after 3 </a:t>
            </a:r>
            <a:r>
              <a:rPr lang="en-US" sz="2000" dirty="0" err="1">
                <a:solidFill>
                  <a:srgbClr val="1E4E79"/>
                </a:solidFill>
                <a:latin typeface="Times New Roman"/>
                <a:cs typeface="Times New Roman"/>
              </a:rPr>
              <a:t>ms</a:t>
            </a:r>
            <a:r>
              <a:rPr lang="en-US" sz="2000" dirty="0">
                <a:solidFill>
                  <a:srgbClr val="1E4E79"/>
                </a:solidFill>
                <a:latin typeface="Times New Roman"/>
                <a:cs typeface="Times New Roman"/>
              </a:rPr>
              <a:t> is not.</a:t>
            </a:r>
          </a:p>
        </p:txBody>
      </p:sp>
    </p:spTree>
    <p:extLst>
      <p:ext uri="{BB962C8B-B14F-4D97-AF65-F5344CB8AC3E}">
        <p14:creationId xmlns:p14="http://schemas.microsoft.com/office/powerpoint/2010/main" val="394937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31" grpId="0"/>
      <p:bldP spid="28" grpId="0"/>
      <p:bldP spid="15" grpId="0"/>
      <p:bldP spid="313" grpId="0"/>
      <p:bldP spid="4" grpId="0" animBg="1"/>
      <p:bldP spid="5" grpId="0" animBg="1"/>
      <p:bldP spid="8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2" grpId="0"/>
      <p:bldP spid="10" grpId="0"/>
      <p:bldP spid="17" grpId="0"/>
      <p:bldP spid="25" grpId="0"/>
      <p:bldP spid="29" grpId="0"/>
      <p:bldP spid="32" grpId="0"/>
      <p:bldP spid="45" grpId="0"/>
      <p:bldP spid="47" grpId="0"/>
      <p:bldP spid="48" grpId="0"/>
      <p:bldP spid="5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2260</TotalTime>
  <Words>1196</Words>
  <Application>Microsoft Office PowerPoint</Application>
  <PresentationFormat>Widescreen</PresentationFormat>
  <Paragraphs>311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HISTORY</vt:lpstr>
      <vt:lpstr>Before and After CAN</vt:lpstr>
      <vt:lpstr>CAN STRUCTURE </vt:lpstr>
      <vt:lpstr>PowerPoint Presentation</vt:lpstr>
      <vt:lpstr>CAN with different layers in OSI model</vt:lpstr>
      <vt:lpstr>CAN FRAME FORMATS</vt:lpstr>
      <vt:lpstr>TYPES OF FRAMES</vt:lpstr>
      <vt:lpstr>Data frame</vt:lpstr>
      <vt:lpstr>CAN 2.0 B EXTENTED FORMAT</vt:lpstr>
      <vt:lpstr>Remote frame 11bit identifier</vt:lpstr>
      <vt:lpstr>Remote frame 29bit identifier</vt:lpstr>
      <vt:lpstr>ERROR FRAME</vt:lpstr>
      <vt:lpstr>Overload frame</vt:lpstr>
      <vt:lpstr>Interframe space</vt:lpstr>
      <vt:lpstr>TYPES OF ERROR</vt:lpstr>
      <vt:lpstr>CRC Error</vt:lpstr>
      <vt:lpstr>PowerPoint Presentation</vt:lpstr>
      <vt:lpstr>Fault confinement</vt:lpstr>
      <vt:lpstr>PowerPoint Presentation</vt:lpstr>
      <vt:lpstr>PowerPoint Presentation</vt:lpstr>
      <vt:lpstr>Multi master  arbitration Data frame</vt:lpstr>
      <vt:lpstr>CAN ISOTP</vt:lpstr>
      <vt:lpstr>CAN ISOTP - Single Frame (SF)</vt:lpstr>
      <vt:lpstr>CAN ISOTP - First Frame (FF)</vt:lpstr>
      <vt:lpstr>CAN ISOTP - Flow Control (FC)</vt:lpstr>
      <vt:lpstr>CAN ISOTP - Flow Control (FC)</vt:lpstr>
      <vt:lpstr>CAN ISOTP - Flow Control (FC)</vt:lpstr>
      <vt:lpstr>CAN ISOTP - Consecutive Frame (CF)</vt:lpstr>
      <vt:lpstr>Example: Transmitting 40 bytes of application data using CAN ISO-TP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Aravinth Kalai</dc:creator>
  <cp:lastModifiedBy>Aravinth K (SDS/BSV-ENG3)</cp:lastModifiedBy>
  <cp:revision>80</cp:revision>
  <dcterms:created xsi:type="dcterms:W3CDTF">2019-10-22T07:30:28Z</dcterms:created>
  <dcterms:modified xsi:type="dcterms:W3CDTF">2026-07-08T12:06:05Z</dcterms:modified>
</cp:coreProperties>
</file>