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78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6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25D1-E2C5-4D7D-9F9D-55E54EB5DF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13314A-8120-4A38-A826-ED0CA76ED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46234-6930-4643-9DA7-4FA7413E9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5F365-2BA7-44AC-B690-F9AB5D914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644EB-6E6C-4D72-8448-64CA42167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8536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1CE39-26DC-4C20-BBDD-782D90DF9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AC041-7A71-45AB-B92D-AD75524C2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76FDF-03F2-483E-9DC4-FAFA476FA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BFFB-A4BF-4910-B7FB-4B828F37D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674356-5241-4F0E-A791-49CE955BC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52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C4287-29A6-4983-8F70-97998D6EE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D17D73-375B-404D-A7EA-1425BDA4C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CB672-EBFA-41AE-BC17-63BB85014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3C101-A410-4D3D-BA4F-196A75FFC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08EBA-303A-491C-A383-C3A478B86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371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004E5-14E8-4E2C-B942-F063335C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7B7EA-3DEF-45D2-B23E-00EC24725F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FF50E-478A-46C3-98C5-D70BFF866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942F5-BE86-4B76-81CB-CC971D85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C35BB-AEDA-4023-9D5B-08CDBA1CA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8DA517-CC14-4D7E-8ED1-5ACBC3033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3511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82485-10A2-428A-8F7E-45728EE01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BB30C-50C5-474E-AA7F-3ADA3EAE2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A2501-D110-4652-BBAB-CD4E666FCB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7A374-4BEB-427B-852F-C616795528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8CB9B-0281-4B73-A258-C562ABE005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4C4A82-FFC1-467E-A173-2AFB72402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A40AF6-B863-497E-BC70-8371FB860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F32300-6716-418D-9F6B-E6C0CFD3D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1946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0B33E-974B-4C85-90E3-EF939A5F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9D0A5D-E3EF-43C4-9F1E-BD6B7D4E9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327B01-D441-4481-876F-846E501C9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5B006A-4143-46ED-80BC-D431AD97F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695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9F96BA-384A-4788-92E8-284DBD5C1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5FEDEC-AE2C-4D02-978A-4C459FB87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18CC2-115B-4B0E-97E8-FF0C50926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382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A94D9-74C2-4591-87F1-B9C0AFDE2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C5C7B-E540-4D1D-9EC0-DB692FB0E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95DDB1-0B6C-498A-9A96-B97444C2B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C9CDF-E240-47E3-B57A-EAF3E2F12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B61570-5587-4D26-BF15-0B97F84C2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69B8B4-8BE4-4954-817A-8C1A7474C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0895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B9583-F66F-4B36-81DB-D9B76D949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EEFF46-1C4B-48A9-BAD8-835E8561E8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07BCA-F694-4143-A2A0-4A5355D43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F7EE2-9960-4265-B7A9-1C4675637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FB72B4-CCD3-4536-9709-A95232F2B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361A75-2AA8-4E78-AEBF-70B86F05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269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76B3B-D4DD-4898-8FAF-5607C77B9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B354A9-2B9B-4302-A8A2-0D9A34C524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1CBBA-D1C3-4FD3-9F37-E88560605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AD5D9-08CE-479E-9826-A8D34A32E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2FE50-2B88-4583-B240-B1FC6B39C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828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0FA968-169A-44F6-B811-772C944A30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16EBB3-D1CB-4119-99A9-F12C93AE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1B162-850F-448B-A265-AF2C238F4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034D61-16AA-4103-A1AB-4E7FD1FC9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3C2A3-8FAA-4639-98D0-3BDB923B2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1764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CF866E-0CA7-421A-A87C-BF345F30F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D6E1D-DB0C-48DB-A389-996AF0CA8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06E06-7077-4C56-AF82-A75387A9E4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F9039-D21A-4354-A211-BAEB9CFC42B2}" type="datetimeFigureOut">
              <a:rPr lang="en-IN" smtClean="0"/>
              <a:t>30-09-2020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B2F12-3F09-4560-A1FC-D8EF8DA0D5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1B1BA-0A21-4FF4-95AF-4B29080283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4A9E6-A109-4B0D-B715-B40BC57CBBB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4583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7D7A1-AABA-4D08-B173-DF1195CBD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5617" y="2491911"/>
            <a:ext cx="10721009" cy="292822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IN" sz="6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PROTOCOL</a:t>
            </a:r>
          </a:p>
          <a:p>
            <a:pPr marL="0" indent="0" algn="ctr">
              <a:buNone/>
            </a:pPr>
            <a:r>
              <a:rPr lang="en-US" sz="3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(Controller area network)</a:t>
            </a:r>
            <a:endParaRPr lang="en-IN" sz="30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97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776B-4B00-423A-850C-4200AE963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8FFBA-B599-42DC-837C-B1883A9AF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bus is a vehicle bus standard designed to allow microcontroller and devices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communicate with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other in vehicle</a:t>
            </a:r>
            <a:r>
              <a:rPr lang="en-IN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is a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message based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protocol.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can send up to 8 bytes of data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is present in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both physical and data link layer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IN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OSI layers.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is a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multi-master, multicast 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serial bus .</a:t>
            </a:r>
          </a:p>
          <a:p>
            <a:r>
              <a:rPr lang="en-US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by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ISO 11898-1, 11898-2</a:t>
            </a:r>
          </a:p>
          <a:p>
            <a:r>
              <a:rPr lang="en-IN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endParaRPr lang="en-IN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317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05A54-DD97-45F5-9C45-6A2C9B9AC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2493"/>
          </a:xfrm>
        </p:spPr>
        <p:txBody>
          <a:bodyPr/>
          <a:lstStyle/>
          <a:p>
            <a:pPr algn="ctr"/>
            <a:r>
              <a:rPr lang="en-IN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49368-EA58-4395-8F56-57E3BF478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reduce communication complexity on automobiles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BOSCH </a:t>
            </a: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starts work on  CAN protocol in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1983</a:t>
            </a: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official CAN released in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1986</a:t>
            </a: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IN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Intel/ Philips </a:t>
            </a: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the fist manufacture of CAN based microcontroller in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1987.</a:t>
            </a:r>
          </a:p>
          <a:p>
            <a:pPr marL="0" indent="0">
              <a:buNone/>
            </a:pPr>
            <a:endParaRPr lang="en-IN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1991</a:t>
            </a: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CAN based first luxury car released by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Mercedes</a:t>
            </a: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Benz</a:t>
            </a:r>
          </a:p>
        </p:txBody>
      </p:sp>
    </p:spTree>
    <p:extLst>
      <p:ext uri="{BB962C8B-B14F-4D97-AF65-F5344CB8AC3E}">
        <p14:creationId xmlns:p14="http://schemas.microsoft.com/office/powerpoint/2010/main" val="3764915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D4B82-E17A-4A42-98CB-1541BBAEE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IN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Before and After CAN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31D20C-93E0-4759-B629-DC801DBEFAC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24" r="49966"/>
          <a:stretch/>
        </p:blipFill>
        <p:spPr>
          <a:xfrm>
            <a:off x="2186608" y="2117849"/>
            <a:ext cx="874643" cy="3298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3A933E-D445-405B-9899-6DA45B5254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577"/>
          <a:stretch/>
        </p:blipFill>
        <p:spPr>
          <a:xfrm>
            <a:off x="257844" y="2117849"/>
            <a:ext cx="1928764" cy="32982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E69CE2-BE17-4D41-B588-F3D3EC6155D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33"/>
          <a:stretch/>
        </p:blipFill>
        <p:spPr>
          <a:xfrm>
            <a:off x="3061250" y="2117849"/>
            <a:ext cx="2799677" cy="3298214"/>
          </a:xfrm>
          <a:prstGeom prst="rect">
            <a:avLst/>
          </a:prstGeom>
        </p:spPr>
      </p:pic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7FD05BA-BF6C-4E7D-BC2A-C579075286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89" r="46793"/>
          <a:stretch/>
        </p:blipFill>
        <p:spPr>
          <a:xfrm>
            <a:off x="7977809" y="2117849"/>
            <a:ext cx="1020417" cy="3311947"/>
          </a:xfrm>
        </p:spPr>
      </p:pic>
      <p:pic>
        <p:nvPicPr>
          <p:cNvPr id="16" name="Content Placeholder 4">
            <a:extLst>
              <a:ext uri="{FF2B5EF4-FFF2-40B4-BE49-F238E27FC236}">
                <a16:creationId xmlns:a16="http://schemas.microsoft.com/office/drawing/2014/main" id="{4453912A-6275-4945-A092-8C3009E4D4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811"/>
          <a:stretch/>
        </p:blipFill>
        <p:spPr>
          <a:xfrm>
            <a:off x="5807920" y="2117849"/>
            <a:ext cx="2169890" cy="3311947"/>
          </a:xfrm>
          <a:prstGeom prst="rect">
            <a:avLst/>
          </a:prstGeom>
        </p:spPr>
      </p:pic>
      <p:pic>
        <p:nvPicPr>
          <p:cNvPr id="17" name="Content Placeholder 4">
            <a:extLst>
              <a:ext uri="{FF2B5EF4-FFF2-40B4-BE49-F238E27FC236}">
                <a16:creationId xmlns:a16="http://schemas.microsoft.com/office/drawing/2014/main" id="{94D66C4B-E8F5-46C5-8AE0-7702C564DAD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08" r="-1"/>
          <a:stretch/>
        </p:blipFill>
        <p:spPr>
          <a:xfrm>
            <a:off x="8998226" y="2117849"/>
            <a:ext cx="2805730" cy="3311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729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C8955-F682-4C0D-BF89-C28B605D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5198" y="294788"/>
            <a:ext cx="10481603" cy="957238"/>
          </a:xfrm>
        </p:spPr>
        <p:txBody>
          <a:bodyPr/>
          <a:lstStyle/>
          <a:p>
            <a:pPr algn="ctr"/>
            <a:r>
              <a:rPr lang="en-IN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STRUCTURE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E4870C-7DEC-4805-B793-7ED0910BC5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887" y="2653891"/>
            <a:ext cx="8412768" cy="403593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71C584-04B3-46F0-94EA-47827FEF6FB9}"/>
              </a:ext>
            </a:extLst>
          </p:cNvPr>
          <p:cNvSpPr txBox="1"/>
          <p:nvPr/>
        </p:nvSpPr>
        <p:spPr>
          <a:xfrm>
            <a:off x="2053882" y="1252026"/>
            <a:ext cx="751418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Dominant 			-	 0</a:t>
            </a:r>
          </a:p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Recessive			- 	 1</a:t>
            </a:r>
          </a:p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Dominant voltage level		 -	1.5v to 2.5v</a:t>
            </a:r>
          </a:p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Recessive voltage level		 -	Above 2.5v</a:t>
            </a:r>
          </a:p>
        </p:txBody>
      </p:sp>
    </p:spTree>
    <p:extLst>
      <p:ext uri="{BB962C8B-B14F-4D97-AF65-F5344CB8AC3E}">
        <p14:creationId xmlns:p14="http://schemas.microsoft.com/office/powerpoint/2010/main" val="2546167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C7713C-3698-4F86-A3D6-493D263053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8" t="22060" r="4247" b="6169"/>
          <a:stretch/>
        </p:blipFill>
        <p:spPr>
          <a:xfrm>
            <a:off x="2093843" y="1155268"/>
            <a:ext cx="7315201" cy="532246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37527E-95AE-4B52-B322-ACB957260D71}"/>
              </a:ext>
            </a:extLst>
          </p:cNvPr>
          <p:cNvSpPr txBox="1"/>
          <p:nvPr/>
        </p:nvSpPr>
        <p:spPr>
          <a:xfrm>
            <a:off x="556591" y="318052"/>
            <a:ext cx="108800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WIRED AND LOGIC</a:t>
            </a:r>
          </a:p>
        </p:txBody>
      </p:sp>
    </p:spTree>
    <p:extLst>
      <p:ext uri="{BB962C8B-B14F-4D97-AF65-F5344CB8AC3E}">
        <p14:creationId xmlns:p14="http://schemas.microsoft.com/office/powerpoint/2010/main" val="485794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DFD09-C507-4079-9102-E6980F1C3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806" y="308854"/>
            <a:ext cx="10354994" cy="619613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with different layers in OSI model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05B2E16-2264-4FC3-A52D-2C2A9EFFAF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806" y="1265827"/>
            <a:ext cx="9854897" cy="5283319"/>
          </a:xfrm>
        </p:spPr>
      </p:pic>
    </p:spTree>
    <p:extLst>
      <p:ext uri="{BB962C8B-B14F-4D97-AF65-F5344CB8AC3E}">
        <p14:creationId xmlns:p14="http://schemas.microsoft.com/office/powerpoint/2010/main" val="1304417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67D1-7B3E-4DE7-BCCC-7F38A55F3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FRAME FORMATS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6E7902-E84B-4A52-8A4E-895CAA83E1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909"/>
          <a:stretch/>
        </p:blipFill>
        <p:spPr>
          <a:xfrm>
            <a:off x="1744436" y="2112011"/>
            <a:ext cx="8175347" cy="1148024"/>
          </a:xfr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3A672455-F129-4DC3-AB0C-55BAA8A2F2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091" r="48879"/>
          <a:stretch/>
        </p:blipFill>
        <p:spPr>
          <a:xfrm>
            <a:off x="1744437" y="3220279"/>
            <a:ext cx="4179286" cy="2544416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9C3CF68D-990B-444E-9A44-A105F82CCF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28"/>
          <a:stretch/>
        </p:blipFill>
        <p:spPr>
          <a:xfrm>
            <a:off x="6096000" y="2112011"/>
            <a:ext cx="3823783" cy="3692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578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C1127-D887-426E-BABC-6261AF40B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3101"/>
          </a:xfrm>
        </p:spPr>
        <p:txBody>
          <a:bodyPr/>
          <a:lstStyle/>
          <a:p>
            <a:pPr algn="ctr"/>
            <a:r>
              <a:rPr lang="en-IN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 OF FRAMES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7AA72-A3B0-4D6D-90F3-1E8F1224C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frame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frame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Remote frame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Overload  frame</a:t>
            </a:r>
          </a:p>
        </p:txBody>
      </p:sp>
    </p:spTree>
    <p:extLst>
      <p:ext uri="{BB962C8B-B14F-4D97-AF65-F5344CB8AC3E}">
        <p14:creationId xmlns:p14="http://schemas.microsoft.com/office/powerpoint/2010/main" val="3858061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D0EFC-D6D1-4D7D-9A09-C202750B4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frame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36BD9F-5390-497E-B172-E1F526C2E7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609"/>
          <a:stretch/>
        </p:blipFill>
        <p:spPr>
          <a:xfrm>
            <a:off x="374375" y="2202117"/>
            <a:ext cx="463826" cy="3020222"/>
          </a:xfrm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576FE50C-CD58-4F0B-9372-03D21C7E43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4" r="66833"/>
          <a:stretch/>
        </p:blipFill>
        <p:spPr>
          <a:xfrm>
            <a:off x="838200" y="2202117"/>
            <a:ext cx="3021495" cy="3020222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2425D286-07D7-4D4A-AC93-A39D1E2A75D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94" r="53614"/>
          <a:stretch/>
        </p:blipFill>
        <p:spPr>
          <a:xfrm>
            <a:off x="3859694" y="2202117"/>
            <a:ext cx="1414671" cy="3020222"/>
          </a:xfrm>
          <a:prstGeom prst="rect">
            <a:avLst/>
          </a:prstGeom>
        </p:spPr>
      </p:pic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F98FD617-EAD8-4793-B2C5-F0E5E42BA2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85" r="33794"/>
          <a:stretch/>
        </p:blipFill>
        <p:spPr>
          <a:xfrm>
            <a:off x="5274364" y="2202117"/>
            <a:ext cx="2093845" cy="3020222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E0EAE229-7ADD-4052-99DF-8EC56D22F5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07" r="23004"/>
          <a:stretch/>
        </p:blipFill>
        <p:spPr>
          <a:xfrm>
            <a:off x="7368209" y="2202117"/>
            <a:ext cx="1139688" cy="3020222"/>
          </a:xfrm>
          <a:prstGeom prst="rect">
            <a:avLst/>
          </a:prstGeom>
        </p:spPr>
      </p:pic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67FD273B-D38D-453C-AEE3-04956338E6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996" r="18739"/>
          <a:stretch/>
        </p:blipFill>
        <p:spPr>
          <a:xfrm>
            <a:off x="8507897" y="2202117"/>
            <a:ext cx="450574" cy="3020222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2131D9F6-4246-4261-9E0D-C71ADDD34F0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1" r="1678"/>
          <a:stretch/>
        </p:blipFill>
        <p:spPr>
          <a:xfrm>
            <a:off x="8958470" y="2202117"/>
            <a:ext cx="1802295" cy="30202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4D7545-E1BC-4E2C-842E-5809B8D8093A}"/>
              </a:ext>
            </a:extLst>
          </p:cNvPr>
          <p:cNvSpPr txBox="1"/>
          <p:nvPr/>
        </p:nvSpPr>
        <p:spPr>
          <a:xfrm>
            <a:off x="993914" y="5060625"/>
            <a:ext cx="773927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RTR	-	 	Remote Transfer Request</a:t>
            </a:r>
          </a:p>
          <a:p>
            <a:r>
              <a:rPr lang="en-IN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 	-		Identifier Extension Bit</a:t>
            </a:r>
          </a:p>
          <a:p>
            <a:r>
              <a:rPr lang="en-IN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DLC 	-		Data Length Code</a:t>
            </a:r>
          </a:p>
          <a:p>
            <a:r>
              <a:rPr lang="en-IN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CRC	- 		Cyclic Redundancy Check</a:t>
            </a:r>
          </a:p>
          <a:p>
            <a:r>
              <a:rPr lang="en-IN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EOF	-		 End Of Frame</a:t>
            </a:r>
          </a:p>
        </p:txBody>
      </p:sp>
    </p:spTree>
    <p:extLst>
      <p:ext uri="{BB962C8B-B14F-4D97-AF65-F5344CB8AC3E}">
        <p14:creationId xmlns:p14="http://schemas.microsoft.com/office/powerpoint/2010/main" val="3561082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E1E19-776B-47F8-93C7-4A2FCB5D8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2.0 B EXTENTED FORMAT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199087-8698-4990-94D8-0EBB27DCA8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517"/>
          <a:stretch/>
        </p:blipFill>
        <p:spPr>
          <a:xfrm>
            <a:off x="801126" y="2226365"/>
            <a:ext cx="351814" cy="3334206"/>
          </a:xfr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155BA0F6-92C3-41DF-BC5B-954FB6A85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2" r="70276"/>
          <a:stretch/>
        </p:blipFill>
        <p:spPr>
          <a:xfrm>
            <a:off x="1152940" y="2226365"/>
            <a:ext cx="2650434" cy="3334206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86C5E382-2E8E-4D78-8CC3-BF05E11C63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24" r="66793"/>
          <a:stretch/>
        </p:blipFill>
        <p:spPr>
          <a:xfrm>
            <a:off x="3803374" y="2226365"/>
            <a:ext cx="351814" cy="3334206"/>
          </a:xfrm>
          <a:prstGeom prst="rect">
            <a:avLst/>
          </a:prstGeom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8CE86E62-F81F-438C-AB4E-BBF0DB3325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208" r="53219"/>
          <a:stretch/>
        </p:blipFill>
        <p:spPr>
          <a:xfrm>
            <a:off x="4155188" y="2226365"/>
            <a:ext cx="1370969" cy="3334206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091F715F-6BF0-40B4-B42F-B251F7DE1C1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81" r="33145"/>
          <a:stretch/>
        </p:blipFill>
        <p:spPr>
          <a:xfrm>
            <a:off x="5526158" y="2226365"/>
            <a:ext cx="2027582" cy="3334206"/>
          </a:xfrm>
          <a:prstGeom prst="rect">
            <a:avLst/>
          </a:prstGeom>
        </p:spPr>
      </p:pic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329C00C5-C522-4DF5-8539-EC0A0C98271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856" r="1130"/>
          <a:stretch/>
        </p:blipFill>
        <p:spPr>
          <a:xfrm>
            <a:off x="7553740" y="2226365"/>
            <a:ext cx="3233530" cy="333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03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1D5B-6581-4EF4-807D-116290ACD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Remote frame 11bit identifier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CB12EC-627F-42EE-8110-63BB384F0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4433"/>
          <a:stretch/>
        </p:blipFill>
        <p:spPr>
          <a:xfrm>
            <a:off x="601024" y="2259944"/>
            <a:ext cx="591672" cy="2921655"/>
          </a:xfr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C8DB91F0-6D63-4837-AC27-76549F138E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7" r="63510"/>
          <a:stretch/>
        </p:blipFill>
        <p:spPr>
          <a:xfrm>
            <a:off x="1192696" y="2259944"/>
            <a:ext cx="3286539" cy="2921655"/>
          </a:xfrm>
          <a:prstGeom prst="rect">
            <a:avLst/>
          </a:prstGeom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E9345010-F516-4103-88B5-4D9F61EB68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90" r="60766"/>
          <a:stretch/>
        </p:blipFill>
        <p:spPr>
          <a:xfrm>
            <a:off x="4479234" y="2259944"/>
            <a:ext cx="291549" cy="2921655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5BEA5104-4703-4213-A0C9-B8BE4C3A9A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33" r="55031"/>
          <a:stretch/>
        </p:blipFill>
        <p:spPr>
          <a:xfrm>
            <a:off x="4770783" y="2259944"/>
            <a:ext cx="609600" cy="2921655"/>
          </a:xfrm>
          <a:prstGeom prst="rect">
            <a:avLst/>
          </a:prstGeom>
        </p:spPr>
      </p:pic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D92D72D1-80A2-4E77-9474-C9DF328CDE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69" r="44806"/>
          <a:stretch/>
        </p:blipFill>
        <p:spPr>
          <a:xfrm>
            <a:off x="5380382" y="2259944"/>
            <a:ext cx="1086679" cy="2921655"/>
          </a:xfrm>
          <a:prstGeom prst="rect">
            <a:avLst/>
          </a:prstGeom>
        </p:spPr>
      </p:pic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6412D848-190F-412B-9F55-E7CABCCC45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94" r="21863"/>
          <a:stretch/>
        </p:blipFill>
        <p:spPr>
          <a:xfrm>
            <a:off x="6467061" y="2259944"/>
            <a:ext cx="2438400" cy="2921655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A9B77FA6-7062-40D6-AF37-F48E129CC2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137"/>
          <a:stretch/>
        </p:blipFill>
        <p:spPr>
          <a:xfrm>
            <a:off x="8905460" y="2259944"/>
            <a:ext cx="2323613" cy="292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90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F158F-3D8B-42AE-8489-A098E1D23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Remote frame 29bit identifier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38E7F1-FA4F-44B7-B8CA-04C6A6FE88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4810"/>
          <a:stretch/>
        </p:blipFill>
        <p:spPr>
          <a:xfrm>
            <a:off x="238415" y="2605962"/>
            <a:ext cx="599786" cy="2919740"/>
          </a:xfr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9F81907F-04AA-4CB9-889B-AF0DF5FB8D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0" r="83027"/>
          <a:stretch/>
        </p:blipFill>
        <p:spPr>
          <a:xfrm>
            <a:off x="838200" y="2605962"/>
            <a:ext cx="1361661" cy="2919740"/>
          </a:xfrm>
          <a:prstGeom prst="rect">
            <a:avLst/>
          </a:prstGeom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6C261DAE-558F-4D6D-8F46-010B218CB4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74" r="76834"/>
          <a:stretch/>
        </p:blipFill>
        <p:spPr>
          <a:xfrm>
            <a:off x="2199861" y="2605962"/>
            <a:ext cx="715617" cy="2919740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F9B683D0-6AFF-40F3-93A4-9AF4E9680A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66" r="65051"/>
          <a:stretch/>
        </p:blipFill>
        <p:spPr>
          <a:xfrm>
            <a:off x="2915479" y="2605962"/>
            <a:ext cx="1361659" cy="2919740"/>
          </a:xfrm>
          <a:prstGeom prst="rect">
            <a:avLst/>
          </a:prstGeom>
        </p:spPr>
      </p:pic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485433C1-5D90-4F93-B4DB-1EF8D47CB33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49" r="56651"/>
          <a:stretch/>
        </p:blipFill>
        <p:spPr>
          <a:xfrm>
            <a:off x="4277138" y="2605962"/>
            <a:ext cx="970723" cy="2919740"/>
          </a:xfrm>
          <a:prstGeom prst="rect">
            <a:avLst/>
          </a:prstGeom>
        </p:spPr>
      </p:pic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7DBD2188-E8B7-4540-98D8-1E8B360C55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49" r="46674"/>
          <a:stretch/>
        </p:blipFill>
        <p:spPr>
          <a:xfrm>
            <a:off x="5247861" y="2605962"/>
            <a:ext cx="1152939" cy="291974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06239C65-9531-4913-B9CF-F0C2B50BE5D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26" r="34403"/>
          <a:stretch/>
        </p:blipFill>
        <p:spPr>
          <a:xfrm>
            <a:off x="6400800" y="2605962"/>
            <a:ext cx="1417983" cy="2919740"/>
          </a:xfrm>
          <a:prstGeom prst="rect">
            <a:avLst/>
          </a:prstGeom>
        </p:spPr>
      </p:pic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C4DFDB63-B0D7-4A34-A6D7-BE1F9441D92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99" r="3813"/>
          <a:stretch/>
        </p:blipFill>
        <p:spPr>
          <a:xfrm>
            <a:off x="7818782" y="2605962"/>
            <a:ext cx="3535017" cy="2919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784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236D4-B0F0-4899-A2F4-A09DAE40F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FRAME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0CC585-12C2-4316-88D9-C817440722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42" r="64117" b="55243"/>
          <a:stretch/>
        </p:blipFill>
        <p:spPr>
          <a:xfrm>
            <a:off x="1248901" y="1690689"/>
            <a:ext cx="2554474" cy="2112686"/>
          </a:xfr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BACEC0B6-3552-4063-A24E-376B7AF0B5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42" r="64118" b="55244"/>
          <a:stretch/>
        </p:blipFill>
        <p:spPr>
          <a:xfrm>
            <a:off x="1248900" y="1690689"/>
            <a:ext cx="2554473" cy="2112686"/>
          </a:xfrm>
          <a:prstGeom prst="rect">
            <a:avLst/>
          </a:prstGeom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B2E9B9EA-5747-44E5-9A74-71DFCD0586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83" r="45195" b="55244"/>
          <a:stretch/>
        </p:blipFill>
        <p:spPr>
          <a:xfrm>
            <a:off x="3803373" y="1690688"/>
            <a:ext cx="2107098" cy="2112687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27ED4BA8-0CE0-4BCF-94A3-71FAF85F48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805" r="16752" b="55244"/>
          <a:stretch/>
        </p:blipFill>
        <p:spPr>
          <a:xfrm>
            <a:off x="5910470" y="1690688"/>
            <a:ext cx="3167269" cy="2112687"/>
          </a:xfrm>
          <a:prstGeom prst="rect">
            <a:avLst/>
          </a:prstGeom>
        </p:spPr>
      </p:pic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3DE52986-244A-4ABC-BD0E-2CFA6BC70F3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42" t="44756" r="64118"/>
          <a:stretch/>
        </p:blipFill>
        <p:spPr>
          <a:xfrm>
            <a:off x="1248900" y="3803375"/>
            <a:ext cx="2554473" cy="2607744"/>
          </a:xfrm>
          <a:prstGeom prst="rect">
            <a:avLst/>
          </a:prstGeom>
        </p:spPr>
      </p:pic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999A1721-87D5-4B7A-B354-5F417AB749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83" t="55244" r="45195"/>
          <a:stretch/>
        </p:blipFill>
        <p:spPr>
          <a:xfrm>
            <a:off x="3803372" y="4298432"/>
            <a:ext cx="2107097" cy="2112687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B8D19F4F-919C-4394-90B8-C8369F01C6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804" t="44757" r="16753"/>
          <a:stretch/>
        </p:blipFill>
        <p:spPr>
          <a:xfrm>
            <a:off x="5910469" y="3803376"/>
            <a:ext cx="3167270" cy="2607744"/>
          </a:xfrm>
          <a:prstGeom prst="rect">
            <a:avLst/>
          </a:prstGeom>
        </p:spPr>
      </p:pic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11BBE88-7992-4EE1-9141-C4D530B36A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6" r="87059"/>
          <a:stretch/>
        </p:blipFill>
        <p:spPr>
          <a:xfrm>
            <a:off x="0" y="1690688"/>
            <a:ext cx="1248898" cy="4720431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A9FD8CF7-AC54-4E78-9040-A3FE747EC6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747"/>
          <a:stretch/>
        </p:blipFill>
        <p:spPr>
          <a:xfrm>
            <a:off x="9356034" y="1690688"/>
            <a:ext cx="1587065" cy="472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922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2CC2E-43C2-4A8D-AE2A-6FB278301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Overload frame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CA300E-E163-4630-AD61-511E14BA0B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71" t="33219" r="64980"/>
          <a:stretch/>
        </p:blipFill>
        <p:spPr>
          <a:xfrm>
            <a:off x="2597426" y="3180522"/>
            <a:ext cx="2080591" cy="2994991"/>
          </a:xfr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C5475867-97BD-4CA5-9F06-C841A9A905F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33219" r="45131"/>
          <a:stretch/>
        </p:blipFill>
        <p:spPr>
          <a:xfrm>
            <a:off x="4678017" y="3180522"/>
            <a:ext cx="2080592" cy="2994991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5A08F4B5-E242-431C-A0B2-82E80F923E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869" t="33219" r="18075"/>
          <a:stretch/>
        </p:blipFill>
        <p:spPr>
          <a:xfrm>
            <a:off x="6758608" y="3180522"/>
            <a:ext cx="2835965" cy="2994991"/>
          </a:xfrm>
          <a:prstGeom prst="rect">
            <a:avLst/>
          </a:prstGeom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ACB2EB04-E02E-410C-ABE0-ADB8EA3EB0B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151" b="70443"/>
          <a:stretch/>
        </p:blipFill>
        <p:spPr>
          <a:xfrm>
            <a:off x="1007166" y="1690689"/>
            <a:ext cx="2080591" cy="1325564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813719A-38E4-4E2A-9D49-EA9DEC91F77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151" b="66780"/>
          <a:stretch/>
        </p:blipFill>
        <p:spPr>
          <a:xfrm>
            <a:off x="9408702" y="1690689"/>
            <a:ext cx="2080593" cy="148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472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94A5F-B9EA-44C4-B2DE-4BF6FB2D6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Interframe space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87493AA-0521-4A1C-93BC-02AF54F62B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3"/>
          <a:stretch/>
        </p:blipFill>
        <p:spPr>
          <a:xfrm>
            <a:off x="1036645" y="2023904"/>
            <a:ext cx="2143877" cy="3285068"/>
          </a:xfr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4D4F3033-0712-41DF-AE9C-918334CA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8" r="37689"/>
          <a:stretch/>
        </p:blipFill>
        <p:spPr>
          <a:xfrm>
            <a:off x="3180521" y="2023904"/>
            <a:ext cx="4161183" cy="3285068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E51539B5-85C9-46D3-9514-851A4F5B45C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11" r="7435"/>
          <a:stretch/>
        </p:blipFill>
        <p:spPr>
          <a:xfrm>
            <a:off x="7341705" y="2023904"/>
            <a:ext cx="3061252" cy="3285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96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8A8F7-3A1A-4F74-8076-3ACB193E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 OF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81BF7-C675-4F62-9182-03FA1C6F5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CRC Error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 Error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 Error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Stuff Error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Bit Error</a:t>
            </a:r>
          </a:p>
          <a:p>
            <a:pPr marL="0" indent="0">
              <a:lnSpc>
                <a:spcPct val="150000"/>
              </a:lnSpc>
              <a:buNone/>
            </a:pPr>
            <a:endParaRPr lang="en-IN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1924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5E0B8-1546-47AA-AE47-E8FC23D03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5794" cy="809222"/>
          </a:xfrm>
        </p:spPr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CRC Error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72FDD9B-9F30-4F71-AA18-633FD0A69086}"/>
              </a:ext>
            </a:extLst>
          </p:cNvPr>
          <p:cNvCxnSpPr/>
          <p:nvPr/>
        </p:nvCxnSpPr>
        <p:spPr>
          <a:xfrm>
            <a:off x="2115403" y="2634018"/>
            <a:ext cx="84752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92D49D5-F7C0-44E5-AAB8-11B851A4E4D4}"/>
              </a:ext>
            </a:extLst>
          </p:cNvPr>
          <p:cNvCxnSpPr/>
          <p:nvPr/>
        </p:nvCxnSpPr>
        <p:spPr>
          <a:xfrm>
            <a:off x="2115403" y="4082955"/>
            <a:ext cx="84752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079AFD08-A710-4E08-B077-BE255FEDA835}"/>
              </a:ext>
            </a:extLst>
          </p:cNvPr>
          <p:cNvSpPr/>
          <p:nvPr/>
        </p:nvSpPr>
        <p:spPr>
          <a:xfrm>
            <a:off x="3295369" y="4679214"/>
            <a:ext cx="1882250" cy="94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0C7919-A7D5-400A-AF88-29CECD110110}"/>
              </a:ext>
            </a:extLst>
          </p:cNvPr>
          <p:cNvSpPr/>
          <p:nvPr/>
        </p:nvSpPr>
        <p:spPr>
          <a:xfrm>
            <a:off x="6769289" y="4599296"/>
            <a:ext cx="2033503" cy="94004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AEBE88-8A94-494F-A78B-4A6D52C1274D}"/>
              </a:ext>
            </a:extLst>
          </p:cNvPr>
          <p:cNvSpPr/>
          <p:nvPr/>
        </p:nvSpPr>
        <p:spPr>
          <a:xfrm>
            <a:off x="6537278" y="1313908"/>
            <a:ext cx="1842438" cy="91067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E2507C-3FE1-4992-9F94-98AB1C6BF009}"/>
              </a:ext>
            </a:extLst>
          </p:cNvPr>
          <p:cNvSpPr txBox="1"/>
          <p:nvPr/>
        </p:nvSpPr>
        <p:spPr>
          <a:xfrm>
            <a:off x="6912586" y="1571794"/>
            <a:ext cx="109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NODE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FE1FB5-202B-4CF4-BBCF-DF5C95C28C23}"/>
              </a:ext>
            </a:extLst>
          </p:cNvPr>
          <p:cNvSpPr txBox="1"/>
          <p:nvPr/>
        </p:nvSpPr>
        <p:spPr>
          <a:xfrm>
            <a:off x="7192370" y="4882624"/>
            <a:ext cx="109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NODE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B95EC3-A5DE-44DF-9462-90C9F4675D1D}"/>
              </a:ext>
            </a:extLst>
          </p:cNvPr>
          <p:cNvSpPr txBox="1"/>
          <p:nvPr/>
        </p:nvSpPr>
        <p:spPr>
          <a:xfrm>
            <a:off x="3572296" y="4992791"/>
            <a:ext cx="109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NODE 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A3D915-AF97-4286-A3D0-97C9BD7AA279}"/>
              </a:ext>
            </a:extLst>
          </p:cNvPr>
          <p:cNvCxnSpPr/>
          <p:nvPr/>
        </p:nvCxnSpPr>
        <p:spPr>
          <a:xfrm>
            <a:off x="4039737" y="2634018"/>
            <a:ext cx="0" cy="2032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902BF8B-217C-4CEF-AF23-C6418A02EB37}"/>
              </a:ext>
            </a:extLst>
          </p:cNvPr>
          <p:cNvCxnSpPr/>
          <p:nvPr/>
        </p:nvCxnSpPr>
        <p:spPr>
          <a:xfrm flipV="1">
            <a:off x="4913195" y="4110160"/>
            <a:ext cx="0" cy="5836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F977E68-5679-4163-93A4-AFB57B9EF1C8}"/>
              </a:ext>
            </a:extLst>
          </p:cNvPr>
          <p:cNvCxnSpPr/>
          <p:nvPr/>
        </p:nvCxnSpPr>
        <p:spPr>
          <a:xfrm flipV="1">
            <a:off x="7192370" y="4082955"/>
            <a:ext cx="0" cy="5163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D01226-B1DF-4122-BB81-B1A01D97429D}"/>
              </a:ext>
            </a:extLst>
          </p:cNvPr>
          <p:cNvCxnSpPr/>
          <p:nvPr/>
        </p:nvCxnSpPr>
        <p:spPr>
          <a:xfrm flipV="1">
            <a:off x="8079475" y="2621526"/>
            <a:ext cx="0" cy="19777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A541DD9-AE91-4158-9E85-C7E413D2C6BF}"/>
              </a:ext>
            </a:extLst>
          </p:cNvPr>
          <p:cNvCxnSpPr>
            <a:cxnSpLocks/>
          </p:cNvCxnSpPr>
          <p:nvPr/>
        </p:nvCxnSpPr>
        <p:spPr>
          <a:xfrm>
            <a:off x="6857999" y="2224585"/>
            <a:ext cx="0" cy="18583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EDFD765-5EF1-4667-968B-5AC6457C8517}"/>
              </a:ext>
            </a:extLst>
          </p:cNvPr>
          <p:cNvCxnSpPr/>
          <p:nvPr/>
        </p:nvCxnSpPr>
        <p:spPr>
          <a:xfrm>
            <a:off x="7472144" y="2224585"/>
            <a:ext cx="0" cy="39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43590ED-6017-4478-B343-8B51D9123B82}"/>
              </a:ext>
            </a:extLst>
          </p:cNvPr>
          <p:cNvSpPr txBox="1"/>
          <p:nvPr/>
        </p:nvSpPr>
        <p:spPr>
          <a:xfrm>
            <a:off x="1678675" y="2167202"/>
            <a:ext cx="1310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002060"/>
                </a:solidFill>
              </a:rPr>
              <a:t>CAN H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2FEB7C-0F93-4DA8-9C93-162ABB94CAF7}"/>
              </a:ext>
            </a:extLst>
          </p:cNvPr>
          <p:cNvSpPr txBox="1"/>
          <p:nvPr/>
        </p:nvSpPr>
        <p:spPr>
          <a:xfrm>
            <a:off x="1831074" y="3536406"/>
            <a:ext cx="1310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002060"/>
                </a:solidFill>
              </a:rPr>
              <a:t>CAN 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5C0E43-F0B4-4037-A922-C1D8F58ACC77}"/>
              </a:ext>
            </a:extLst>
          </p:cNvPr>
          <p:cNvSpPr txBox="1"/>
          <p:nvPr/>
        </p:nvSpPr>
        <p:spPr>
          <a:xfrm>
            <a:off x="3463123" y="3721072"/>
            <a:ext cx="655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2">
                    <a:lumMod val="50000"/>
                  </a:schemeClr>
                </a:solidFill>
              </a:rPr>
              <a:t>CRC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2F4A4E-22E1-4432-9D2B-B017A3BD7BCC}"/>
              </a:ext>
            </a:extLst>
          </p:cNvPr>
          <p:cNvSpPr txBox="1"/>
          <p:nvPr/>
        </p:nvSpPr>
        <p:spPr>
          <a:xfrm>
            <a:off x="6174486" y="2691500"/>
            <a:ext cx="761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2">
                    <a:lumMod val="50000"/>
                  </a:schemeClr>
                </a:solidFill>
              </a:rPr>
              <a:t>CRC error flag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7C3B0F-6895-463D-8673-2FBB44203FFD}"/>
              </a:ext>
            </a:extLst>
          </p:cNvPr>
          <p:cNvSpPr txBox="1"/>
          <p:nvPr/>
        </p:nvSpPr>
        <p:spPr>
          <a:xfrm>
            <a:off x="8192076" y="3167074"/>
            <a:ext cx="761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2">
                    <a:lumMod val="50000"/>
                  </a:schemeClr>
                </a:solidFill>
              </a:rPr>
              <a:t>CRC error flag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CFB030-364B-4F8B-AEC8-365FB8A2E14C}"/>
              </a:ext>
            </a:extLst>
          </p:cNvPr>
          <p:cNvSpPr txBox="1"/>
          <p:nvPr/>
        </p:nvSpPr>
        <p:spPr>
          <a:xfrm>
            <a:off x="7461926" y="2303009"/>
            <a:ext cx="822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2">
                    <a:lumMod val="50000"/>
                  </a:schemeClr>
                </a:solidFill>
              </a:rPr>
              <a:t> ACK 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942B5-F87C-4E7A-9878-2368AC14880B}"/>
              </a:ext>
            </a:extLst>
          </p:cNvPr>
          <p:cNvSpPr txBox="1"/>
          <p:nvPr/>
        </p:nvSpPr>
        <p:spPr>
          <a:xfrm>
            <a:off x="7349319" y="4045167"/>
            <a:ext cx="822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2">
                    <a:lumMod val="50000"/>
                  </a:schemeClr>
                </a:solidFill>
              </a:rPr>
              <a:t> ACK 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4B137E-D877-47E2-BDF5-017E8EF071B4}"/>
              </a:ext>
            </a:extLst>
          </p:cNvPr>
          <p:cNvSpPr txBox="1"/>
          <p:nvPr/>
        </p:nvSpPr>
        <p:spPr>
          <a:xfrm>
            <a:off x="3595634" y="4353635"/>
            <a:ext cx="430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53456D-595E-4797-8575-843E45F67910}"/>
              </a:ext>
            </a:extLst>
          </p:cNvPr>
          <p:cNvSpPr txBox="1"/>
          <p:nvPr/>
        </p:nvSpPr>
        <p:spPr>
          <a:xfrm>
            <a:off x="4401406" y="4324525"/>
            <a:ext cx="354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38381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33" grpId="0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B9DD6-557C-47A5-88A4-8208287E5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263" y="586854"/>
            <a:ext cx="10821537" cy="5590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 Error:</a:t>
            </a:r>
          </a:p>
          <a:p>
            <a:pPr marL="0" indent="0">
              <a:buNone/>
            </a:pPr>
            <a:endParaRPr lang="en-IN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 Error occur when recessive bits are changed as a dominant bit</a:t>
            </a:r>
          </a:p>
          <a:p>
            <a:r>
              <a:rPr lang="en-IN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</a:t>
            </a: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End of frame, ACK delimiter, CRC delimiter , interframe space </a:t>
            </a:r>
          </a:p>
          <a:p>
            <a:pPr marL="0" indent="0">
              <a:buNone/>
            </a:pPr>
            <a:endParaRPr lang="en-IN" sz="22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3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Stuff Error:</a:t>
            </a:r>
          </a:p>
          <a:p>
            <a:pPr marL="0" indent="0">
              <a:buNone/>
            </a:pPr>
            <a:endParaRPr lang="en-IN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Stuffing is a concept in communication Network to avoid the excessive DC component</a:t>
            </a:r>
          </a:p>
          <a:p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Complementary bit added after 5 successive same bit</a:t>
            </a:r>
          </a:p>
        </p:txBody>
      </p:sp>
    </p:spTree>
    <p:extLst>
      <p:ext uri="{BB962C8B-B14F-4D97-AF65-F5344CB8AC3E}">
        <p14:creationId xmlns:p14="http://schemas.microsoft.com/office/powerpoint/2010/main" val="25843093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D63EB-F677-45F2-9588-435BABF2C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Fault confinement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28891-EA32-455D-9D98-70D45ADD0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Error flag (continuous 8 dominant bits)</a:t>
            </a:r>
          </a:p>
          <a:p>
            <a:pPr>
              <a:lnSpc>
                <a:spcPct val="250000"/>
              </a:lnSpc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Passive Error flag</a:t>
            </a:r>
          </a:p>
          <a:p>
            <a:pPr>
              <a:lnSpc>
                <a:spcPct val="250000"/>
              </a:lnSpc>
            </a:pPr>
            <a:r>
              <a:rPr lang="en-IN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 off</a:t>
            </a:r>
          </a:p>
        </p:txBody>
      </p:sp>
    </p:spTree>
    <p:extLst>
      <p:ext uri="{BB962C8B-B14F-4D97-AF65-F5344CB8AC3E}">
        <p14:creationId xmlns:p14="http://schemas.microsoft.com/office/powerpoint/2010/main" val="24780359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6D08CEF-B0C4-490C-9A75-962D82DEFF99}"/>
              </a:ext>
            </a:extLst>
          </p:cNvPr>
          <p:cNvCxnSpPr/>
          <p:nvPr/>
        </p:nvCxnSpPr>
        <p:spPr>
          <a:xfrm>
            <a:off x="2115403" y="2634018"/>
            <a:ext cx="84752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0E2A02-A8DA-4940-B39F-003BBB6E28DB}"/>
              </a:ext>
            </a:extLst>
          </p:cNvPr>
          <p:cNvCxnSpPr/>
          <p:nvPr/>
        </p:nvCxnSpPr>
        <p:spPr>
          <a:xfrm>
            <a:off x="2115403" y="4082955"/>
            <a:ext cx="84752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89B4CA7-B66A-4873-9E1A-2EC801F6B927}"/>
              </a:ext>
            </a:extLst>
          </p:cNvPr>
          <p:cNvSpPr/>
          <p:nvPr/>
        </p:nvSpPr>
        <p:spPr>
          <a:xfrm>
            <a:off x="3295369" y="4679214"/>
            <a:ext cx="1882250" cy="94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4AFE0E-593A-4A1D-AE20-ABE2CFD8F9D7}"/>
              </a:ext>
            </a:extLst>
          </p:cNvPr>
          <p:cNvSpPr/>
          <p:nvPr/>
        </p:nvSpPr>
        <p:spPr>
          <a:xfrm>
            <a:off x="6857999" y="4675515"/>
            <a:ext cx="2033503" cy="94004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7D6A9-9D36-4249-9419-77B40D9A0664}"/>
              </a:ext>
            </a:extLst>
          </p:cNvPr>
          <p:cNvSpPr txBox="1"/>
          <p:nvPr/>
        </p:nvSpPr>
        <p:spPr>
          <a:xfrm>
            <a:off x="7192370" y="4882624"/>
            <a:ext cx="109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NODE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6721CB-8A17-4703-8ABE-49794AE61ED4}"/>
              </a:ext>
            </a:extLst>
          </p:cNvPr>
          <p:cNvSpPr txBox="1"/>
          <p:nvPr/>
        </p:nvSpPr>
        <p:spPr>
          <a:xfrm>
            <a:off x="3572296" y="4992791"/>
            <a:ext cx="109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NODE 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60CEB3-CC39-43B6-AC39-A473398EDF55}"/>
              </a:ext>
            </a:extLst>
          </p:cNvPr>
          <p:cNvCxnSpPr/>
          <p:nvPr/>
        </p:nvCxnSpPr>
        <p:spPr>
          <a:xfrm>
            <a:off x="4039737" y="2634018"/>
            <a:ext cx="0" cy="2032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1BC6D39-5F31-41D3-8391-482187746B72}"/>
              </a:ext>
            </a:extLst>
          </p:cNvPr>
          <p:cNvCxnSpPr/>
          <p:nvPr/>
        </p:nvCxnSpPr>
        <p:spPr>
          <a:xfrm flipV="1">
            <a:off x="4913195" y="4110160"/>
            <a:ext cx="0" cy="5836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1AE4AEB-234B-4D10-A01F-1B6A05B32347}"/>
              </a:ext>
            </a:extLst>
          </p:cNvPr>
          <p:cNvCxnSpPr>
            <a:cxnSpLocks/>
          </p:cNvCxnSpPr>
          <p:nvPr/>
        </p:nvCxnSpPr>
        <p:spPr>
          <a:xfrm flipV="1">
            <a:off x="7192370" y="4082956"/>
            <a:ext cx="0" cy="5836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09144F1-BF35-423E-923A-2FB6414CBBE2}"/>
              </a:ext>
            </a:extLst>
          </p:cNvPr>
          <p:cNvCxnSpPr>
            <a:cxnSpLocks/>
          </p:cNvCxnSpPr>
          <p:nvPr/>
        </p:nvCxnSpPr>
        <p:spPr>
          <a:xfrm flipV="1">
            <a:off x="8079475" y="2621526"/>
            <a:ext cx="0" cy="2072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8A08045-B663-4F84-8BFB-5D37D48EF985}"/>
              </a:ext>
            </a:extLst>
          </p:cNvPr>
          <p:cNvCxnSpPr>
            <a:cxnSpLocks/>
          </p:cNvCxnSpPr>
          <p:nvPr/>
        </p:nvCxnSpPr>
        <p:spPr>
          <a:xfrm>
            <a:off x="6857999" y="2224585"/>
            <a:ext cx="0" cy="18583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8480644-505A-485E-8FCD-B6F2C8398BD2}"/>
              </a:ext>
            </a:extLst>
          </p:cNvPr>
          <p:cNvCxnSpPr/>
          <p:nvPr/>
        </p:nvCxnSpPr>
        <p:spPr>
          <a:xfrm>
            <a:off x="7472144" y="2224585"/>
            <a:ext cx="0" cy="39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5A2CAA3-BA1A-46FA-85D5-783AC569368E}"/>
              </a:ext>
            </a:extLst>
          </p:cNvPr>
          <p:cNvSpPr txBox="1"/>
          <p:nvPr/>
        </p:nvSpPr>
        <p:spPr>
          <a:xfrm>
            <a:off x="1678675" y="2167202"/>
            <a:ext cx="1310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002060"/>
                </a:solidFill>
              </a:rPr>
              <a:t>CAN 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0C2E0D-893E-4AC4-A3BF-3F371830FECE}"/>
              </a:ext>
            </a:extLst>
          </p:cNvPr>
          <p:cNvSpPr txBox="1"/>
          <p:nvPr/>
        </p:nvSpPr>
        <p:spPr>
          <a:xfrm>
            <a:off x="1323835" y="3898289"/>
            <a:ext cx="1310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002060"/>
                </a:solidFill>
              </a:rPr>
              <a:t>CAN 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9A519F6-B3C3-4390-B457-C493C52573F0}"/>
              </a:ext>
            </a:extLst>
          </p:cNvPr>
          <p:cNvSpPr/>
          <p:nvPr/>
        </p:nvSpPr>
        <p:spPr>
          <a:xfrm>
            <a:off x="6455392" y="1286656"/>
            <a:ext cx="2033503" cy="94004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46592F-7C96-4730-9A9F-6048B0D154C1}"/>
              </a:ext>
            </a:extLst>
          </p:cNvPr>
          <p:cNvSpPr txBox="1"/>
          <p:nvPr/>
        </p:nvSpPr>
        <p:spPr>
          <a:xfrm>
            <a:off x="6936481" y="1621954"/>
            <a:ext cx="1091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NODE 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5835C4-A7D0-4A34-B35E-865720973AA7}"/>
              </a:ext>
            </a:extLst>
          </p:cNvPr>
          <p:cNvSpPr txBox="1"/>
          <p:nvPr/>
        </p:nvSpPr>
        <p:spPr>
          <a:xfrm>
            <a:off x="2442950" y="4992791"/>
            <a:ext cx="698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D59732-585A-46E9-8BBB-19FA3B005D3F}"/>
              </a:ext>
            </a:extLst>
          </p:cNvPr>
          <p:cNvSpPr txBox="1"/>
          <p:nvPr/>
        </p:nvSpPr>
        <p:spPr>
          <a:xfrm>
            <a:off x="8606606" y="1572010"/>
            <a:ext cx="698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3DB4C3-6506-4F44-BDE6-D83A62123B2A}"/>
              </a:ext>
            </a:extLst>
          </p:cNvPr>
          <p:cNvSpPr txBox="1"/>
          <p:nvPr/>
        </p:nvSpPr>
        <p:spPr>
          <a:xfrm>
            <a:off x="5639377" y="1605874"/>
            <a:ext cx="698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REC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32DE75-8E73-4560-85A8-37D36D5CC4C2}"/>
              </a:ext>
            </a:extLst>
          </p:cNvPr>
          <p:cNvSpPr txBox="1"/>
          <p:nvPr/>
        </p:nvSpPr>
        <p:spPr>
          <a:xfrm>
            <a:off x="9074908" y="4980687"/>
            <a:ext cx="698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7DB97A-0349-48CB-8966-6500324B6E23}"/>
              </a:ext>
            </a:extLst>
          </p:cNvPr>
          <p:cNvSpPr txBox="1"/>
          <p:nvPr/>
        </p:nvSpPr>
        <p:spPr>
          <a:xfrm>
            <a:off x="6133526" y="4992791"/>
            <a:ext cx="698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REC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863E14-2213-46C6-A1E1-8141017B98CE}"/>
              </a:ext>
            </a:extLst>
          </p:cNvPr>
          <p:cNvSpPr txBox="1"/>
          <p:nvPr/>
        </p:nvSpPr>
        <p:spPr>
          <a:xfrm>
            <a:off x="5162838" y="4992791"/>
            <a:ext cx="698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TEC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ADA0AB-5B28-431A-8FF1-878347BF8919}"/>
              </a:ext>
            </a:extLst>
          </p:cNvPr>
          <p:cNvSpPr/>
          <p:nvPr/>
        </p:nvSpPr>
        <p:spPr>
          <a:xfrm>
            <a:off x="2197298" y="2969862"/>
            <a:ext cx="518600" cy="8360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CDD32B7-D8D8-4645-8E9E-F1F8EE524F0E}"/>
              </a:ext>
            </a:extLst>
          </p:cNvPr>
          <p:cNvSpPr/>
          <p:nvPr/>
        </p:nvSpPr>
        <p:spPr>
          <a:xfrm>
            <a:off x="10101626" y="3010953"/>
            <a:ext cx="518600" cy="8360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CF78EA7-DD77-4978-B1A8-F9009026102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2456598" y="2640323"/>
            <a:ext cx="0" cy="3295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C33493-1E9C-479C-8B3C-9FFA144207FC}"/>
              </a:ext>
            </a:extLst>
          </p:cNvPr>
          <p:cNvCxnSpPr>
            <a:cxnSpLocks/>
          </p:cNvCxnSpPr>
          <p:nvPr/>
        </p:nvCxnSpPr>
        <p:spPr>
          <a:xfrm>
            <a:off x="2450058" y="3791877"/>
            <a:ext cx="6540" cy="2910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D6FAD90-0304-4F67-88B6-8BFA2ECDA2F9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10360926" y="3847047"/>
            <a:ext cx="9894" cy="2448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C7F97D0-D901-4807-8669-1EFF30DB96BB}"/>
              </a:ext>
            </a:extLst>
          </p:cNvPr>
          <p:cNvCxnSpPr>
            <a:stCxn id="39" idx="0"/>
            <a:endCxn id="39" idx="0"/>
          </p:cNvCxnSpPr>
          <p:nvPr/>
        </p:nvCxnSpPr>
        <p:spPr>
          <a:xfrm>
            <a:off x="10360926" y="301095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F143E38-DEC1-42BE-BA40-C4C8EBE61575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10360926" y="2634018"/>
            <a:ext cx="0" cy="3769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4EAD31B-DCBC-4E7B-9BE1-BA0420101D0B}"/>
              </a:ext>
            </a:extLst>
          </p:cNvPr>
          <p:cNvSpPr txBox="1"/>
          <p:nvPr/>
        </p:nvSpPr>
        <p:spPr>
          <a:xfrm>
            <a:off x="2363056" y="3085301"/>
            <a:ext cx="200024" cy="660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90EE6B3-E62F-4ECF-8E00-AAD9626ED54D}"/>
              </a:ext>
            </a:extLst>
          </p:cNvPr>
          <p:cNvSpPr txBox="1"/>
          <p:nvPr/>
        </p:nvSpPr>
        <p:spPr>
          <a:xfrm>
            <a:off x="10270808" y="3122177"/>
            <a:ext cx="200024" cy="660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Rt</a:t>
            </a:r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29B0CA45-77C7-4AE0-8805-0AFB3D0B602E}"/>
              </a:ext>
            </a:extLst>
          </p:cNvPr>
          <p:cNvSpPr/>
          <p:nvPr/>
        </p:nvSpPr>
        <p:spPr>
          <a:xfrm rot="10800000">
            <a:off x="4236494" y="3452382"/>
            <a:ext cx="205848" cy="12142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DDE8CE-DD77-4048-9676-8E946D3F1201}"/>
              </a:ext>
            </a:extLst>
          </p:cNvPr>
          <p:cNvSpPr txBox="1"/>
          <p:nvPr/>
        </p:nvSpPr>
        <p:spPr>
          <a:xfrm>
            <a:off x="5738886" y="2044462"/>
            <a:ext cx="80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</a:t>
            </a:r>
          </a:p>
        </p:txBody>
      </p:sp>
      <p:sp>
        <p:nvSpPr>
          <p:cNvPr id="66" name="Arrow: Down 65">
            <a:extLst>
              <a:ext uri="{FF2B5EF4-FFF2-40B4-BE49-F238E27FC236}">
                <a16:creationId xmlns:a16="http://schemas.microsoft.com/office/drawing/2014/main" id="{1374DB51-1B70-4096-BAFF-1B9515075FC0}"/>
              </a:ext>
            </a:extLst>
          </p:cNvPr>
          <p:cNvSpPr/>
          <p:nvPr/>
        </p:nvSpPr>
        <p:spPr>
          <a:xfrm>
            <a:off x="6464636" y="2238112"/>
            <a:ext cx="205848" cy="12142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ADA5913-FCE0-4AAB-9D70-48058A686025}"/>
              </a:ext>
            </a:extLst>
          </p:cNvPr>
          <p:cNvSpPr txBox="1"/>
          <p:nvPr/>
        </p:nvSpPr>
        <p:spPr>
          <a:xfrm>
            <a:off x="6893836" y="2306230"/>
            <a:ext cx="535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 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A91130-B97A-4AF6-8979-B4689C460EBB}"/>
              </a:ext>
            </a:extLst>
          </p:cNvPr>
          <p:cNvSpPr txBox="1"/>
          <p:nvPr/>
        </p:nvSpPr>
        <p:spPr>
          <a:xfrm>
            <a:off x="7617146" y="2634721"/>
            <a:ext cx="515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 bit error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32FA3A0-7DBC-43C2-95DC-41F841742D78}"/>
              </a:ext>
            </a:extLst>
          </p:cNvPr>
          <p:cNvSpPr txBox="1"/>
          <p:nvPr/>
        </p:nvSpPr>
        <p:spPr>
          <a:xfrm>
            <a:off x="8117570" y="4249093"/>
            <a:ext cx="1984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000 000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C6A7DE-E9E5-466E-A1C6-F489F3875656}"/>
              </a:ext>
            </a:extLst>
          </p:cNvPr>
          <p:cNvSpPr txBox="1"/>
          <p:nvPr/>
        </p:nvSpPr>
        <p:spPr>
          <a:xfrm>
            <a:off x="8719204" y="2256112"/>
            <a:ext cx="994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000 000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0E08CEB-F055-4642-B612-88ED59F81B8A}"/>
              </a:ext>
            </a:extLst>
          </p:cNvPr>
          <p:cNvSpPr txBox="1"/>
          <p:nvPr/>
        </p:nvSpPr>
        <p:spPr>
          <a:xfrm>
            <a:off x="8488895" y="854118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3C8F00-2A08-45BE-96CA-5B83F1297C25}"/>
              </a:ext>
            </a:extLst>
          </p:cNvPr>
          <p:cNvSpPr txBox="1"/>
          <p:nvPr/>
        </p:nvSpPr>
        <p:spPr>
          <a:xfrm>
            <a:off x="2511406" y="5398445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20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51DF0-604A-4075-B8C8-0AE5E5687DDB}"/>
              </a:ext>
            </a:extLst>
          </p:cNvPr>
          <p:cNvSpPr txBox="1"/>
          <p:nvPr/>
        </p:nvSpPr>
        <p:spPr>
          <a:xfrm>
            <a:off x="5818751" y="824950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50923C-2615-44C2-8937-8FFE22516A9B}"/>
              </a:ext>
            </a:extLst>
          </p:cNvPr>
          <p:cNvSpPr txBox="1"/>
          <p:nvPr/>
        </p:nvSpPr>
        <p:spPr>
          <a:xfrm>
            <a:off x="9215949" y="5323061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21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7674731-FFC4-47A9-8134-661C315D33ED}"/>
              </a:ext>
            </a:extLst>
          </p:cNvPr>
          <p:cNvSpPr txBox="1"/>
          <p:nvPr/>
        </p:nvSpPr>
        <p:spPr>
          <a:xfrm>
            <a:off x="6209104" y="5421598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A2BA0B-3E6F-4E20-BF4E-A4F307408232}"/>
              </a:ext>
            </a:extLst>
          </p:cNvPr>
          <p:cNvSpPr txBox="1"/>
          <p:nvPr/>
        </p:nvSpPr>
        <p:spPr>
          <a:xfrm>
            <a:off x="5331125" y="5306368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8F0031A-5A51-45A8-B073-FC5F37ACF6E0}"/>
              </a:ext>
            </a:extLst>
          </p:cNvPr>
          <p:cNvSpPr txBox="1"/>
          <p:nvPr/>
        </p:nvSpPr>
        <p:spPr>
          <a:xfrm>
            <a:off x="4840603" y="1975206"/>
            <a:ext cx="8222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1+8=9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6B99EAA-BA61-4AEF-9DCD-B9E9994486FE}"/>
              </a:ext>
            </a:extLst>
          </p:cNvPr>
          <p:cNvSpPr txBox="1"/>
          <p:nvPr/>
        </p:nvSpPr>
        <p:spPr>
          <a:xfrm>
            <a:off x="9702553" y="2247657"/>
            <a:ext cx="1266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Error echo</a:t>
            </a:r>
          </a:p>
        </p:txBody>
      </p:sp>
      <p:sp>
        <p:nvSpPr>
          <p:cNvPr id="82" name="Arrow: Down 81">
            <a:extLst>
              <a:ext uri="{FF2B5EF4-FFF2-40B4-BE49-F238E27FC236}">
                <a16:creationId xmlns:a16="http://schemas.microsoft.com/office/drawing/2014/main" id="{7D66B4D3-F06C-4C1D-9CAC-2C1AFC305A49}"/>
              </a:ext>
            </a:extLst>
          </p:cNvPr>
          <p:cNvSpPr/>
          <p:nvPr/>
        </p:nvSpPr>
        <p:spPr>
          <a:xfrm rot="10800000">
            <a:off x="7309150" y="3414970"/>
            <a:ext cx="205848" cy="12142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7F829CA-6717-4969-A8DD-B6535DF2A330}"/>
              </a:ext>
            </a:extLst>
          </p:cNvPr>
          <p:cNvSpPr txBox="1"/>
          <p:nvPr/>
        </p:nvSpPr>
        <p:spPr>
          <a:xfrm>
            <a:off x="9256806" y="5790930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20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E1AA854-E4CA-4F05-A537-AD1A84A265F3}"/>
              </a:ext>
            </a:extLst>
          </p:cNvPr>
          <p:cNvSpPr txBox="1"/>
          <p:nvPr/>
        </p:nvSpPr>
        <p:spPr>
          <a:xfrm>
            <a:off x="2503323" y="5910018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5567F70-6C68-4039-93E0-1D71C15B8427}"/>
              </a:ext>
            </a:extLst>
          </p:cNvPr>
          <p:cNvSpPr txBox="1"/>
          <p:nvPr/>
        </p:nvSpPr>
        <p:spPr>
          <a:xfrm>
            <a:off x="6316778" y="801234"/>
            <a:ext cx="648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CABCDAE-DE2D-4E69-B51E-46896592F48A}"/>
              </a:ext>
            </a:extLst>
          </p:cNvPr>
          <p:cNvSpPr txBox="1"/>
          <p:nvPr/>
        </p:nvSpPr>
        <p:spPr>
          <a:xfrm>
            <a:off x="6395303" y="5851172"/>
            <a:ext cx="20935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If REC or TEC &lt;=128 </a:t>
            </a:r>
          </a:p>
          <a:p>
            <a:r>
              <a:rPr lang="en-IN" dirty="0"/>
              <a:t>It becomes a passive error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A2B4FF0-E8B4-4E58-A9E1-856D36A91941}"/>
              </a:ext>
            </a:extLst>
          </p:cNvPr>
          <p:cNvSpPr txBox="1"/>
          <p:nvPr/>
        </p:nvSpPr>
        <p:spPr>
          <a:xfrm>
            <a:off x="9674840" y="5975596"/>
            <a:ext cx="23166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If REC or TEC &lt;=256</a:t>
            </a:r>
          </a:p>
          <a:p>
            <a:r>
              <a:rPr lang="en-IN" dirty="0"/>
              <a:t>It goes to bus off state</a:t>
            </a:r>
          </a:p>
        </p:txBody>
      </p:sp>
    </p:spTree>
    <p:extLst>
      <p:ext uri="{BB962C8B-B14F-4D97-AF65-F5344CB8AC3E}">
        <p14:creationId xmlns:p14="http://schemas.microsoft.com/office/powerpoint/2010/main" val="31064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65" grpId="0"/>
      <p:bldP spid="67" grpId="0"/>
      <p:bldP spid="68" grpId="0"/>
      <p:bldP spid="69" grpId="0"/>
      <p:bldP spid="70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2" grpId="0" animBg="1"/>
      <p:bldP spid="83" grpId="0"/>
      <p:bldP spid="84" grpId="0"/>
      <p:bldP spid="85" grpId="0"/>
      <p:bldP spid="86" grpId="0"/>
      <p:bldP spid="8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03EA80-B0A4-447F-BFB9-61FE009141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640" y="1459196"/>
            <a:ext cx="9994282" cy="3939607"/>
          </a:xfrm>
        </p:spPr>
      </p:pic>
    </p:spTree>
    <p:extLst>
      <p:ext uri="{BB962C8B-B14F-4D97-AF65-F5344CB8AC3E}">
        <p14:creationId xmlns:p14="http://schemas.microsoft.com/office/powerpoint/2010/main" val="3463002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2FB4A-CDCD-4672-9438-DE1C5429C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351058"/>
            <a:ext cx="10337800" cy="941161"/>
          </a:xfrm>
        </p:spPr>
        <p:txBody>
          <a:bodyPr/>
          <a:lstStyle/>
          <a:p>
            <a:pPr algn="ctr"/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 master  arbitration Data frame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DD68887-1C36-4364-AFE7-395FC1BF7F4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4684"/>
          <a:stretch/>
        </p:blipFill>
        <p:spPr>
          <a:xfrm>
            <a:off x="1527310" y="1484033"/>
            <a:ext cx="533719" cy="51367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9CC9AA-0AB0-4EB3-859C-4CC2E30ECCB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5" r="80325"/>
          <a:stretch/>
        </p:blipFill>
        <p:spPr>
          <a:xfrm>
            <a:off x="2061028" y="1484033"/>
            <a:ext cx="1441827" cy="51367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1E165-E0D7-494D-A166-7AAE008E99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76" r="76121"/>
          <a:stretch/>
        </p:blipFill>
        <p:spPr>
          <a:xfrm>
            <a:off x="3502855" y="1484033"/>
            <a:ext cx="422032" cy="513675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530C4A3-A521-4A50-8A86-A8BFA8CC18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79" r="70096"/>
          <a:stretch/>
        </p:blipFill>
        <p:spPr>
          <a:xfrm>
            <a:off x="3924886" y="1484033"/>
            <a:ext cx="604911" cy="513675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F63C7A5-3041-46B3-8634-DC70E47040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03" r="9533"/>
          <a:stretch/>
        </p:blipFill>
        <p:spPr>
          <a:xfrm>
            <a:off x="4529796" y="1484033"/>
            <a:ext cx="6080899" cy="513675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5580DAB-F777-4258-8E46-A9E6EF22BD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30" r="2132" b="67819"/>
          <a:stretch/>
        </p:blipFill>
        <p:spPr>
          <a:xfrm>
            <a:off x="10610697" y="3429000"/>
            <a:ext cx="817098" cy="165306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55DDE9F-98C0-4B2D-A629-CD043420E30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467" b="67819"/>
          <a:stretch/>
        </p:blipFill>
        <p:spPr>
          <a:xfrm>
            <a:off x="10610696" y="1484033"/>
            <a:ext cx="957189" cy="165306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6B570A-6B23-4F30-86C6-46E2B6F4FBF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467" t="67818"/>
          <a:stretch/>
        </p:blipFill>
        <p:spPr>
          <a:xfrm>
            <a:off x="10610696" y="4967723"/>
            <a:ext cx="957190" cy="165306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4D09817-BFE4-49DE-B4DD-DDDB74CCC9E0}"/>
              </a:ext>
            </a:extLst>
          </p:cNvPr>
          <p:cNvSpPr txBox="1"/>
          <p:nvPr/>
        </p:nvSpPr>
        <p:spPr>
          <a:xfrm>
            <a:off x="168812" y="2166425"/>
            <a:ext cx="1412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1 (11bit)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A046D0-0309-4841-9C16-281D42034C54}"/>
              </a:ext>
            </a:extLst>
          </p:cNvPr>
          <p:cNvSpPr txBox="1"/>
          <p:nvPr/>
        </p:nvSpPr>
        <p:spPr>
          <a:xfrm>
            <a:off x="188949" y="3241915"/>
            <a:ext cx="1412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2 (11bit)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2A201D-4B3B-444E-989E-272A26D4E5B3}"/>
              </a:ext>
            </a:extLst>
          </p:cNvPr>
          <p:cNvSpPr txBox="1"/>
          <p:nvPr/>
        </p:nvSpPr>
        <p:spPr>
          <a:xfrm>
            <a:off x="234944" y="4317406"/>
            <a:ext cx="1412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3 (29 bit)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C27B43-C33F-4FE5-A18B-FB0B9F4A3CE9}"/>
              </a:ext>
            </a:extLst>
          </p:cNvPr>
          <p:cNvSpPr txBox="1"/>
          <p:nvPr/>
        </p:nvSpPr>
        <p:spPr>
          <a:xfrm>
            <a:off x="218015" y="5356334"/>
            <a:ext cx="1412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4 (29bit)</a:t>
            </a:r>
          </a:p>
        </p:txBody>
      </p:sp>
    </p:spTree>
    <p:extLst>
      <p:ext uri="{BB962C8B-B14F-4D97-AF65-F5344CB8AC3E}">
        <p14:creationId xmlns:p14="http://schemas.microsoft.com/office/powerpoint/2010/main" val="3383950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2260</TotalTime>
  <Words>453</Words>
  <Application>Microsoft Office PowerPoint</Application>
  <PresentationFormat>Widescreen</PresentationFormat>
  <Paragraphs>112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INTRODUCTION</vt:lpstr>
      <vt:lpstr>HISTORY</vt:lpstr>
      <vt:lpstr>Before and After CAN</vt:lpstr>
      <vt:lpstr>CAN STRUCTURE </vt:lpstr>
      <vt:lpstr>PowerPoint Presentation</vt:lpstr>
      <vt:lpstr>CAN with different layers in OSI model</vt:lpstr>
      <vt:lpstr>CAN FRAME FORMATS</vt:lpstr>
      <vt:lpstr>TYPES OF FRAMES</vt:lpstr>
      <vt:lpstr>Data frame</vt:lpstr>
      <vt:lpstr>CAN 2.0 B EXTENTED FORMAT</vt:lpstr>
      <vt:lpstr>Remote frame 11bit identifier</vt:lpstr>
      <vt:lpstr>Remote frame 29bit identifier</vt:lpstr>
      <vt:lpstr>ERROR FRAME</vt:lpstr>
      <vt:lpstr>Overload frame</vt:lpstr>
      <vt:lpstr>Interframe space</vt:lpstr>
      <vt:lpstr>TYPES OF ERROR</vt:lpstr>
      <vt:lpstr>CRC Error</vt:lpstr>
      <vt:lpstr>PowerPoint Presentation</vt:lpstr>
      <vt:lpstr>Fault confinement</vt:lpstr>
      <vt:lpstr>PowerPoint Presentation</vt:lpstr>
      <vt:lpstr>PowerPoint Presentation</vt:lpstr>
      <vt:lpstr>Multi master  arbitration Data frame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Aravinth Kalai</dc:creator>
  <cp:lastModifiedBy>Aravinth Kalai</cp:lastModifiedBy>
  <cp:revision>79</cp:revision>
  <dcterms:created xsi:type="dcterms:W3CDTF">2019-10-22T07:30:28Z</dcterms:created>
  <dcterms:modified xsi:type="dcterms:W3CDTF">2020-09-30T03:39:22Z</dcterms:modified>
</cp:coreProperties>
</file>