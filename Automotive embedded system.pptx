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462" r:id="rId26"/>
    <p:sldId id="463" r:id="rId27"/>
    <p:sldId id="464" r:id="rId28"/>
    <p:sldId id="465" r:id="rId29"/>
    <p:sldId id="466" r:id="rId30"/>
    <p:sldId id="467" r:id="rId31"/>
    <p:sldId id="468" r:id="rId32"/>
    <p:sldId id="46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  <p:sldId id="325" r:id="rId79"/>
    <p:sldId id="326" r:id="rId80"/>
    <p:sldId id="327" r:id="rId81"/>
    <p:sldId id="328" r:id="rId82"/>
    <p:sldId id="329" r:id="rId83"/>
    <p:sldId id="330" r:id="rId84"/>
    <p:sldId id="331" r:id="rId85"/>
    <p:sldId id="332" r:id="rId86"/>
    <p:sldId id="333" r:id="rId87"/>
    <p:sldId id="334" r:id="rId88"/>
    <p:sldId id="335" r:id="rId89"/>
    <p:sldId id="336" r:id="rId90"/>
    <p:sldId id="337" r:id="rId91"/>
    <p:sldId id="338" r:id="rId92"/>
    <p:sldId id="339" r:id="rId93"/>
    <p:sldId id="340" r:id="rId94"/>
    <p:sldId id="341" r:id="rId95"/>
    <p:sldId id="342" r:id="rId96"/>
    <p:sldId id="343" r:id="rId97"/>
    <p:sldId id="344" r:id="rId98"/>
    <p:sldId id="345" r:id="rId99"/>
    <p:sldId id="346" r:id="rId100"/>
    <p:sldId id="347" r:id="rId101"/>
    <p:sldId id="348" r:id="rId102"/>
    <p:sldId id="349" r:id="rId103"/>
    <p:sldId id="350" r:id="rId104"/>
    <p:sldId id="351" r:id="rId105"/>
    <p:sldId id="352" r:id="rId106"/>
    <p:sldId id="353" r:id="rId107"/>
    <p:sldId id="354" r:id="rId108"/>
    <p:sldId id="355" r:id="rId109"/>
    <p:sldId id="356" r:id="rId110"/>
    <p:sldId id="357" r:id="rId111"/>
    <p:sldId id="358" r:id="rId112"/>
    <p:sldId id="359" r:id="rId113"/>
    <p:sldId id="360" r:id="rId114"/>
    <p:sldId id="361" r:id="rId115"/>
    <p:sldId id="362" r:id="rId116"/>
    <p:sldId id="363" r:id="rId117"/>
    <p:sldId id="364" r:id="rId118"/>
    <p:sldId id="365" r:id="rId119"/>
    <p:sldId id="366" r:id="rId120"/>
    <p:sldId id="367" r:id="rId121"/>
    <p:sldId id="368" r:id="rId122"/>
    <p:sldId id="369" r:id="rId123"/>
    <p:sldId id="370" r:id="rId124"/>
    <p:sldId id="371" r:id="rId125"/>
    <p:sldId id="372" r:id="rId126"/>
    <p:sldId id="373" r:id="rId127"/>
    <p:sldId id="374" r:id="rId128"/>
    <p:sldId id="375" r:id="rId129"/>
    <p:sldId id="376" r:id="rId130"/>
    <p:sldId id="377" r:id="rId131"/>
    <p:sldId id="378" r:id="rId132"/>
    <p:sldId id="379" r:id="rId133"/>
    <p:sldId id="380" r:id="rId134"/>
    <p:sldId id="381" r:id="rId135"/>
    <p:sldId id="382" r:id="rId136"/>
    <p:sldId id="383" r:id="rId137"/>
    <p:sldId id="384" r:id="rId138"/>
    <p:sldId id="385" r:id="rId139"/>
    <p:sldId id="386" r:id="rId140"/>
    <p:sldId id="387" r:id="rId141"/>
    <p:sldId id="388" r:id="rId142"/>
    <p:sldId id="389" r:id="rId143"/>
    <p:sldId id="390" r:id="rId144"/>
    <p:sldId id="391" r:id="rId145"/>
    <p:sldId id="392" r:id="rId146"/>
    <p:sldId id="393" r:id="rId147"/>
    <p:sldId id="394" r:id="rId148"/>
    <p:sldId id="395" r:id="rId149"/>
    <p:sldId id="396" r:id="rId150"/>
    <p:sldId id="397" r:id="rId151"/>
    <p:sldId id="398" r:id="rId152"/>
    <p:sldId id="399" r:id="rId153"/>
    <p:sldId id="400" r:id="rId154"/>
    <p:sldId id="401" r:id="rId155"/>
    <p:sldId id="402" r:id="rId156"/>
    <p:sldId id="403" r:id="rId157"/>
    <p:sldId id="404" r:id="rId158"/>
    <p:sldId id="405" r:id="rId159"/>
    <p:sldId id="406" r:id="rId160"/>
    <p:sldId id="407" r:id="rId161"/>
    <p:sldId id="408" r:id="rId162"/>
    <p:sldId id="409" r:id="rId163"/>
    <p:sldId id="410" r:id="rId164"/>
    <p:sldId id="411" r:id="rId165"/>
    <p:sldId id="412" r:id="rId166"/>
    <p:sldId id="413" r:id="rId167"/>
    <p:sldId id="414" r:id="rId168"/>
    <p:sldId id="415" r:id="rId169"/>
    <p:sldId id="416" r:id="rId170"/>
    <p:sldId id="417" r:id="rId171"/>
    <p:sldId id="418" r:id="rId172"/>
    <p:sldId id="419" r:id="rId173"/>
    <p:sldId id="420" r:id="rId174"/>
    <p:sldId id="421" r:id="rId175"/>
    <p:sldId id="422" r:id="rId176"/>
    <p:sldId id="423" r:id="rId177"/>
    <p:sldId id="424" r:id="rId178"/>
    <p:sldId id="425" r:id="rId179"/>
    <p:sldId id="426" r:id="rId180"/>
    <p:sldId id="427" r:id="rId181"/>
    <p:sldId id="428" r:id="rId182"/>
    <p:sldId id="429" r:id="rId183"/>
    <p:sldId id="430" r:id="rId184"/>
    <p:sldId id="431" r:id="rId185"/>
    <p:sldId id="432" r:id="rId186"/>
    <p:sldId id="433" r:id="rId187"/>
    <p:sldId id="434" r:id="rId188"/>
    <p:sldId id="435" r:id="rId189"/>
    <p:sldId id="436" r:id="rId190"/>
    <p:sldId id="437" r:id="rId191"/>
    <p:sldId id="438" r:id="rId192"/>
    <p:sldId id="439" r:id="rId193"/>
    <p:sldId id="440" r:id="rId194"/>
    <p:sldId id="441" r:id="rId195"/>
    <p:sldId id="442" r:id="rId196"/>
    <p:sldId id="443" r:id="rId197"/>
    <p:sldId id="444" r:id="rId198"/>
    <p:sldId id="445" r:id="rId199"/>
    <p:sldId id="446" r:id="rId200"/>
    <p:sldId id="447" r:id="rId201"/>
    <p:sldId id="448" r:id="rId202"/>
    <p:sldId id="449" r:id="rId203"/>
    <p:sldId id="450" r:id="rId204"/>
    <p:sldId id="451" r:id="rId205"/>
    <p:sldId id="452" r:id="rId206"/>
    <p:sldId id="453" r:id="rId207"/>
    <p:sldId id="454" r:id="rId208"/>
    <p:sldId id="455" r:id="rId209"/>
    <p:sldId id="456" r:id="rId210"/>
    <p:sldId id="457" r:id="rId211"/>
    <p:sldId id="458" r:id="rId212"/>
    <p:sldId id="459" r:id="rId213"/>
    <p:sldId id="460" r:id="rId214"/>
    <p:sldId id="461" r:id="rId2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7" roundtripDataSignature="AMtx7mhDy26xgIlG+/V2r4iqFcZpzaCi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DE30F34-3500-48CC-B1A7-52E360DDCD2A}">
  <a:tblStyle styleId="{8DE30F34-3500-48CC-B1A7-52E360DDCD2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BF1E8"/>
          </a:solidFill>
        </a:fill>
      </a:tcStyle>
    </a:wholeTbl>
    <a:band1H>
      <a:tcTxStyle/>
      <a:tcStyle>
        <a:tcBdr/>
        <a:fill>
          <a:solidFill>
            <a:srgbClr val="D4E2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4E2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6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48E19C2-BC45-440E-A4E8-4A3046B8FA7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rgbClr val="E8EBF5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8EBF5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customschemas.google.com/relationships/presentationmetadata" Target="metadata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presProps" Target="presProps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219" Type="http://schemas.openxmlformats.org/officeDocument/2006/relationships/viewProps" Target="viewProps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tableStyles" Target="tableStyle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>
          <a:extLst>
            <a:ext uri="{FF2B5EF4-FFF2-40B4-BE49-F238E27FC236}">
              <a16:creationId xmlns:a16="http://schemas.microsoft.com/office/drawing/2014/main" id="{2CE7EA96-0ED6-5E46-1ADB-ACAA668E5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:notes">
            <a:extLst>
              <a:ext uri="{FF2B5EF4-FFF2-40B4-BE49-F238E27FC236}">
                <a16:creationId xmlns:a16="http://schemas.microsoft.com/office/drawing/2014/main" id="{7685EFCD-7154-4877-3369-ECD515ADC0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4:notes">
            <a:extLst>
              <a:ext uri="{FF2B5EF4-FFF2-40B4-BE49-F238E27FC236}">
                <a16:creationId xmlns:a16="http://schemas.microsoft.com/office/drawing/2014/main" id="{FA550094-13A2-A52C-DD66-5222C3044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18128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>
          <a:extLst>
            <a:ext uri="{FF2B5EF4-FFF2-40B4-BE49-F238E27FC236}">
              <a16:creationId xmlns:a16="http://schemas.microsoft.com/office/drawing/2014/main" id="{482C4564-3ABA-CBCF-2634-3DBD26080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:notes">
            <a:extLst>
              <a:ext uri="{FF2B5EF4-FFF2-40B4-BE49-F238E27FC236}">
                <a16:creationId xmlns:a16="http://schemas.microsoft.com/office/drawing/2014/main" id="{8AE5C67E-7095-E8B0-41E4-447819DD94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4:notes">
            <a:extLst>
              <a:ext uri="{FF2B5EF4-FFF2-40B4-BE49-F238E27FC236}">
                <a16:creationId xmlns:a16="http://schemas.microsoft.com/office/drawing/2014/main" id="{B799EC4F-C5AC-5686-D721-90949CFF19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323182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>
          <a:extLst>
            <a:ext uri="{FF2B5EF4-FFF2-40B4-BE49-F238E27FC236}">
              <a16:creationId xmlns:a16="http://schemas.microsoft.com/office/drawing/2014/main" id="{75E8FE8A-EA35-0D13-A5EA-C82967BAC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:notes">
            <a:extLst>
              <a:ext uri="{FF2B5EF4-FFF2-40B4-BE49-F238E27FC236}">
                <a16:creationId xmlns:a16="http://schemas.microsoft.com/office/drawing/2014/main" id="{65C44853-ACF5-F3A8-9F9E-21F799A4C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4:notes">
            <a:extLst>
              <a:ext uri="{FF2B5EF4-FFF2-40B4-BE49-F238E27FC236}">
                <a16:creationId xmlns:a16="http://schemas.microsoft.com/office/drawing/2014/main" id="{99C08A36-6C00-993F-19BB-7B5FFE2FE4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73468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>
          <a:extLst>
            <a:ext uri="{FF2B5EF4-FFF2-40B4-BE49-F238E27FC236}">
              <a16:creationId xmlns:a16="http://schemas.microsoft.com/office/drawing/2014/main" id="{4EF8FF21-2671-04B6-CD1F-C7AA91F2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:notes">
            <a:extLst>
              <a:ext uri="{FF2B5EF4-FFF2-40B4-BE49-F238E27FC236}">
                <a16:creationId xmlns:a16="http://schemas.microsoft.com/office/drawing/2014/main" id="{24076874-4C85-7743-A228-44D3879DD2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4:notes">
            <a:extLst>
              <a:ext uri="{FF2B5EF4-FFF2-40B4-BE49-F238E27FC236}">
                <a16:creationId xmlns:a16="http://schemas.microsoft.com/office/drawing/2014/main" id="{25C0D536-1EA6-90F3-059E-AFEE7AC282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43562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>
          <a:extLst>
            <a:ext uri="{FF2B5EF4-FFF2-40B4-BE49-F238E27FC236}">
              <a16:creationId xmlns:a16="http://schemas.microsoft.com/office/drawing/2014/main" id="{2DF7CCAB-9B27-6AD3-4342-CF549F5C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:notes">
            <a:extLst>
              <a:ext uri="{FF2B5EF4-FFF2-40B4-BE49-F238E27FC236}">
                <a16:creationId xmlns:a16="http://schemas.microsoft.com/office/drawing/2014/main" id="{B66CC322-3C2B-DC9A-C09B-473297FE4A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4:notes">
            <a:extLst>
              <a:ext uri="{FF2B5EF4-FFF2-40B4-BE49-F238E27FC236}">
                <a16:creationId xmlns:a16="http://schemas.microsoft.com/office/drawing/2014/main" id="{EA2D2608-4226-7113-6B6A-8249A41ACC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678392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>
          <a:extLst>
            <a:ext uri="{FF2B5EF4-FFF2-40B4-BE49-F238E27FC236}">
              <a16:creationId xmlns:a16="http://schemas.microsoft.com/office/drawing/2014/main" id="{ECD252F7-B3C0-B16A-CC7B-5F557820F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:notes">
            <a:extLst>
              <a:ext uri="{FF2B5EF4-FFF2-40B4-BE49-F238E27FC236}">
                <a16:creationId xmlns:a16="http://schemas.microsoft.com/office/drawing/2014/main" id="{C95B3601-B9B5-04DA-DFCD-8A1A1915A3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4:notes">
            <a:extLst>
              <a:ext uri="{FF2B5EF4-FFF2-40B4-BE49-F238E27FC236}">
                <a16:creationId xmlns:a16="http://schemas.microsoft.com/office/drawing/2014/main" id="{96E45FA5-C5AC-C292-BBBA-C808481F88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312015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>
          <a:extLst>
            <a:ext uri="{FF2B5EF4-FFF2-40B4-BE49-F238E27FC236}">
              <a16:creationId xmlns:a16="http://schemas.microsoft.com/office/drawing/2014/main" id="{9A2AF5A7-BA6A-30B8-EF5B-07910F644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:notes">
            <a:extLst>
              <a:ext uri="{FF2B5EF4-FFF2-40B4-BE49-F238E27FC236}">
                <a16:creationId xmlns:a16="http://schemas.microsoft.com/office/drawing/2014/main" id="{37B5CF54-EC51-E18F-E3E5-B6148132B2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4:notes">
            <a:extLst>
              <a:ext uri="{FF2B5EF4-FFF2-40B4-BE49-F238E27FC236}">
                <a16:creationId xmlns:a16="http://schemas.microsoft.com/office/drawing/2014/main" id="{AC24F531-B567-9B97-8DAE-C1342A3077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13997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>
          <a:extLst>
            <a:ext uri="{FF2B5EF4-FFF2-40B4-BE49-F238E27FC236}">
              <a16:creationId xmlns:a16="http://schemas.microsoft.com/office/drawing/2014/main" id="{03BAA36B-8E3E-A36A-9DDB-22D9386B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:notes">
            <a:extLst>
              <a:ext uri="{FF2B5EF4-FFF2-40B4-BE49-F238E27FC236}">
                <a16:creationId xmlns:a16="http://schemas.microsoft.com/office/drawing/2014/main" id="{02393636-BADB-6FC1-74BC-A6AE0E248D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4:notes">
            <a:extLst>
              <a:ext uri="{FF2B5EF4-FFF2-40B4-BE49-F238E27FC236}">
                <a16:creationId xmlns:a16="http://schemas.microsoft.com/office/drawing/2014/main" id="{7B970F95-0F87-555E-027F-AC719E442A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30634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5" name="Google Shape;435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1" name="Google Shape;461;p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8" name="Google Shape;468;p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5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5" name="Google Shape;575;p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1" name="Google Shape;581;p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68</a:t>
            </a:fld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3" name="Google Shape;603;p6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6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70</a:t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4" name="Google Shape;634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4" name="Google Shape;654;p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6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5" name="Google Shape;665;p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6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1" name="Google Shape;681;p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7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7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6" name="Google Shape;706;p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0" name="Google Shape;720;p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p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1" name="Google Shape;771;p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7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p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8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p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2" name="Google Shape;792;p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7" name="Google Shape;807;p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p8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0" name="Google Shape;850;p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5" name="Google Shape;865;p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p8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0" name="Google Shape;880;p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1" name="Google Shape;911;p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6" name="Google Shape;926;p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9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1" name="Google Shape;941;p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p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6" name="Google Shape;946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951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9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8" name="Google Shape;958;p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4" name="Google Shape;964;p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p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9" name="Google Shape;979;p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p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p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0" name="Google Shape;1010;p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10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6" name="Google Shape;1026;p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p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1" name="Google Shape;1031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p1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7" name="Google Shape;1037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Google Shape;1053;p1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4" name="Google Shape;1054;p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p1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8" name="Google Shape;1078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p10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9" name="Google Shape;1089;p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1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4" name="Google Shape;1094;p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p10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0" name="Google Shape;1100;p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1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5" name="Google Shape;1105;p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p1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0" name="Google Shape;1110;p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1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1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5" name="Google Shape;1145;p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p1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1" name="Google Shape;1151;p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p1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7" name="Google Shape;1157;p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p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3" name="Google Shape;1163;p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p1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1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8" name="Google Shape;1198;p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1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4" name="Google Shape;1204;p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Google Shape;1209;p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0" name="Google Shape;1210;p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p1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6" name="Google Shape;1226;p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p1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2" name="Google Shape;1232;p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p1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0" name="Google Shape;1250;p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1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7" name="Google Shape;1267;p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Google Shape;1271;p1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2" name="Google Shape;1272;p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p1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3" name="Google Shape;1283;p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p1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9" name="Google Shape;1289;p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Google Shape;1294;p1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5" name="Google Shape;1295;p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p1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1" name="Google Shape;1301;p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Google Shape;1306;p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7" name="Google Shape;1307;p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1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4" name="Google Shape;1324;p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Google Shape;1340;p1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1" name="Google Shape;1341;p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Google Shape;1357;p1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8" name="Google Shape;1358;p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Google Shape;1374;p1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5" name="Google Shape;1375;p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p1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2" name="Google Shape;1392;p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1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9" name="Google Shape;1409;p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Google Shape;1425;p1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6" name="Google Shape;1426;p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Google Shape;1442;p1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3" name="Google Shape;1443;p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p1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9" name="Google Shape;1449;p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1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5" name="Google Shape;1455;p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1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1" name="Google Shape;1461;p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1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7" name="Google Shape;1467;p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3" name="Google Shape;1483;p1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4" name="Google Shape;1484;p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Google Shape;1500;p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1" name="Google Shape;1501;p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p1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7" name="Google Shape;1507;p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2" name="Google Shape;1512;p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3" name="Google Shape;1513;p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p1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p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Google Shape;1524;p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5" name="Google Shape;1525;p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Google Shape;1529;p1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0" name="Google Shape;1530;p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Google Shape;1546;p1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7" name="Google Shape;1547;p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Google Shape;1563;p1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4" name="Google Shape;1564;p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p1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1" name="Google Shape;1581;p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Google Shape;1597;p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8" name="Google Shape;1598;p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4" name="Google Shape;1614;p1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5" name="Google Shape;1615;p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Google Shape;1631;p1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2" name="Google Shape;1632;p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p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8" name="Google Shape;1638;p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Google Shape;1643;p1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4" name="Google Shape;1644;p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Google Shape;1649;p15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0" name="Google Shape;1650;p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p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6" name="Google Shape;1656;p1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7" name="Google Shape;1657;p15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166</a:t>
            </a:fld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668;p1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9" name="Google Shape;1669;p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Google Shape;1683;p1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4" name="Google Shape;1684;p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Google Shape;1689;p1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0" name="Google Shape;1690;p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5" name="Google Shape;1695;p16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6" name="Google Shape;1696;p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Google Shape;1701;p1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2" name="Google Shape;1702;p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Google Shape;1707;p1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8" name="Google Shape;1708;p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p1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5" name="Google Shape;1715;p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2" name="Google Shape;1722;p1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3" name="Google Shape;1723;p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Google Shape;1739;p16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0" name="Google Shape;1740;p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6" name="Google Shape;1756;p1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7" name="Google Shape;1757;p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2" name="Google Shape;1762;p16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3" name="Google Shape;1763;p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9" name="Google Shape;1769;p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0" name="Google Shape;1770;p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5" name="Google Shape;1775;p1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6" name="Google Shape;1776;p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Google Shape;1781;p17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2" name="Google Shape;1782;p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7" name="Google Shape;1787;p17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8" name="Google Shape;1788;p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4" name="Google Shape;1804;p1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5" name="Google Shape;1805;p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1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2" name="Google Shape;1822;p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1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8" name="Google Shape;1828;p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Google Shape;1833;p1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4" name="Google Shape;1834;p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9" name="Google Shape;1839;p1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0" name="Google Shape;1840;p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Google Shape;1844;p17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5" name="Google Shape;1845;p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0" name="Google Shape;1850;p1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1" name="Google Shape;1851;p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p18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8" name="Google Shape;1868;p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" name="Google Shape;1884;p1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5" name="Google Shape;1885;p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9" name="Google Shape;1889;p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0" name="Google Shape;1890;p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5" name="Google Shape;1895;p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6" name="Google Shape;1896;p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1" name="Google Shape;1901;p1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2" name="Google Shape;1902;p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7" name="Google Shape;1907;p18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8" name="Google Shape;1908;p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Google Shape;1913;p1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4" name="Google Shape;1914;p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9" name="Google Shape;1919;p18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0" name="Google Shape;1920;p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" name="Google Shape;1925;p1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6" name="Google Shape;1926;p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Google Shape;1931;p1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2" name="Google Shape;1932;p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7" name="Google Shape;1937;p1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8" name="Google Shape;1938;p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p19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4" name="Google Shape;1944;p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9" name="Google Shape;1949;p1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4" name="Google Shape;1954;p1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5" name="Google Shape;1955;p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19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1" name="Google Shape;1961;p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" name="Google Shape;1966;p1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7" name="Google Shape;1967;p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1" name="Google Shape;1971;p1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2" name="Google Shape;1972;p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7" name="Google Shape;1977;p1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8" name="Google Shape;1978;p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Google Shape;1983;p1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4" name="Google Shape;1984;p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Google Shape;1989;p20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0" name="Google Shape;1990;p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5" name="Google Shape;1995;p2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6" name="Google Shape;1996;p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1" name="Google Shape;2001;p2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2" name="Google Shape;2002;p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" name="Google Shape;2007;p2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8" name="Google Shape;2008;p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3" name="Google Shape;2013;p2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4" name="Google Shape;2014;p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p2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1" name="Google Shape;2021;p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6" name="Google Shape;2026;p20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7" name="Google Shape;2027;p2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0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0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0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0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0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  <a:defRPr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0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0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0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0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jp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60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Automotive Embedded System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 txBox="1">
            <a:spLocks noGrp="1"/>
          </p:cNvSpPr>
          <p:nvPr>
            <p:ph type="title"/>
          </p:nvPr>
        </p:nvSpPr>
        <p:spPr>
          <a:xfrm>
            <a:off x="838200" y="35105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Embedded systems</a:t>
            </a:r>
            <a:endParaRPr>
              <a:solidFill>
                <a:srgbClr val="833C0B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2"/>
          <p:cNvSpPr txBox="1">
            <a:spLocks noGrp="1"/>
          </p:cNvSpPr>
          <p:nvPr>
            <p:ph type="body" idx="1"/>
          </p:nvPr>
        </p:nvSpPr>
        <p:spPr>
          <a:xfrm>
            <a:off x="936674" y="2006600"/>
            <a:ext cx="10515600" cy="4500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Char char="•"/>
            </a:pPr>
            <a:r>
              <a:rPr lang="en-US">
                <a:solidFill>
                  <a:srgbClr val="2F549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embedded system is a system that has embedded software and hardware, which makes it a system dedicated for an application(s), or a part of larger systems. 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F5496"/>
              </a:buClr>
              <a:buSzPts val="2400"/>
              <a:buNone/>
            </a:pPr>
            <a:r>
              <a:rPr lang="en-US">
                <a:solidFill>
                  <a:srgbClr val="2F549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F5496"/>
              </a:buClr>
              <a:buSzPts val="2400"/>
              <a:buChar char="•"/>
            </a:pPr>
            <a:r>
              <a:rPr lang="en-US">
                <a:solidFill>
                  <a:srgbClr val="2F549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 : Bluetooth control home appliances.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2F549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"/>
          <p:cNvSpPr txBox="1">
            <a:spLocks noGrp="1"/>
          </p:cNvSpPr>
          <p:nvPr>
            <p:ph type="title"/>
          </p:nvPr>
        </p:nvSpPr>
        <p:spPr>
          <a:xfrm>
            <a:off x="838200" y="308854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Real time examples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3"/>
          <p:cNvSpPr txBox="1">
            <a:spLocks noGrp="1"/>
          </p:cNvSpPr>
          <p:nvPr>
            <p:ph type="body" idx="1"/>
          </p:nvPr>
        </p:nvSpPr>
        <p:spPr>
          <a:xfrm>
            <a:off x="838200" y="1825624"/>
            <a:ext cx="10753578" cy="4870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•"/>
            </a:pPr>
            <a:r>
              <a:rPr lang="en-US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Consumer electronics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2400"/>
              <a:buChar char="•"/>
            </a:pPr>
            <a:r>
              <a:rPr lang="en-US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Banking sector</a:t>
            </a:r>
            <a:endParaRPr/>
          </a:p>
          <a:p>
            <a:pPr marL="228600" lvl="0" indent="-76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chemeClr val="accen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2400"/>
              <a:buChar char="•"/>
            </a:pPr>
            <a:r>
              <a:rPr lang="en-US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Medical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85623"/>
              </a:buClr>
              <a:buSzPts val="2400"/>
              <a:buChar char="•"/>
            </a:pPr>
            <a:r>
              <a:rPr lang="en-US">
                <a:solidFill>
                  <a:srgbClr val="38562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Industrials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33C0B"/>
              </a:buClr>
              <a:buSzPts val="2400"/>
              <a:buChar char="•"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Transportations,(AES) etc..,</a:t>
            </a:r>
            <a:endParaRPr>
              <a:solidFill>
                <a:srgbClr val="833C0B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>
            <a:spLocks noGrp="1"/>
          </p:cNvSpPr>
          <p:nvPr>
            <p:ph type="title"/>
          </p:nvPr>
        </p:nvSpPr>
        <p:spPr>
          <a:xfrm>
            <a:off x="675249" y="154109"/>
            <a:ext cx="10439400" cy="84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Embedded System in Automobile</a:t>
            </a:r>
            <a:endParaRPr/>
          </a:p>
        </p:txBody>
      </p:sp>
      <p:sp>
        <p:nvSpPr>
          <p:cNvPr id="106" name="Google Shape;106;p4"/>
          <p:cNvSpPr txBox="1">
            <a:spLocks noGrp="1"/>
          </p:cNvSpPr>
          <p:nvPr>
            <p:ph type="body" idx="1"/>
          </p:nvPr>
        </p:nvSpPr>
        <p:spPr>
          <a:xfrm>
            <a:off x="675249" y="1448972"/>
            <a:ext cx="11516751" cy="4727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Embedded system are extensively used in Automobile Industry. Embedded system have taken control on automobiles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Airbags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Anti-lock breaking system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Automatic parking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Satellite </a:t>
            </a:r>
            <a:r>
              <a:rPr lang="en-US">
                <a:solidFill>
                  <a:srgbClr val="002060"/>
                </a:solidFill>
              </a:rPr>
              <a:t>Radio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Tyre Pressure Monitor (TPM)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In-vehicle entertainment system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Navigation systems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Night vision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Heads up display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40480" y="3558115"/>
            <a:ext cx="5036233" cy="3301612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5"/>
          <p:cNvSpPr txBox="1">
            <a:spLocks noGrp="1"/>
          </p:cNvSpPr>
          <p:nvPr>
            <p:ph type="title"/>
          </p:nvPr>
        </p:nvSpPr>
        <p:spPr>
          <a:xfrm>
            <a:off x="773723" y="350141"/>
            <a:ext cx="10580077" cy="859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ECU (Electronics control unit)</a:t>
            </a:r>
            <a:endParaRPr/>
          </a:p>
        </p:txBody>
      </p:sp>
      <p:sp>
        <p:nvSpPr>
          <p:cNvPr id="113" name="Google Shape;113;p5"/>
          <p:cNvSpPr txBox="1">
            <a:spLocks noGrp="1"/>
          </p:cNvSpPr>
          <p:nvPr>
            <p:ph type="body" idx="1"/>
          </p:nvPr>
        </p:nvSpPr>
        <p:spPr>
          <a:xfrm>
            <a:off x="610378" y="1493739"/>
            <a:ext cx="11787479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i="0">
                <a:solidFill>
                  <a:srgbClr val="002060"/>
                </a:solidFill>
              </a:rPr>
              <a:t>An electronic control unit (ECU) is an </a:t>
            </a:r>
            <a:r>
              <a:rPr lang="en-US" i="0" strike="noStrike">
                <a:solidFill>
                  <a:srgbClr val="002060"/>
                </a:solidFill>
              </a:rPr>
              <a:t>embedded system</a:t>
            </a:r>
            <a:r>
              <a:rPr lang="en-US" i="0">
                <a:solidFill>
                  <a:srgbClr val="002060"/>
                </a:solidFill>
              </a:rPr>
              <a:t> in </a:t>
            </a:r>
            <a:r>
              <a:rPr lang="en-US" i="0" strike="noStrike">
                <a:solidFill>
                  <a:srgbClr val="002060"/>
                </a:solidFill>
              </a:rPr>
              <a:t>automotive electronics</a:t>
            </a:r>
            <a:r>
              <a:rPr lang="en-US" i="0">
                <a:solidFill>
                  <a:srgbClr val="002060"/>
                </a:solidFill>
              </a:rPr>
              <a:t> that </a:t>
            </a:r>
            <a:r>
              <a:rPr lang="en-US" i="0">
                <a:solidFill>
                  <a:srgbClr val="FF0000"/>
                </a:solidFill>
              </a:rPr>
              <a:t>controls one or more of the </a:t>
            </a:r>
            <a:r>
              <a:rPr lang="en-US" i="0" strike="noStrike">
                <a:solidFill>
                  <a:srgbClr val="FF0000"/>
                </a:solidFill>
              </a:rPr>
              <a:t>electrical systems</a:t>
            </a:r>
            <a:r>
              <a:rPr lang="en-US" i="0">
                <a:solidFill>
                  <a:srgbClr val="FF0000"/>
                </a:solidFill>
              </a:rPr>
              <a:t> or subsystems in a vehicle</a:t>
            </a:r>
            <a:r>
              <a:rPr lang="en-US" i="0">
                <a:solidFill>
                  <a:srgbClr val="002060"/>
                </a:solidFill>
              </a:rPr>
              <a:t>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i="0">
                <a:solidFill>
                  <a:srgbClr val="002060"/>
                </a:solidFill>
              </a:rPr>
              <a:t>An electronic control unit (ECU) is a small device in a vehicle’s body that is responsible for </a:t>
            </a:r>
            <a:r>
              <a:rPr lang="en-US" i="0">
                <a:solidFill>
                  <a:srgbClr val="FF0000"/>
                </a:solidFill>
              </a:rPr>
              <a:t>controlling a specific function. 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i="0">
                <a:solidFill>
                  <a:srgbClr val="002060"/>
                </a:solidFill>
              </a:rPr>
              <a:t>ECU receives inputs from different parts of </a:t>
            </a:r>
            <a:r>
              <a:rPr lang="en-US" i="0">
                <a:solidFill>
                  <a:srgbClr val="FF0000"/>
                </a:solidFill>
              </a:rPr>
              <a:t>the vehicle,</a:t>
            </a:r>
            <a:r>
              <a:rPr lang="en-US" i="0">
                <a:solidFill>
                  <a:srgbClr val="002060"/>
                </a:solidFill>
              </a:rPr>
              <a:t> depending on its function.</a:t>
            </a: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"/>
          <p:cNvSpPr txBox="1">
            <a:spLocks noGrp="1"/>
          </p:cNvSpPr>
          <p:nvPr>
            <p:ph type="title"/>
          </p:nvPr>
        </p:nvSpPr>
        <p:spPr>
          <a:xfrm>
            <a:off x="827063" y="154110"/>
            <a:ext cx="10537874" cy="816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ABS vs without ABS</a:t>
            </a:r>
            <a:endParaRPr/>
          </a:p>
        </p:txBody>
      </p:sp>
      <p:pic>
        <p:nvPicPr>
          <p:cNvPr id="119" name="Google Shape;119;p6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497092" y="1325563"/>
            <a:ext cx="9197816" cy="5167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 txBox="1">
            <a:spLocks noGrp="1"/>
          </p:cNvSpPr>
          <p:nvPr>
            <p:ph type="title"/>
          </p:nvPr>
        </p:nvSpPr>
        <p:spPr>
          <a:xfrm>
            <a:off x="838200" y="21038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Anti-Lock breaking System</a:t>
            </a:r>
            <a:endParaRPr/>
          </a:p>
        </p:txBody>
      </p:sp>
      <p:pic>
        <p:nvPicPr>
          <p:cNvPr id="125" name="Google Shape;125;p7" descr="What is the Traction Control System (TCS) in cars? - CarBikeTe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53993" y="1301896"/>
            <a:ext cx="7484013" cy="5345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Front and Rear Sensor</a:t>
            </a:r>
            <a:endParaRPr/>
          </a:p>
        </p:txBody>
      </p:sp>
      <p:pic>
        <p:nvPicPr>
          <p:cNvPr id="131" name="Google Shape;131;p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392702" y="1682623"/>
            <a:ext cx="9003321" cy="5161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"/>
          <p:cNvSpPr/>
          <p:nvPr/>
        </p:nvSpPr>
        <p:spPr>
          <a:xfrm rot="-839016">
            <a:off x="7005099" y="4212417"/>
            <a:ext cx="1131202" cy="1182892"/>
          </a:xfrm>
          <a:prstGeom prst="lightningBol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/>
          <p:nvPr/>
        </p:nvSpPr>
        <p:spPr>
          <a:xfrm rot="5160888">
            <a:off x="3874096" y="4107163"/>
            <a:ext cx="1131202" cy="1182892"/>
          </a:xfrm>
          <a:prstGeom prst="lightningBol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9"/>
          <p:cNvSpPr/>
          <p:nvPr/>
        </p:nvSpPr>
        <p:spPr>
          <a:xfrm rot="10049369">
            <a:off x="3874096" y="2353418"/>
            <a:ext cx="1131202" cy="1182892"/>
          </a:xfrm>
          <a:prstGeom prst="lightningBol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9"/>
          <p:cNvSpPr/>
          <p:nvPr/>
        </p:nvSpPr>
        <p:spPr>
          <a:xfrm rot="-5400000">
            <a:off x="7044414" y="2441622"/>
            <a:ext cx="1131202" cy="1182892"/>
          </a:xfrm>
          <a:prstGeom prst="lightningBol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/>
          <p:nvPr/>
        </p:nvSpPr>
        <p:spPr>
          <a:xfrm>
            <a:off x="8201461" y="1230922"/>
            <a:ext cx="2110153" cy="1259059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 cap="flat" cmpd="sng">
            <a:solidFill>
              <a:srgbClr val="BA8C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MICRO-CONTROLLER</a:t>
            </a:r>
            <a:endParaRPr/>
          </a:p>
        </p:txBody>
      </p:sp>
      <p:sp>
        <p:nvSpPr>
          <p:cNvPr id="141" name="Google Shape;141;p9"/>
          <p:cNvSpPr/>
          <p:nvPr/>
        </p:nvSpPr>
        <p:spPr>
          <a:xfrm>
            <a:off x="4344572" y="2996420"/>
            <a:ext cx="3502855" cy="1702190"/>
          </a:xfrm>
          <a:prstGeom prst="ellipse">
            <a:avLst/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Components of Automotive Embedded System</a:t>
            </a:r>
            <a:endParaRPr/>
          </a:p>
        </p:txBody>
      </p:sp>
      <p:sp>
        <p:nvSpPr>
          <p:cNvPr id="142" name="Google Shape;142;p9"/>
          <p:cNvSpPr/>
          <p:nvPr/>
        </p:nvSpPr>
        <p:spPr>
          <a:xfrm>
            <a:off x="1761217" y="5236698"/>
            <a:ext cx="2110153" cy="1259059"/>
          </a:xfrm>
          <a:prstGeom prst="roundRect">
            <a:avLst>
              <a:gd name="adj" fmla="val 16667"/>
            </a:avLst>
          </a:prstGeom>
          <a:solidFill>
            <a:srgbClr val="7F7F7F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MEMORY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DEVICES</a:t>
            </a:r>
            <a:endParaRPr/>
          </a:p>
        </p:txBody>
      </p:sp>
      <p:sp>
        <p:nvSpPr>
          <p:cNvPr id="143" name="Google Shape;143;p9"/>
          <p:cNvSpPr/>
          <p:nvPr/>
        </p:nvSpPr>
        <p:spPr>
          <a:xfrm>
            <a:off x="8201461" y="5236699"/>
            <a:ext cx="2110153" cy="1259059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TRANS-RECEIVER</a:t>
            </a:r>
            <a:endParaRPr/>
          </a:p>
        </p:txBody>
      </p:sp>
      <p:sp>
        <p:nvSpPr>
          <p:cNvPr id="144" name="Google Shape;144;p9"/>
          <p:cNvSpPr/>
          <p:nvPr/>
        </p:nvSpPr>
        <p:spPr>
          <a:xfrm>
            <a:off x="1711572" y="1230922"/>
            <a:ext cx="2110153" cy="1259059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SENSORS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>
            <a:spLocks noGrp="1"/>
          </p:cNvSpPr>
          <p:nvPr>
            <p:ph type="body" idx="1"/>
          </p:nvPr>
        </p:nvSpPr>
        <p:spPr>
          <a:xfrm>
            <a:off x="715617" y="2491911"/>
            <a:ext cx="10721009" cy="2928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SzPts val="6000"/>
              <a:buNone/>
            </a:pPr>
            <a:r>
              <a:rPr lang="en-US" sz="6000">
                <a:solidFill>
                  <a:srgbClr val="00B0F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PROTOCOL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33C0B"/>
              </a:buClr>
              <a:buSzPts val="3000"/>
              <a:buNone/>
            </a:pPr>
            <a:r>
              <a:rPr lang="en-US" sz="30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(Controller area network)</a:t>
            </a:r>
            <a:endParaRPr sz="3000">
              <a:solidFill>
                <a:srgbClr val="833C0B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/>
          </a:p>
        </p:txBody>
      </p:sp>
      <p:sp>
        <p:nvSpPr>
          <p:cNvPr id="155" name="Google Shape;155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4E79"/>
              </a:buClr>
              <a:buSzPts val="2400"/>
              <a:buChar char="•"/>
            </a:pP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bus is a vehicle bus standard designed to allow microcontroller and devices </a:t>
            </a:r>
            <a:r>
              <a:rPr lang="en-US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communicate with each other in vehicle</a:t>
            </a: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4E79"/>
              </a:buClr>
              <a:buSzPts val="2400"/>
              <a:buChar char="•"/>
            </a:pP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is a </a:t>
            </a:r>
            <a:r>
              <a:rPr lang="en-US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message based </a:t>
            </a: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protocol.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4E79"/>
              </a:buClr>
              <a:buSzPts val="2400"/>
              <a:buChar char="•"/>
            </a:pP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can send up to 8 bytes of data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4E79"/>
              </a:buClr>
              <a:buSzPts val="2400"/>
              <a:buChar char="•"/>
            </a:pP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is present in </a:t>
            </a:r>
            <a:r>
              <a:rPr lang="en-US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both physical and data link layer </a:t>
            </a: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 OSI layers.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4E79"/>
              </a:buClr>
              <a:buSzPts val="2400"/>
              <a:buChar char="•"/>
            </a:pP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is a </a:t>
            </a:r>
            <a:r>
              <a:rPr lang="en-US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multi-master, multicast </a:t>
            </a: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serial bus 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4E79"/>
              </a:buClr>
              <a:buSzPts val="2400"/>
              <a:buChar char="•"/>
            </a:pP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Standardized by </a:t>
            </a:r>
            <a:r>
              <a:rPr lang="en-US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ISO 11898-1, 11898-2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4E79"/>
              </a:buClr>
              <a:buSzPts val="2400"/>
              <a:buChar char="•"/>
            </a:pPr>
            <a:r>
              <a:rPr lang="en-US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High </a:t>
            </a:r>
            <a:r>
              <a:rPr lang="en-US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Fault tolerance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dirty="0">
                <a:solidFill>
                  <a:srgbClr val="002060"/>
                </a:solidFill>
              </a:rPr>
              <a:t>Auto</a:t>
            </a:r>
            <a:r>
              <a:rPr lang="en-US" dirty="0">
                <a:solidFill>
                  <a:srgbClr val="833C0B"/>
                </a:solidFill>
              </a:rPr>
              <a:t> Re-transmit </a:t>
            </a:r>
            <a:r>
              <a:rPr lang="en-US" dirty="0">
                <a:solidFill>
                  <a:srgbClr val="002060"/>
                </a:solidFill>
              </a:rPr>
              <a:t>feature.</a:t>
            </a:r>
            <a:endParaRPr dirty="0"/>
          </a:p>
          <a:p>
            <a:pPr marL="228600" lvl="0" indent="-76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>
              <a:solidFill>
                <a:srgbClr val="1E4E7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02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HISTORY</a:t>
            </a:r>
            <a:endParaRPr/>
          </a:p>
        </p:txBody>
      </p:sp>
      <p:sp>
        <p:nvSpPr>
          <p:cNvPr id="161" name="Google Shape;161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reduce communication complexity on automobiles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BOSCH </a:t>
            </a: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starts work on  CAN protocol in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1983</a:t>
            </a: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and official CAN released in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1986</a:t>
            </a: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33C0B"/>
              </a:buClr>
              <a:buSzPts val="2400"/>
              <a:buChar char="•"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Intel and Philips </a:t>
            </a: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are the first manufacture of CAN based microcontroller in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1987.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1991</a:t>
            </a: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CAN based first luxury car released by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Mercedes</a:t>
            </a: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Benz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Before and After CAN</a:t>
            </a:r>
            <a:endParaRPr/>
          </a:p>
        </p:txBody>
      </p:sp>
      <p:pic>
        <p:nvPicPr>
          <p:cNvPr id="167" name="Google Shape;167;p13"/>
          <p:cNvPicPr preferRelativeResize="0"/>
          <p:nvPr/>
        </p:nvPicPr>
        <p:blipFill rotWithShape="1">
          <a:blip r:embed="rId3">
            <a:alphaModFix/>
          </a:blip>
          <a:srcRect l="34424" r="49966"/>
          <a:stretch/>
        </p:blipFill>
        <p:spPr>
          <a:xfrm>
            <a:off x="2186608" y="2117849"/>
            <a:ext cx="874643" cy="32982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3"/>
          <p:cNvPicPr preferRelativeResize="0"/>
          <p:nvPr/>
        </p:nvPicPr>
        <p:blipFill rotWithShape="1">
          <a:blip r:embed="rId3">
            <a:alphaModFix/>
          </a:blip>
          <a:srcRect r="65577"/>
          <a:stretch/>
        </p:blipFill>
        <p:spPr>
          <a:xfrm>
            <a:off x="257844" y="2117849"/>
            <a:ext cx="1928764" cy="33119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3"/>
          <p:cNvPicPr preferRelativeResize="0"/>
          <p:nvPr/>
        </p:nvPicPr>
        <p:blipFill rotWithShape="1">
          <a:blip r:embed="rId3">
            <a:alphaModFix/>
          </a:blip>
          <a:srcRect l="50032"/>
          <a:stretch/>
        </p:blipFill>
        <p:spPr>
          <a:xfrm>
            <a:off x="3061250" y="2117848"/>
            <a:ext cx="2799677" cy="3311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3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4">
            <a:alphaModFix/>
          </a:blip>
          <a:srcRect l="36189" r="46792"/>
          <a:stretch/>
        </p:blipFill>
        <p:spPr>
          <a:xfrm>
            <a:off x="7977809" y="2117849"/>
            <a:ext cx="1020417" cy="3311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3"/>
          <p:cNvPicPr preferRelativeResize="0"/>
          <p:nvPr/>
        </p:nvPicPr>
        <p:blipFill rotWithShape="1">
          <a:blip r:embed="rId4">
            <a:alphaModFix/>
          </a:blip>
          <a:srcRect r="63810"/>
          <a:stretch/>
        </p:blipFill>
        <p:spPr>
          <a:xfrm>
            <a:off x="5807920" y="2117850"/>
            <a:ext cx="2169890" cy="32982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3"/>
          <p:cNvPicPr preferRelativeResize="0"/>
          <p:nvPr/>
        </p:nvPicPr>
        <p:blipFill rotWithShape="1">
          <a:blip r:embed="rId4">
            <a:alphaModFix/>
          </a:blip>
          <a:srcRect l="53208" r="-1"/>
          <a:stretch/>
        </p:blipFill>
        <p:spPr>
          <a:xfrm>
            <a:off x="8998226" y="2117849"/>
            <a:ext cx="2805730" cy="33119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4"/>
          <p:cNvSpPr txBox="1">
            <a:spLocks noGrp="1"/>
          </p:cNvSpPr>
          <p:nvPr>
            <p:ph type="title"/>
          </p:nvPr>
        </p:nvSpPr>
        <p:spPr>
          <a:xfrm>
            <a:off x="855198" y="294788"/>
            <a:ext cx="10481603" cy="957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STRUCTURE </a:t>
            </a:r>
            <a:endParaRPr/>
          </a:p>
        </p:txBody>
      </p:sp>
      <p:pic>
        <p:nvPicPr>
          <p:cNvPr id="178" name="Google Shape;178;p1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490887" y="2653891"/>
            <a:ext cx="8412768" cy="403593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4"/>
          <p:cNvSpPr txBox="1"/>
          <p:nvPr/>
        </p:nvSpPr>
        <p:spPr>
          <a:xfrm>
            <a:off x="2053882" y="1252026"/>
            <a:ext cx="7514187" cy="144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Dominant 			-	 0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Recessive			- 	 1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Dominant voltage level		 -	1.5v to 2.5v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Recessive voltage level		 -	Above 2.5v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15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3798" t="22059" r="4246" b="6169"/>
          <a:stretch/>
        </p:blipFill>
        <p:spPr>
          <a:xfrm>
            <a:off x="2093843" y="1155268"/>
            <a:ext cx="7315201" cy="532246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5"/>
          <p:cNvSpPr txBox="1"/>
          <p:nvPr/>
        </p:nvSpPr>
        <p:spPr>
          <a:xfrm>
            <a:off x="556591" y="318052"/>
            <a:ext cx="10880035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WIRED AND LOGIC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6"/>
          <p:cNvSpPr txBox="1">
            <a:spLocks noGrp="1"/>
          </p:cNvSpPr>
          <p:nvPr>
            <p:ph type="title"/>
          </p:nvPr>
        </p:nvSpPr>
        <p:spPr>
          <a:xfrm>
            <a:off x="998806" y="308854"/>
            <a:ext cx="10354994" cy="619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ct val="100000"/>
              <a:buFont typeface="Times New Roman"/>
              <a:buNone/>
            </a:pPr>
            <a:r>
              <a:rPr lang="en-US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with different layers in OSI model</a:t>
            </a:r>
            <a:endParaRPr/>
          </a:p>
        </p:txBody>
      </p:sp>
      <p:pic>
        <p:nvPicPr>
          <p:cNvPr id="191" name="Google Shape;191;p16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998806" y="1125150"/>
            <a:ext cx="9854897" cy="52833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FRAME FORMATS</a:t>
            </a:r>
            <a:endParaRPr/>
          </a:p>
        </p:txBody>
      </p:sp>
      <p:pic>
        <p:nvPicPr>
          <p:cNvPr id="197" name="Google Shape;197;p1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b="68909"/>
          <a:stretch/>
        </p:blipFill>
        <p:spPr>
          <a:xfrm>
            <a:off x="1744436" y="2112011"/>
            <a:ext cx="8175347" cy="1148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17"/>
          <p:cNvPicPr preferRelativeResize="0"/>
          <p:nvPr/>
        </p:nvPicPr>
        <p:blipFill rotWithShape="1">
          <a:blip r:embed="rId3">
            <a:alphaModFix/>
          </a:blip>
          <a:srcRect t="31091" r="48879"/>
          <a:stretch/>
        </p:blipFill>
        <p:spPr>
          <a:xfrm>
            <a:off x="1744437" y="3220279"/>
            <a:ext cx="4179286" cy="25444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7"/>
          <p:cNvPicPr preferRelativeResize="0"/>
          <p:nvPr/>
        </p:nvPicPr>
        <p:blipFill rotWithShape="1">
          <a:blip r:embed="rId3">
            <a:alphaModFix/>
          </a:blip>
          <a:srcRect l="53228"/>
          <a:stretch/>
        </p:blipFill>
        <p:spPr>
          <a:xfrm>
            <a:off x="6096000" y="2112011"/>
            <a:ext cx="3823783" cy="36924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13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TYPES OF FRAMES</a:t>
            </a:r>
            <a:endParaRPr/>
          </a:p>
        </p:txBody>
      </p:sp>
      <p:sp>
        <p:nvSpPr>
          <p:cNvPr id="205" name="Google Shape;205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14350" lvl="0" indent="-5143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frame</a:t>
            </a:r>
            <a:endParaRPr/>
          </a:p>
          <a:p>
            <a:pPr marL="514350" lvl="0" indent="-51435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Error frame</a:t>
            </a:r>
            <a:endParaRPr/>
          </a:p>
          <a:p>
            <a:pPr marL="514350" lvl="0" indent="-51435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Remote frame</a:t>
            </a:r>
            <a:endParaRPr/>
          </a:p>
          <a:p>
            <a:pPr marL="514350" lvl="0" indent="-51435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Overload  frame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2.0A Message (or) Data frame</a:t>
            </a:r>
            <a:endParaRPr/>
          </a:p>
        </p:txBody>
      </p:sp>
      <p:pic>
        <p:nvPicPr>
          <p:cNvPr id="211" name="Google Shape;211;p1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r="95609"/>
          <a:stretch/>
        </p:blipFill>
        <p:spPr>
          <a:xfrm>
            <a:off x="374375" y="2202117"/>
            <a:ext cx="463826" cy="30202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9"/>
          <p:cNvPicPr preferRelativeResize="0"/>
          <p:nvPr/>
        </p:nvPicPr>
        <p:blipFill rotWithShape="1">
          <a:blip r:embed="rId3">
            <a:alphaModFix/>
          </a:blip>
          <a:srcRect l="4564" r="66833"/>
          <a:stretch/>
        </p:blipFill>
        <p:spPr>
          <a:xfrm>
            <a:off x="838200" y="2202117"/>
            <a:ext cx="3021495" cy="30202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9"/>
          <p:cNvPicPr preferRelativeResize="0"/>
          <p:nvPr/>
        </p:nvPicPr>
        <p:blipFill rotWithShape="1">
          <a:blip r:embed="rId3">
            <a:alphaModFix/>
          </a:blip>
          <a:srcRect l="32994" r="53614"/>
          <a:stretch/>
        </p:blipFill>
        <p:spPr>
          <a:xfrm>
            <a:off x="3859694" y="2202117"/>
            <a:ext cx="1414671" cy="30202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19"/>
          <p:cNvPicPr preferRelativeResize="0"/>
          <p:nvPr/>
        </p:nvPicPr>
        <p:blipFill rotWithShape="1">
          <a:blip r:embed="rId3">
            <a:alphaModFix/>
          </a:blip>
          <a:srcRect l="46385" r="33794"/>
          <a:stretch/>
        </p:blipFill>
        <p:spPr>
          <a:xfrm>
            <a:off x="5274364" y="2202117"/>
            <a:ext cx="2093845" cy="30202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19"/>
          <p:cNvPicPr preferRelativeResize="0"/>
          <p:nvPr/>
        </p:nvPicPr>
        <p:blipFill rotWithShape="1">
          <a:blip r:embed="rId3">
            <a:alphaModFix/>
          </a:blip>
          <a:srcRect l="66207" r="23004"/>
          <a:stretch/>
        </p:blipFill>
        <p:spPr>
          <a:xfrm>
            <a:off x="7368209" y="2202117"/>
            <a:ext cx="1139688" cy="30202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9"/>
          <p:cNvPicPr preferRelativeResize="0"/>
          <p:nvPr/>
        </p:nvPicPr>
        <p:blipFill rotWithShape="1">
          <a:blip r:embed="rId3">
            <a:alphaModFix/>
          </a:blip>
          <a:srcRect l="76996" r="18738"/>
          <a:stretch/>
        </p:blipFill>
        <p:spPr>
          <a:xfrm>
            <a:off x="8507897" y="2202117"/>
            <a:ext cx="450574" cy="30202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9"/>
          <p:cNvPicPr preferRelativeResize="0"/>
          <p:nvPr/>
        </p:nvPicPr>
        <p:blipFill rotWithShape="1">
          <a:blip r:embed="rId3">
            <a:alphaModFix/>
          </a:blip>
          <a:srcRect l="81260" r="1678"/>
          <a:stretch/>
        </p:blipFill>
        <p:spPr>
          <a:xfrm>
            <a:off x="8958470" y="2202117"/>
            <a:ext cx="1802295" cy="302022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9"/>
          <p:cNvSpPr txBox="1"/>
          <p:nvPr/>
        </p:nvSpPr>
        <p:spPr>
          <a:xfrm>
            <a:off x="993914" y="5060625"/>
            <a:ext cx="7739270" cy="163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RTR	-	 	Remote Transfer Request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IDE 	-		Identifier Extension Bit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DLC 	-		Data Length Code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CRC	- 		Cyclic Redundancy Check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EOF	-		 End Of Frame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1109120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2.0 B </a:t>
            </a:r>
            <a:r>
              <a:rPr lang="en-US"/>
              <a:t>Message Extened Message Frame</a:t>
            </a:r>
            <a:endParaRPr>
              <a:solidFill>
                <a:srgbClr val="833C0B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24" name="Google Shape;224;p2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r="96517"/>
          <a:stretch/>
        </p:blipFill>
        <p:spPr>
          <a:xfrm>
            <a:off x="801126" y="2226365"/>
            <a:ext cx="351814" cy="333420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0"/>
          <p:cNvPicPr preferRelativeResize="0"/>
          <p:nvPr/>
        </p:nvPicPr>
        <p:blipFill rotWithShape="1">
          <a:blip r:embed="rId3">
            <a:alphaModFix/>
          </a:blip>
          <a:srcRect l="3482" r="70276"/>
          <a:stretch/>
        </p:blipFill>
        <p:spPr>
          <a:xfrm>
            <a:off x="1152940" y="2226365"/>
            <a:ext cx="2650434" cy="333420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0"/>
          <p:cNvPicPr preferRelativeResize="0"/>
          <p:nvPr/>
        </p:nvPicPr>
        <p:blipFill rotWithShape="1">
          <a:blip r:embed="rId3">
            <a:alphaModFix/>
          </a:blip>
          <a:srcRect l="29724" r="66793"/>
          <a:stretch/>
        </p:blipFill>
        <p:spPr>
          <a:xfrm>
            <a:off x="3803374" y="2226365"/>
            <a:ext cx="351814" cy="333420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0"/>
          <p:cNvPicPr preferRelativeResize="0"/>
          <p:nvPr/>
        </p:nvPicPr>
        <p:blipFill rotWithShape="1">
          <a:blip r:embed="rId3">
            <a:alphaModFix/>
          </a:blip>
          <a:srcRect l="33208" r="53219"/>
          <a:stretch/>
        </p:blipFill>
        <p:spPr>
          <a:xfrm>
            <a:off x="4155188" y="2226365"/>
            <a:ext cx="1370969" cy="333420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0"/>
          <p:cNvPicPr preferRelativeResize="0"/>
          <p:nvPr/>
        </p:nvPicPr>
        <p:blipFill rotWithShape="1">
          <a:blip r:embed="rId3">
            <a:alphaModFix/>
          </a:blip>
          <a:srcRect l="46781" r="33144"/>
          <a:stretch/>
        </p:blipFill>
        <p:spPr>
          <a:xfrm>
            <a:off x="5526158" y="2226365"/>
            <a:ext cx="2027582" cy="333420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0"/>
          <p:cNvPicPr preferRelativeResize="0"/>
          <p:nvPr/>
        </p:nvPicPr>
        <p:blipFill rotWithShape="1">
          <a:blip r:embed="rId3">
            <a:alphaModFix/>
          </a:blip>
          <a:srcRect l="66856" r="1130"/>
          <a:stretch/>
        </p:blipFill>
        <p:spPr>
          <a:xfrm>
            <a:off x="7553740" y="2226365"/>
            <a:ext cx="3233530" cy="33342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Message Arbitration</a:t>
            </a:r>
            <a:endParaRPr/>
          </a:p>
        </p:txBody>
      </p:sp>
      <p:pic>
        <p:nvPicPr>
          <p:cNvPr id="235" name="Google Shape;235;p21"/>
          <p:cNvPicPr preferRelativeResize="0"/>
          <p:nvPr/>
        </p:nvPicPr>
        <p:blipFill rotWithShape="1">
          <a:blip r:embed="rId3">
            <a:alphaModFix/>
          </a:blip>
          <a:srcRect l="34262" t="56876" r="35306" b="16905"/>
          <a:stretch/>
        </p:blipFill>
        <p:spPr>
          <a:xfrm>
            <a:off x="1965373" y="1798317"/>
            <a:ext cx="8746790" cy="42367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1016000" y="351058"/>
            <a:ext cx="10337800" cy="941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 master  arbitration Data frame</a:t>
            </a:r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 rotWithShape="1">
          <a:blip r:embed="rId3">
            <a:alphaModFix/>
          </a:blip>
          <a:srcRect r="94684"/>
          <a:stretch/>
        </p:blipFill>
        <p:spPr>
          <a:xfrm>
            <a:off x="1527310" y="1484033"/>
            <a:ext cx="533719" cy="5136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/>
          <p:cNvPicPr preferRelativeResize="0"/>
          <p:nvPr/>
        </p:nvPicPr>
        <p:blipFill rotWithShape="1">
          <a:blip r:embed="rId3">
            <a:alphaModFix/>
          </a:blip>
          <a:srcRect l="5315" r="80325"/>
          <a:stretch/>
        </p:blipFill>
        <p:spPr>
          <a:xfrm>
            <a:off x="2061028" y="1484033"/>
            <a:ext cx="1441827" cy="5136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/>
          <p:cNvPicPr preferRelativeResize="0"/>
          <p:nvPr/>
        </p:nvPicPr>
        <p:blipFill rotWithShape="1">
          <a:blip r:embed="rId3">
            <a:alphaModFix/>
          </a:blip>
          <a:srcRect l="19676" r="76120"/>
          <a:stretch/>
        </p:blipFill>
        <p:spPr>
          <a:xfrm>
            <a:off x="3502855" y="1484033"/>
            <a:ext cx="422032" cy="5136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/>
          <p:cNvPicPr preferRelativeResize="0"/>
          <p:nvPr/>
        </p:nvPicPr>
        <p:blipFill rotWithShape="1">
          <a:blip r:embed="rId3">
            <a:alphaModFix/>
          </a:blip>
          <a:srcRect l="23879" r="70095"/>
          <a:stretch/>
        </p:blipFill>
        <p:spPr>
          <a:xfrm>
            <a:off x="3924886" y="1484033"/>
            <a:ext cx="604911" cy="5136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/>
          <p:cNvPicPr preferRelativeResize="0"/>
          <p:nvPr/>
        </p:nvPicPr>
        <p:blipFill rotWithShape="1">
          <a:blip r:embed="rId3">
            <a:alphaModFix/>
          </a:blip>
          <a:srcRect l="29903" r="9532"/>
          <a:stretch/>
        </p:blipFill>
        <p:spPr>
          <a:xfrm>
            <a:off x="4529796" y="1484033"/>
            <a:ext cx="6080899" cy="5136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2"/>
          <p:cNvPicPr preferRelativeResize="0"/>
          <p:nvPr/>
        </p:nvPicPr>
        <p:blipFill rotWithShape="1">
          <a:blip r:embed="rId3">
            <a:alphaModFix/>
          </a:blip>
          <a:srcRect l="89730" r="2131" b="67819"/>
          <a:stretch/>
        </p:blipFill>
        <p:spPr>
          <a:xfrm>
            <a:off x="10610697" y="3429000"/>
            <a:ext cx="817098" cy="16530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2"/>
          <p:cNvPicPr preferRelativeResize="0"/>
          <p:nvPr/>
        </p:nvPicPr>
        <p:blipFill rotWithShape="1">
          <a:blip r:embed="rId3">
            <a:alphaModFix/>
          </a:blip>
          <a:srcRect l="90467" b="67819"/>
          <a:stretch/>
        </p:blipFill>
        <p:spPr>
          <a:xfrm>
            <a:off x="10610696" y="1484033"/>
            <a:ext cx="957189" cy="16530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2"/>
          <p:cNvPicPr preferRelativeResize="0"/>
          <p:nvPr/>
        </p:nvPicPr>
        <p:blipFill rotWithShape="1">
          <a:blip r:embed="rId3">
            <a:alphaModFix/>
          </a:blip>
          <a:srcRect l="90467" t="67818"/>
          <a:stretch/>
        </p:blipFill>
        <p:spPr>
          <a:xfrm>
            <a:off x="10610696" y="4967723"/>
            <a:ext cx="957190" cy="1653063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2"/>
          <p:cNvSpPr txBox="1"/>
          <p:nvPr/>
        </p:nvSpPr>
        <p:spPr>
          <a:xfrm>
            <a:off x="168812" y="2166425"/>
            <a:ext cx="1412493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NODE 1 (11bit)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188949" y="3241915"/>
            <a:ext cx="1412493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NODE 2 (11bit)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234944" y="4317406"/>
            <a:ext cx="1412493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NODE 3 (29 bit)</a:t>
            </a:r>
            <a:endParaRPr/>
          </a:p>
        </p:txBody>
      </p:sp>
      <p:sp>
        <p:nvSpPr>
          <p:cNvPr id="252" name="Google Shape;252;p22"/>
          <p:cNvSpPr txBox="1"/>
          <p:nvPr/>
        </p:nvSpPr>
        <p:spPr>
          <a:xfrm>
            <a:off x="218015" y="5356334"/>
            <a:ext cx="1412493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NODE 4 (29bit)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23"/>
          <p:cNvCxnSpPr/>
          <p:nvPr/>
        </p:nvCxnSpPr>
        <p:spPr>
          <a:xfrm>
            <a:off x="2115403" y="2634018"/>
            <a:ext cx="8475260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59" name="Google Shape;259;p23"/>
          <p:cNvCxnSpPr/>
          <p:nvPr/>
        </p:nvCxnSpPr>
        <p:spPr>
          <a:xfrm>
            <a:off x="2115403" y="4082955"/>
            <a:ext cx="8475260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0" name="Google Shape;260;p23"/>
          <p:cNvSpPr/>
          <p:nvPr/>
        </p:nvSpPr>
        <p:spPr>
          <a:xfrm>
            <a:off x="3295369" y="4679214"/>
            <a:ext cx="1882250" cy="940040"/>
          </a:xfrm>
          <a:prstGeom prst="rect">
            <a:avLst/>
          </a:prstGeom>
          <a:solidFill>
            <a:srgbClr val="92D050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3"/>
          <p:cNvSpPr/>
          <p:nvPr/>
        </p:nvSpPr>
        <p:spPr>
          <a:xfrm>
            <a:off x="6857999" y="4675515"/>
            <a:ext cx="2033503" cy="940041"/>
          </a:xfrm>
          <a:prstGeom prst="rect">
            <a:avLst/>
          </a:prstGeom>
          <a:solidFill>
            <a:srgbClr val="92D050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3"/>
          <p:cNvSpPr txBox="1"/>
          <p:nvPr/>
        </p:nvSpPr>
        <p:spPr>
          <a:xfrm>
            <a:off x="7192370" y="4882624"/>
            <a:ext cx="109182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NODE 3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3572296" y="4992791"/>
            <a:ext cx="109182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NODE 1</a:t>
            </a:r>
            <a:endParaRPr/>
          </a:p>
        </p:txBody>
      </p:sp>
      <p:cxnSp>
        <p:nvCxnSpPr>
          <p:cNvPr id="264" name="Google Shape;264;p23"/>
          <p:cNvCxnSpPr/>
          <p:nvPr/>
        </p:nvCxnSpPr>
        <p:spPr>
          <a:xfrm>
            <a:off x="4039737" y="2634018"/>
            <a:ext cx="0" cy="2032634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5" name="Google Shape;265;p23"/>
          <p:cNvCxnSpPr/>
          <p:nvPr/>
        </p:nvCxnSpPr>
        <p:spPr>
          <a:xfrm rot="10800000">
            <a:off x="4913195" y="4110160"/>
            <a:ext cx="0" cy="583697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6" name="Google Shape;266;p23"/>
          <p:cNvCxnSpPr/>
          <p:nvPr/>
        </p:nvCxnSpPr>
        <p:spPr>
          <a:xfrm rot="10800000">
            <a:off x="7192370" y="4082956"/>
            <a:ext cx="0" cy="583696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7" name="Google Shape;267;p23"/>
          <p:cNvCxnSpPr/>
          <p:nvPr/>
        </p:nvCxnSpPr>
        <p:spPr>
          <a:xfrm rot="10800000">
            <a:off x="8079475" y="2621526"/>
            <a:ext cx="0" cy="2072331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8" name="Google Shape;268;p23"/>
          <p:cNvCxnSpPr/>
          <p:nvPr/>
        </p:nvCxnSpPr>
        <p:spPr>
          <a:xfrm>
            <a:off x="6857999" y="2224585"/>
            <a:ext cx="0" cy="185837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9" name="Google Shape;269;p23"/>
          <p:cNvCxnSpPr/>
          <p:nvPr/>
        </p:nvCxnSpPr>
        <p:spPr>
          <a:xfrm>
            <a:off x="7472144" y="2224585"/>
            <a:ext cx="0" cy="396941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70" name="Google Shape;270;p23"/>
          <p:cNvSpPr txBox="1"/>
          <p:nvPr/>
        </p:nvSpPr>
        <p:spPr>
          <a:xfrm>
            <a:off x="1678675" y="2167202"/>
            <a:ext cx="131017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CAN H</a:t>
            </a:r>
            <a:endParaRPr/>
          </a:p>
        </p:txBody>
      </p:sp>
      <p:sp>
        <p:nvSpPr>
          <p:cNvPr id="271" name="Google Shape;271;p23"/>
          <p:cNvSpPr txBox="1"/>
          <p:nvPr/>
        </p:nvSpPr>
        <p:spPr>
          <a:xfrm>
            <a:off x="1323835" y="3898289"/>
            <a:ext cx="131017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CAN L</a:t>
            </a:r>
            <a:endParaRPr/>
          </a:p>
        </p:txBody>
      </p:sp>
      <p:sp>
        <p:nvSpPr>
          <p:cNvPr id="272" name="Google Shape;272;p23"/>
          <p:cNvSpPr/>
          <p:nvPr/>
        </p:nvSpPr>
        <p:spPr>
          <a:xfrm>
            <a:off x="6455392" y="1286656"/>
            <a:ext cx="2033503" cy="940041"/>
          </a:xfrm>
          <a:prstGeom prst="rect">
            <a:avLst/>
          </a:prstGeom>
          <a:solidFill>
            <a:srgbClr val="92D050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3"/>
          <p:cNvSpPr txBox="1"/>
          <p:nvPr/>
        </p:nvSpPr>
        <p:spPr>
          <a:xfrm>
            <a:off x="6936481" y="1621954"/>
            <a:ext cx="109182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NODE 2</a:t>
            </a:r>
            <a:endParaRPr/>
          </a:p>
        </p:txBody>
      </p:sp>
      <p:sp>
        <p:nvSpPr>
          <p:cNvPr id="274" name="Google Shape;274;p23"/>
          <p:cNvSpPr txBox="1"/>
          <p:nvPr/>
        </p:nvSpPr>
        <p:spPr>
          <a:xfrm>
            <a:off x="2442950" y="4992791"/>
            <a:ext cx="6983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</a:t>
            </a:r>
            <a:endParaRPr/>
          </a:p>
        </p:txBody>
      </p:sp>
      <p:sp>
        <p:nvSpPr>
          <p:cNvPr id="275" name="Google Shape;275;p23"/>
          <p:cNvSpPr txBox="1"/>
          <p:nvPr/>
        </p:nvSpPr>
        <p:spPr>
          <a:xfrm>
            <a:off x="8606606" y="1572010"/>
            <a:ext cx="6983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</a:t>
            </a:r>
            <a:endParaRPr/>
          </a:p>
        </p:txBody>
      </p:sp>
      <p:sp>
        <p:nvSpPr>
          <p:cNvPr id="276" name="Google Shape;276;p23"/>
          <p:cNvSpPr txBox="1"/>
          <p:nvPr/>
        </p:nvSpPr>
        <p:spPr>
          <a:xfrm>
            <a:off x="5639377" y="1605874"/>
            <a:ext cx="6983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</a:t>
            </a:r>
            <a:endParaRPr/>
          </a:p>
        </p:txBody>
      </p:sp>
      <p:sp>
        <p:nvSpPr>
          <p:cNvPr id="277" name="Google Shape;277;p23"/>
          <p:cNvSpPr txBox="1"/>
          <p:nvPr/>
        </p:nvSpPr>
        <p:spPr>
          <a:xfrm>
            <a:off x="9074908" y="4980687"/>
            <a:ext cx="6983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</a:t>
            </a:r>
            <a:endParaRPr/>
          </a:p>
        </p:txBody>
      </p:sp>
      <p:sp>
        <p:nvSpPr>
          <p:cNvPr id="278" name="Google Shape;278;p23"/>
          <p:cNvSpPr txBox="1"/>
          <p:nvPr/>
        </p:nvSpPr>
        <p:spPr>
          <a:xfrm>
            <a:off x="6133526" y="4992791"/>
            <a:ext cx="6983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</a:t>
            </a:r>
            <a:endParaRPr/>
          </a:p>
        </p:txBody>
      </p:sp>
      <p:sp>
        <p:nvSpPr>
          <p:cNvPr id="279" name="Google Shape;279;p23"/>
          <p:cNvSpPr txBox="1"/>
          <p:nvPr/>
        </p:nvSpPr>
        <p:spPr>
          <a:xfrm>
            <a:off x="5162838" y="4992791"/>
            <a:ext cx="6983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</a:t>
            </a:r>
            <a:endParaRPr/>
          </a:p>
        </p:txBody>
      </p:sp>
      <p:sp>
        <p:nvSpPr>
          <p:cNvPr id="280" name="Google Shape;280;p23"/>
          <p:cNvSpPr/>
          <p:nvPr/>
        </p:nvSpPr>
        <p:spPr>
          <a:xfrm>
            <a:off x="2197298" y="2969862"/>
            <a:ext cx="518600" cy="83609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3"/>
          <p:cNvSpPr/>
          <p:nvPr/>
        </p:nvSpPr>
        <p:spPr>
          <a:xfrm>
            <a:off x="10101626" y="3010953"/>
            <a:ext cx="518600" cy="83609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2" name="Google Shape;282;p23"/>
          <p:cNvCxnSpPr>
            <a:stCxn id="280" idx="0"/>
          </p:cNvCxnSpPr>
          <p:nvPr/>
        </p:nvCxnSpPr>
        <p:spPr>
          <a:xfrm rot="10800000">
            <a:off x="2456598" y="2640462"/>
            <a:ext cx="0" cy="3294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3" name="Google Shape;283;p23"/>
          <p:cNvCxnSpPr/>
          <p:nvPr/>
        </p:nvCxnSpPr>
        <p:spPr>
          <a:xfrm>
            <a:off x="2450058" y="3791877"/>
            <a:ext cx="6540" cy="291078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4" name="Google Shape;284;p23"/>
          <p:cNvCxnSpPr>
            <a:stCxn id="281" idx="2"/>
          </p:cNvCxnSpPr>
          <p:nvPr/>
        </p:nvCxnSpPr>
        <p:spPr>
          <a:xfrm>
            <a:off x="10360926" y="3847047"/>
            <a:ext cx="9900" cy="2448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5" name="Google Shape;285;p23"/>
          <p:cNvCxnSpPr>
            <a:stCxn id="281" idx="0"/>
            <a:endCxn id="281" idx="0"/>
          </p:cNvCxnSpPr>
          <p:nvPr/>
        </p:nvCxnSpPr>
        <p:spPr>
          <a:xfrm>
            <a:off x="10360926" y="3010953"/>
            <a:ext cx="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86" name="Google Shape;286;p23"/>
          <p:cNvCxnSpPr>
            <a:endCxn id="281" idx="0"/>
          </p:cNvCxnSpPr>
          <p:nvPr/>
        </p:nvCxnSpPr>
        <p:spPr>
          <a:xfrm>
            <a:off x="10360926" y="2634153"/>
            <a:ext cx="0" cy="3768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7" name="Google Shape;287;p23"/>
          <p:cNvSpPr txBox="1"/>
          <p:nvPr/>
        </p:nvSpPr>
        <p:spPr>
          <a:xfrm>
            <a:off x="2363056" y="3085301"/>
            <a:ext cx="200024" cy="660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Rt</a:t>
            </a:r>
            <a:endParaRPr/>
          </a:p>
        </p:txBody>
      </p:sp>
      <p:sp>
        <p:nvSpPr>
          <p:cNvPr id="288" name="Google Shape;288;p23"/>
          <p:cNvSpPr txBox="1"/>
          <p:nvPr/>
        </p:nvSpPr>
        <p:spPr>
          <a:xfrm>
            <a:off x="10270808" y="3122177"/>
            <a:ext cx="200024" cy="660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Rt</a:t>
            </a:r>
            <a:endParaRPr/>
          </a:p>
        </p:txBody>
      </p:sp>
      <p:sp>
        <p:nvSpPr>
          <p:cNvPr id="289" name="Google Shape;289;p23"/>
          <p:cNvSpPr/>
          <p:nvPr/>
        </p:nvSpPr>
        <p:spPr>
          <a:xfrm rot="10800000">
            <a:off x="4236494" y="3452382"/>
            <a:ext cx="205848" cy="121427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3"/>
          <p:cNvSpPr txBox="1"/>
          <p:nvPr/>
        </p:nvSpPr>
        <p:spPr>
          <a:xfrm>
            <a:off x="5738886" y="2044462"/>
            <a:ext cx="80862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91" name="Google Shape;291;p23"/>
          <p:cNvSpPr/>
          <p:nvPr/>
        </p:nvSpPr>
        <p:spPr>
          <a:xfrm>
            <a:off x="6464636" y="2238112"/>
            <a:ext cx="205848" cy="121427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3"/>
          <p:cNvSpPr txBox="1"/>
          <p:nvPr/>
        </p:nvSpPr>
        <p:spPr>
          <a:xfrm>
            <a:off x="6893836" y="2306230"/>
            <a:ext cx="5356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 </a:t>
            </a:r>
            <a:endParaRPr/>
          </a:p>
        </p:txBody>
      </p:sp>
      <p:sp>
        <p:nvSpPr>
          <p:cNvPr id="293" name="Google Shape;293;p23"/>
          <p:cNvSpPr txBox="1"/>
          <p:nvPr/>
        </p:nvSpPr>
        <p:spPr>
          <a:xfrm>
            <a:off x="7617146" y="2634721"/>
            <a:ext cx="515207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bit error</a:t>
            </a:r>
            <a:endParaRPr/>
          </a:p>
        </p:txBody>
      </p:sp>
      <p:sp>
        <p:nvSpPr>
          <p:cNvPr id="294" name="Google Shape;294;p23"/>
          <p:cNvSpPr txBox="1"/>
          <p:nvPr/>
        </p:nvSpPr>
        <p:spPr>
          <a:xfrm>
            <a:off x="8488895" y="854118"/>
            <a:ext cx="6488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295" name="Google Shape;295;p23"/>
          <p:cNvSpPr txBox="1"/>
          <p:nvPr/>
        </p:nvSpPr>
        <p:spPr>
          <a:xfrm>
            <a:off x="2511406" y="5398445"/>
            <a:ext cx="6488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296" name="Google Shape;296;p23"/>
          <p:cNvSpPr txBox="1"/>
          <p:nvPr/>
        </p:nvSpPr>
        <p:spPr>
          <a:xfrm>
            <a:off x="5818751" y="824950"/>
            <a:ext cx="6488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297" name="Google Shape;297;p23"/>
          <p:cNvSpPr txBox="1"/>
          <p:nvPr/>
        </p:nvSpPr>
        <p:spPr>
          <a:xfrm>
            <a:off x="9215949" y="5323061"/>
            <a:ext cx="6488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298" name="Google Shape;298;p23"/>
          <p:cNvSpPr txBox="1"/>
          <p:nvPr/>
        </p:nvSpPr>
        <p:spPr>
          <a:xfrm>
            <a:off x="6209104" y="5421598"/>
            <a:ext cx="6488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  <p:sp>
        <p:nvSpPr>
          <p:cNvPr id="299" name="Google Shape;299;p23"/>
          <p:cNvSpPr txBox="1"/>
          <p:nvPr/>
        </p:nvSpPr>
        <p:spPr>
          <a:xfrm>
            <a:off x="5331125" y="5306368"/>
            <a:ext cx="6488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300" name="Google Shape;300;p23"/>
          <p:cNvSpPr txBox="1"/>
          <p:nvPr/>
        </p:nvSpPr>
        <p:spPr>
          <a:xfrm>
            <a:off x="4840603" y="1975206"/>
            <a:ext cx="8222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1+8=9</a:t>
            </a:r>
            <a:endParaRPr/>
          </a:p>
        </p:txBody>
      </p:sp>
      <p:sp>
        <p:nvSpPr>
          <p:cNvPr id="301" name="Google Shape;301;p23"/>
          <p:cNvSpPr/>
          <p:nvPr/>
        </p:nvSpPr>
        <p:spPr>
          <a:xfrm rot="10800000">
            <a:off x="7309150" y="3414970"/>
            <a:ext cx="205848" cy="121427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3"/>
          <p:cNvSpPr txBox="1"/>
          <p:nvPr/>
        </p:nvSpPr>
        <p:spPr>
          <a:xfrm>
            <a:off x="9256806" y="5790930"/>
            <a:ext cx="6488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303" name="Google Shape;303;p23"/>
          <p:cNvSpPr txBox="1"/>
          <p:nvPr/>
        </p:nvSpPr>
        <p:spPr>
          <a:xfrm>
            <a:off x="2503323" y="5910018"/>
            <a:ext cx="6488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  <p:sp>
        <p:nvSpPr>
          <p:cNvPr id="304" name="Google Shape;304;p23"/>
          <p:cNvSpPr txBox="1"/>
          <p:nvPr/>
        </p:nvSpPr>
        <p:spPr>
          <a:xfrm>
            <a:off x="6316778" y="801234"/>
            <a:ext cx="6488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305" name="Google Shape;305;p23"/>
          <p:cNvSpPr txBox="1"/>
          <p:nvPr/>
        </p:nvSpPr>
        <p:spPr>
          <a:xfrm>
            <a:off x="6395303" y="5851172"/>
            <a:ext cx="2093592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REC or TEC &lt;=128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becomes a passive error</a:t>
            </a:r>
            <a:endParaRPr/>
          </a:p>
        </p:txBody>
      </p:sp>
      <p:sp>
        <p:nvSpPr>
          <p:cNvPr id="306" name="Google Shape;306;p23"/>
          <p:cNvSpPr txBox="1"/>
          <p:nvPr/>
        </p:nvSpPr>
        <p:spPr>
          <a:xfrm>
            <a:off x="9674840" y="5975596"/>
            <a:ext cx="23166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REC or TEC &lt;=256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goes to bus off state</a:t>
            </a:r>
            <a:endParaRPr/>
          </a:p>
        </p:txBody>
      </p:sp>
      <p:sp>
        <p:nvSpPr>
          <p:cNvPr id="307" name="Google Shape;307;p23"/>
          <p:cNvSpPr txBox="1">
            <a:spLocks noGrp="1"/>
          </p:cNvSpPr>
          <p:nvPr>
            <p:ph type="title"/>
          </p:nvPr>
        </p:nvSpPr>
        <p:spPr>
          <a:xfrm>
            <a:off x="875726" y="167683"/>
            <a:ext cx="10515600" cy="1013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Fault Confinement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2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098859" y="1698347"/>
            <a:ext cx="9994282" cy="3939607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13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Fault Confinement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>
          <a:extLst>
            <a:ext uri="{FF2B5EF4-FFF2-40B4-BE49-F238E27FC236}">
              <a16:creationId xmlns:a16="http://schemas.microsoft.com/office/drawing/2014/main" id="{16AAE625-4B22-A2C2-0927-458C41E4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>
            <a:extLst>
              <a:ext uri="{FF2B5EF4-FFF2-40B4-BE49-F238E27FC236}">
                <a16:creationId xmlns:a16="http://schemas.microsoft.com/office/drawing/2014/main" id="{117B0BA8-3421-DC9F-F485-5D410A146A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13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4400"/>
              <a:buFont typeface="Times New Roman"/>
              <a:buNone/>
            </a:pPr>
            <a:r>
              <a:rPr lang="en-US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ISOTP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059A7-9B57-9403-21BD-2826197DDB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6667" y="1825625"/>
            <a:ext cx="10515600" cy="4736042"/>
          </a:xfrm>
        </p:spPr>
        <p:txBody>
          <a:bodyPr/>
          <a:lstStyle/>
          <a:p>
            <a:r>
              <a:rPr lang="en-US" dirty="0">
                <a:solidFill>
                  <a:srgbClr val="1E4E79"/>
                </a:solidFill>
              </a:rPr>
              <a:t>A Classical CAN frame can carry maximum of </a:t>
            </a:r>
            <a:r>
              <a:rPr lang="en-US" dirty="0">
                <a:solidFill>
                  <a:srgbClr val="833C0B"/>
                </a:solidFill>
              </a:rPr>
              <a:t>8 bytes </a:t>
            </a:r>
            <a:r>
              <a:rPr lang="en-US" dirty="0">
                <a:solidFill>
                  <a:srgbClr val="1E4E79"/>
                </a:solidFill>
              </a:rPr>
              <a:t>of data</a:t>
            </a:r>
          </a:p>
          <a:p>
            <a:r>
              <a:rPr lang="en-US" dirty="0">
                <a:solidFill>
                  <a:srgbClr val="1E4E79"/>
                </a:solidFill>
              </a:rPr>
              <a:t>With ISO-TP:</a:t>
            </a:r>
          </a:p>
          <a:p>
            <a:pPr marL="76200" indent="0">
              <a:buNone/>
            </a:pPr>
            <a:r>
              <a:rPr lang="en-US" dirty="0">
                <a:solidFill>
                  <a:srgbClr val="1E4E79"/>
                </a:solidFill>
              </a:rPr>
              <a:t>	The message is divided into multiple CAN frames and reconstructed by the 	receiver.</a:t>
            </a:r>
          </a:p>
          <a:p>
            <a:pPr marL="76200" indent="0">
              <a:buNone/>
            </a:pPr>
            <a:r>
              <a:rPr lang="en-US" dirty="0">
                <a:solidFill>
                  <a:srgbClr val="833C0B"/>
                </a:solidFill>
              </a:rPr>
              <a:t>Types of ISO-TP Frames</a:t>
            </a:r>
          </a:p>
          <a:p>
            <a:pPr marL="533400" indent="-457200">
              <a:buFont typeface="+mj-lt"/>
              <a:buAutoNum type="arabicPeriod"/>
            </a:pPr>
            <a:r>
              <a:rPr lang="en-US" dirty="0">
                <a:solidFill>
                  <a:srgbClr val="1E4E79"/>
                </a:solidFill>
              </a:rPr>
              <a:t>Single Frame (SF)</a:t>
            </a:r>
          </a:p>
          <a:p>
            <a:pPr marL="533400" indent="-457200">
              <a:buFont typeface="+mj-lt"/>
              <a:buAutoNum type="arabicPeriod"/>
            </a:pPr>
            <a:r>
              <a:rPr lang="en-US" dirty="0">
                <a:solidFill>
                  <a:srgbClr val="1E4E79"/>
                </a:solidFill>
              </a:rPr>
              <a:t>First Frame (FF)</a:t>
            </a:r>
          </a:p>
          <a:p>
            <a:pPr marL="533400" indent="-457200">
              <a:buFont typeface="+mj-lt"/>
              <a:buAutoNum type="arabicPeriod"/>
            </a:pPr>
            <a:r>
              <a:rPr lang="en-US" dirty="0">
                <a:solidFill>
                  <a:srgbClr val="1E4E79"/>
                </a:solidFill>
              </a:rPr>
              <a:t>Flow Control (FC)</a:t>
            </a:r>
          </a:p>
          <a:p>
            <a:pPr marL="533400" indent="-457200">
              <a:buFont typeface="+mj-lt"/>
              <a:buAutoNum type="arabicPeriod"/>
            </a:pPr>
            <a:r>
              <a:rPr lang="en-US" dirty="0">
                <a:solidFill>
                  <a:srgbClr val="1E4E79"/>
                </a:solidFill>
              </a:rPr>
              <a:t>Consecutive Frame (CF)</a:t>
            </a:r>
          </a:p>
        </p:txBody>
      </p:sp>
    </p:spTree>
    <p:extLst>
      <p:ext uri="{BB962C8B-B14F-4D97-AF65-F5344CB8AC3E}">
        <p14:creationId xmlns:p14="http://schemas.microsoft.com/office/powerpoint/2010/main" val="422169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>
          <a:extLst>
            <a:ext uri="{FF2B5EF4-FFF2-40B4-BE49-F238E27FC236}">
              <a16:creationId xmlns:a16="http://schemas.microsoft.com/office/drawing/2014/main" id="{FDE0D942-3CF0-E70A-73C8-A09B87FC1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>
            <a:extLst>
              <a:ext uri="{FF2B5EF4-FFF2-40B4-BE49-F238E27FC236}">
                <a16:creationId xmlns:a16="http://schemas.microsoft.com/office/drawing/2014/main" id="{AB28D093-DD32-369A-441B-EBDFD539F4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13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Clr>
                <a:srgbClr val="00B050"/>
              </a:buClr>
            </a:pPr>
            <a:r>
              <a:rPr lang="en-US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ISOTP - </a:t>
            </a:r>
            <a:r>
              <a:rPr lang="en-US" dirty="0">
                <a:solidFill>
                  <a:srgbClr val="00B050"/>
                </a:solidFill>
              </a:rPr>
              <a:t>Single Frame (SF)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E67713-77FF-922F-FBF3-45E3BA1EC5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6667" y="1825625"/>
            <a:ext cx="10515600" cy="11231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1E4E79"/>
                </a:solidFill>
              </a:rPr>
              <a:t>Used when the message size is </a:t>
            </a:r>
            <a:r>
              <a:rPr lang="en-US" dirty="0">
                <a:solidFill>
                  <a:srgbClr val="833C0B"/>
                </a:solidFill>
              </a:rPr>
              <a:t>7 bytes </a:t>
            </a:r>
            <a:r>
              <a:rPr lang="en-US" dirty="0">
                <a:solidFill>
                  <a:srgbClr val="1E4E79"/>
                </a:solidFill>
              </a:rPr>
              <a:t>or less.</a:t>
            </a:r>
          </a:p>
          <a:p>
            <a:pPr marL="76200" indent="0">
              <a:buNone/>
            </a:pPr>
            <a:r>
              <a:rPr lang="en-US" dirty="0">
                <a:solidFill>
                  <a:srgbClr val="833C0B"/>
                </a:solidFill>
              </a:rPr>
              <a:t>CAN Frame Structure</a:t>
            </a:r>
            <a:endParaRPr lang="en-US" dirty="0">
              <a:solidFill>
                <a:srgbClr val="1E4E79"/>
              </a:solidFill>
            </a:endParaRPr>
          </a:p>
          <a:p>
            <a:pPr marL="76200" indent="0">
              <a:buNone/>
            </a:pPr>
            <a:endParaRPr lang="en-US" dirty="0">
              <a:solidFill>
                <a:srgbClr val="1E4E79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48C4B5-EDFE-E747-13DB-AC24C58D69FB}"/>
              </a:ext>
            </a:extLst>
          </p:cNvPr>
          <p:cNvSpPr/>
          <p:nvPr/>
        </p:nvSpPr>
        <p:spPr>
          <a:xfrm>
            <a:off x="990601" y="3558808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ID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064B85-8CB8-B08A-115B-F4A33ACC2EE9}"/>
              </a:ext>
            </a:extLst>
          </p:cNvPr>
          <p:cNvSpPr/>
          <p:nvPr/>
        </p:nvSpPr>
        <p:spPr>
          <a:xfrm>
            <a:off x="2218267" y="3558808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DLC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323835-1BAB-04D5-5225-24CD51A9D9CA}"/>
              </a:ext>
            </a:extLst>
          </p:cNvPr>
          <p:cNvSpPr/>
          <p:nvPr/>
        </p:nvSpPr>
        <p:spPr>
          <a:xfrm>
            <a:off x="3445933" y="3558807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C2E8A2-73AC-2E93-7E3F-3598DB6BE582}"/>
              </a:ext>
            </a:extLst>
          </p:cNvPr>
          <p:cNvSpPr/>
          <p:nvPr/>
        </p:nvSpPr>
        <p:spPr>
          <a:xfrm>
            <a:off x="990601" y="4179521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0x7E0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286EEA-6D3B-39D5-764D-8D549A190DCB}"/>
              </a:ext>
            </a:extLst>
          </p:cNvPr>
          <p:cNvSpPr/>
          <p:nvPr/>
        </p:nvSpPr>
        <p:spPr>
          <a:xfrm>
            <a:off x="2218267" y="4179520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C451C4-05E3-E019-D0CF-93AB5BF7165C}"/>
              </a:ext>
            </a:extLst>
          </p:cNvPr>
          <p:cNvSpPr/>
          <p:nvPr/>
        </p:nvSpPr>
        <p:spPr>
          <a:xfrm>
            <a:off x="3445933" y="4179519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C4D43C-B7A0-0E43-8915-20240267F466}"/>
              </a:ext>
            </a:extLst>
          </p:cNvPr>
          <p:cNvSpPr/>
          <p:nvPr/>
        </p:nvSpPr>
        <p:spPr>
          <a:xfrm>
            <a:off x="4059766" y="4179519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835275-980B-A973-4B40-12585042C8A5}"/>
              </a:ext>
            </a:extLst>
          </p:cNvPr>
          <p:cNvSpPr/>
          <p:nvPr/>
        </p:nvSpPr>
        <p:spPr>
          <a:xfrm>
            <a:off x="4673599" y="4179519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603DC7-58A2-8A46-532C-D362BB0A7F14}"/>
              </a:ext>
            </a:extLst>
          </p:cNvPr>
          <p:cNvSpPr/>
          <p:nvPr/>
        </p:nvSpPr>
        <p:spPr>
          <a:xfrm>
            <a:off x="5287432" y="4179518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401DC5-76D8-C9C9-30F8-7A5DB3FB1638}"/>
              </a:ext>
            </a:extLst>
          </p:cNvPr>
          <p:cNvSpPr/>
          <p:nvPr/>
        </p:nvSpPr>
        <p:spPr>
          <a:xfrm>
            <a:off x="5858929" y="4179517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0EA209-44A5-9302-28FA-447D21BAAC38}"/>
              </a:ext>
            </a:extLst>
          </p:cNvPr>
          <p:cNvSpPr/>
          <p:nvPr/>
        </p:nvSpPr>
        <p:spPr>
          <a:xfrm>
            <a:off x="6481231" y="4179516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74EC89-B268-DB6C-B263-92A2D20DB3C6}"/>
              </a:ext>
            </a:extLst>
          </p:cNvPr>
          <p:cNvSpPr txBox="1"/>
          <p:nvPr/>
        </p:nvSpPr>
        <p:spPr>
          <a:xfrm>
            <a:off x="5482163" y="2898510"/>
            <a:ext cx="52281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PCI (protocol control information) 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99CA6A-0E6F-2057-8B05-FC415C26E66D}"/>
              </a:ext>
            </a:extLst>
          </p:cNvPr>
          <p:cNvCxnSpPr/>
          <p:nvPr/>
        </p:nvCxnSpPr>
        <p:spPr>
          <a:xfrm flipV="1">
            <a:off x="4368800" y="3073402"/>
            <a:ext cx="1037168" cy="4995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5FE6382-8366-8825-FB71-427F56544029}"/>
              </a:ext>
            </a:extLst>
          </p:cNvPr>
          <p:cNvSpPr txBox="1"/>
          <p:nvPr/>
        </p:nvSpPr>
        <p:spPr>
          <a:xfrm>
            <a:off x="3291417" y="5110674"/>
            <a:ext cx="52281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PCI = 0x07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Lower Nibble =	7 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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 Length Information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Upper  Nibble =	0 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 Frame information</a:t>
            </a:r>
            <a:endParaRPr lang="en-US" sz="2000" dirty="0">
              <a:solidFill>
                <a:srgbClr val="1E4E79"/>
              </a:solidFill>
              <a:latin typeface="Times New Roman"/>
              <a:cs typeface="Times New Roman"/>
              <a:sym typeface="Times New Roman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FB7989-B32A-AC6F-125E-8731781982D5}"/>
              </a:ext>
            </a:extLst>
          </p:cNvPr>
          <p:cNvSpPr txBox="1"/>
          <p:nvPr/>
        </p:nvSpPr>
        <p:spPr>
          <a:xfrm>
            <a:off x="8360830" y="5225752"/>
            <a:ext cx="39052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0x0X  → Single Frame (SF)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0x1X  → First Frame (FF)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0x2X  → Consecutive Frame (CF)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0x3X  → Flow Control (FC)</a:t>
            </a:r>
            <a:endParaRPr lang="en-US" sz="2000" dirty="0">
              <a:solidFill>
                <a:srgbClr val="1E4E79"/>
              </a:solidFill>
              <a:latin typeface="Times New Roman"/>
              <a:cs typeface="Times New Roman"/>
              <a:sym typeface="Times New Roman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A90EDBB-6155-1499-DAAD-8554AA4DF54C}"/>
              </a:ext>
            </a:extLst>
          </p:cNvPr>
          <p:cNvCxnSpPr>
            <a:cxnSpLocks/>
          </p:cNvCxnSpPr>
          <p:nvPr/>
        </p:nvCxnSpPr>
        <p:spPr>
          <a:xfrm>
            <a:off x="3826929" y="4698400"/>
            <a:ext cx="0" cy="4578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A0D8C70-7E03-AAB5-4D39-6F52E55E946C}"/>
              </a:ext>
            </a:extLst>
          </p:cNvPr>
          <p:cNvCxnSpPr>
            <a:cxnSpLocks/>
          </p:cNvCxnSpPr>
          <p:nvPr/>
        </p:nvCxnSpPr>
        <p:spPr>
          <a:xfrm>
            <a:off x="7831662" y="5971538"/>
            <a:ext cx="52916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B2B3E465-0801-1D1C-9FFA-466512EE6C56}"/>
              </a:ext>
            </a:extLst>
          </p:cNvPr>
          <p:cNvSpPr/>
          <p:nvPr/>
        </p:nvSpPr>
        <p:spPr>
          <a:xfrm>
            <a:off x="4673599" y="3555355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(1 to 7 bytes) 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F4BFC10-ECB5-747B-94C1-163FCFD2AB74}"/>
              </a:ext>
            </a:extLst>
          </p:cNvPr>
          <p:cNvSpPr/>
          <p:nvPr/>
        </p:nvSpPr>
        <p:spPr>
          <a:xfrm>
            <a:off x="7052728" y="4179516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9FF161F-ABDF-7F66-414C-C34A5D219EB4}"/>
              </a:ext>
            </a:extLst>
          </p:cNvPr>
          <p:cNvSpPr/>
          <p:nvPr/>
        </p:nvSpPr>
        <p:spPr>
          <a:xfrm>
            <a:off x="7662326" y="4179515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813536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3" grpId="0"/>
      <p:bldP spid="3" grpId="0" build="p"/>
      <p:bldP spid="2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8" grpId="0"/>
      <p:bldP spid="22" grpId="0"/>
      <p:bldP spid="23" grpId="0"/>
      <p:bldP spid="43" grpId="0" animBg="1"/>
      <p:bldP spid="44" grpId="0" animBg="1"/>
      <p:bldP spid="4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>
          <a:extLst>
            <a:ext uri="{FF2B5EF4-FFF2-40B4-BE49-F238E27FC236}">
              <a16:creationId xmlns:a16="http://schemas.microsoft.com/office/drawing/2014/main" id="{06C11A27-9886-E121-24EF-7D95AC64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>
            <a:extLst>
              <a:ext uri="{FF2B5EF4-FFF2-40B4-BE49-F238E27FC236}">
                <a16:creationId xmlns:a16="http://schemas.microsoft.com/office/drawing/2014/main" id="{5738C53E-9652-7F03-695A-273996B8CE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13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Clr>
                <a:srgbClr val="00B050"/>
              </a:buClr>
            </a:pPr>
            <a:r>
              <a:rPr lang="en-US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ISOTP - </a:t>
            </a:r>
            <a:r>
              <a:rPr lang="en-US" dirty="0">
                <a:solidFill>
                  <a:srgbClr val="00B050"/>
                </a:solidFill>
              </a:rPr>
              <a:t>First Frame (FF)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B2222A-836B-81C2-490D-71CBA4FF7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6667" y="1825625"/>
            <a:ext cx="10515600" cy="1123146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1E4E79"/>
                </a:solidFill>
              </a:rPr>
              <a:t>Used when the message is </a:t>
            </a:r>
            <a:r>
              <a:rPr lang="en-US" dirty="0">
                <a:solidFill>
                  <a:srgbClr val="833C0B"/>
                </a:solidFill>
              </a:rPr>
              <a:t>greater than 7 bytes</a:t>
            </a:r>
            <a:r>
              <a:rPr lang="en-US" dirty="0">
                <a:solidFill>
                  <a:srgbClr val="1E4E79"/>
                </a:solidFill>
              </a:rPr>
              <a:t>.</a:t>
            </a:r>
          </a:p>
          <a:p>
            <a:pPr marL="76200" indent="0">
              <a:buNone/>
            </a:pPr>
            <a:r>
              <a:rPr lang="en-US" dirty="0">
                <a:solidFill>
                  <a:srgbClr val="833C0B"/>
                </a:solidFill>
              </a:rPr>
              <a:t>Example : Suppose we want to send 20 bytes of data </a:t>
            </a:r>
          </a:p>
          <a:p>
            <a:pPr marL="76200" indent="0">
              <a:buNone/>
            </a:pPr>
            <a:r>
              <a:rPr lang="en-US" dirty="0">
                <a:solidFill>
                  <a:srgbClr val="1E4E79"/>
                </a:solidFill>
              </a:rPr>
              <a:t>CAN Frame Structure</a:t>
            </a:r>
          </a:p>
          <a:p>
            <a:pPr marL="76200" indent="0">
              <a:buNone/>
            </a:pPr>
            <a:endParaRPr lang="en-US" dirty="0">
              <a:solidFill>
                <a:srgbClr val="1E4E79"/>
              </a:solidFill>
            </a:endParaRPr>
          </a:p>
          <a:p>
            <a:pPr marL="76200" indent="0">
              <a:buNone/>
            </a:pPr>
            <a:endParaRPr lang="en-US" dirty="0">
              <a:solidFill>
                <a:srgbClr val="1E4E79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75FF0-966B-7D31-6473-FBE8A998D8A8}"/>
              </a:ext>
            </a:extLst>
          </p:cNvPr>
          <p:cNvSpPr/>
          <p:nvPr/>
        </p:nvSpPr>
        <p:spPr>
          <a:xfrm>
            <a:off x="990601" y="3558808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ID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8087E3-3195-DA7A-4861-92CE36520B10}"/>
              </a:ext>
            </a:extLst>
          </p:cNvPr>
          <p:cNvSpPr/>
          <p:nvPr/>
        </p:nvSpPr>
        <p:spPr>
          <a:xfrm>
            <a:off x="2218267" y="3558808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DLC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84646C-72AD-88DA-C35E-F7AECAD9664A}"/>
              </a:ext>
            </a:extLst>
          </p:cNvPr>
          <p:cNvSpPr/>
          <p:nvPr/>
        </p:nvSpPr>
        <p:spPr>
          <a:xfrm>
            <a:off x="3445933" y="3558807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PCI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996DF8-4359-C0DA-322A-0BAE0C5E5DE2}"/>
              </a:ext>
            </a:extLst>
          </p:cNvPr>
          <p:cNvSpPr/>
          <p:nvPr/>
        </p:nvSpPr>
        <p:spPr>
          <a:xfrm>
            <a:off x="990601" y="4179521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0x7E0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96C71A-40EC-0EC1-3676-3DA75A63BBCE}"/>
              </a:ext>
            </a:extLst>
          </p:cNvPr>
          <p:cNvSpPr/>
          <p:nvPr/>
        </p:nvSpPr>
        <p:spPr>
          <a:xfrm>
            <a:off x="2218267" y="4179520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C0F11E-F18C-3A4A-5592-0F6F8C230494}"/>
              </a:ext>
            </a:extLst>
          </p:cNvPr>
          <p:cNvSpPr/>
          <p:nvPr/>
        </p:nvSpPr>
        <p:spPr>
          <a:xfrm>
            <a:off x="3445933" y="4179519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0X10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9470DD-94D6-5D55-661A-7E892CCE99E9}"/>
              </a:ext>
            </a:extLst>
          </p:cNvPr>
          <p:cNvSpPr/>
          <p:nvPr/>
        </p:nvSpPr>
        <p:spPr>
          <a:xfrm>
            <a:off x="4059766" y="4179519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655E67-8BD6-E914-1CA7-622C0764BDDE}"/>
              </a:ext>
            </a:extLst>
          </p:cNvPr>
          <p:cNvSpPr/>
          <p:nvPr/>
        </p:nvSpPr>
        <p:spPr>
          <a:xfrm>
            <a:off x="4673599" y="4179519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1151C5-F80D-3186-FFB2-96D9C8C66832}"/>
              </a:ext>
            </a:extLst>
          </p:cNvPr>
          <p:cNvSpPr/>
          <p:nvPr/>
        </p:nvSpPr>
        <p:spPr>
          <a:xfrm>
            <a:off x="5287432" y="4179518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81BD25-B3B5-4E80-DF16-B3BB09248757}"/>
              </a:ext>
            </a:extLst>
          </p:cNvPr>
          <p:cNvSpPr/>
          <p:nvPr/>
        </p:nvSpPr>
        <p:spPr>
          <a:xfrm>
            <a:off x="5858929" y="4179517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8264BE-E02A-76C2-8AF1-D711E1336DE0}"/>
              </a:ext>
            </a:extLst>
          </p:cNvPr>
          <p:cNvSpPr/>
          <p:nvPr/>
        </p:nvSpPr>
        <p:spPr>
          <a:xfrm>
            <a:off x="6481231" y="4179516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C9A29D-C7BB-5DC4-5F12-4B6454B0984D}"/>
              </a:ext>
            </a:extLst>
          </p:cNvPr>
          <p:cNvSpPr txBox="1"/>
          <p:nvPr/>
        </p:nvSpPr>
        <p:spPr>
          <a:xfrm>
            <a:off x="5482163" y="2898510"/>
            <a:ext cx="52281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PCI (protocol control information) 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D30204-3D7D-F991-258C-9B59B269FAEB}"/>
              </a:ext>
            </a:extLst>
          </p:cNvPr>
          <p:cNvCxnSpPr/>
          <p:nvPr/>
        </p:nvCxnSpPr>
        <p:spPr>
          <a:xfrm flipV="1">
            <a:off x="4368800" y="3073402"/>
            <a:ext cx="1037168" cy="4995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81A384C-BD4C-2DBC-A795-F778F7F70460}"/>
              </a:ext>
            </a:extLst>
          </p:cNvPr>
          <p:cNvSpPr txBox="1"/>
          <p:nvPr/>
        </p:nvSpPr>
        <p:spPr>
          <a:xfrm>
            <a:off x="1638300" y="5116572"/>
            <a:ext cx="52281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PCI = 0x10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Lower Nibble =	</a:t>
            </a:r>
            <a:r>
              <a:rPr lang="en-US" sz="2000" dirty="0">
                <a:solidFill>
                  <a:srgbClr val="FF0000"/>
                </a:solidFill>
                <a:latin typeface="Times New Roman"/>
                <a:cs typeface="Times New Roman"/>
                <a:sym typeface="Times New Roman"/>
              </a:rPr>
              <a:t>0 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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 Length Information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Upper  Nibble =	1 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 First Frame</a:t>
            </a:r>
            <a:endParaRPr lang="en-US" sz="2000" dirty="0">
              <a:solidFill>
                <a:srgbClr val="1E4E79"/>
              </a:solidFill>
              <a:latin typeface="Times New Roman"/>
              <a:cs typeface="Times New Roman"/>
              <a:sym typeface="Times New Roman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D30AB-3AB2-CF5D-9004-4652EF7DA0B3}"/>
              </a:ext>
            </a:extLst>
          </p:cNvPr>
          <p:cNvSpPr txBox="1"/>
          <p:nvPr/>
        </p:nvSpPr>
        <p:spPr>
          <a:xfrm>
            <a:off x="6790265" y="5192496"/>
            <a:ext cx="51646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4E79"/>
                </a:solidFill>
                <a:latin typeface="Times New Roman"/>
                <a:cs typeface="Times New Roman"/>
              </a:rPr>
              <a:t>The total message length is 12 bits, formed by combining:</a:t>
            </a:r>
          </a:p>
          <a:p>
            <a:r>
              <a:rPr lang="en-US" sz="1600" dirty="0">
                <a:solidFill>
                  <a:srgbClr val="1E4E79"/>
                </a:solidFill>
                <a:latin typeface="Times New Roman"/>
                <a:cs typeface="Times New Roman"/>
              </a:rPr>
              <a:t>Length	= (Lower nibble of Byte0 &lt;&lt; 8) | Byte1</a:t>
            </a:r>
          </a:p>
          <a:p>
            <a:r>
              <a:rPr lang="en-US" sz="1600" dirty="0">
                <a:solidFill>
                  <a:srgbClr val="1E4E79"/>
                </a:solidFill>
                <a:latin typeface="Times New Roman"/>
                <a:cs typeface="Times New Roman"/>
              </a:rPr>
              <a:t>Length	= (0x0 &lt;&lt; 8) | 0x14</a:t>
            </a:r>
          </a:p>
          <a:p>
            <a:r>
              <a:rPr lang="en-US" sz="1600" dirty="0">
                <a:solidFill>
                  <a:srgbClr val="1E4E79"/>
                </a:solidFill>
                <a:latin typeface="Times New Roman"/>
                <a:cs typeface="Times New Roman"/>
              </a:rPr>
              <a:t>	= 0x</a:t>
            </a:r>
            <a:r>
              <a:rPr lang="en-US" sz="1600" dirty="0">
                <a:solidFill>
                  <a:srgbClr val="FF0000"/>
                </a:solidFill>
                <a:latin typeface="Times New Roman"/>
                <a:cs typeface="Times New Roman"/>
              </a:rPr>
              <a:t>0</a:t>
            </a:r>
            <a:r>
              <a:rPr lang="en-US" sz="1600" dirty="0">
                <a:solidFill>
                  <a:srgbClr val="1E4E79"/>
                </a:solidFill>
                <a:latin typeface="Times New Roman"/>
                <a:cs typeface="Times New Roman"/>
              </a:rPr>
              <a:t>14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F996B82-12BE-A093-7CE6-90C664AB7BAD}"/>
              </a:ext>
            </a:extLst>
          </p:cNvPr>
          <p:cNvCxnSpPr>
            <a:cxnSpLocks/>
          </p:cNvCxnSpPr>
          <p:nvPr/>
        </p:nvCxnSpPr>
        <p:spPr>
          <a:xfrm>
            <a:off x="3826929" y="4698400"/>
            <a:ext cx="0" cy="4578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7B95756-D9BF-B91F-E637-8BE4C589BFA0}"/>
              </a:ext>
            </a:extLst>
          </p:cNvPr>
          <p:cNvCxnSpPr>
            <a:cxnSpLocks/>
          </p:cNvCxnSpPr>
          <p:nvPr/>
        </p:nvCxnSpPr>
        <p:spPr>
          <a:xfrm>
            <a:off x="6096000" y="5624403"/>
            <a:ext cx="52916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E822A69-0CD7-97AE-18B7-EC0FFFB4B853}"/>
              </a:ext>
            </a:extLst>
          </p:cNvPr>
          <p:cNvSpPr txBox="1"/>
          <p:nvPr/>
        </p:nvSpPr>
        <p:spPr>
          <a:xfrm>
            <a:off x="8348137" y="3765923"/>
            <a:ext cx="376004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</a:rPr>
              <a:t>Suppose the </a:t>
            </a:r>
            <a:r>
              <a:rPr lang="en-US" sz="1600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message</a:t>
            </a:r>
            <a:r>
              <a:rPr lang="en-US" sz="1600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</a:rPr>
              <a:t> length is 300 bytes.</a:t>
            </a:r>
          </a:p>
          <a:p>
            <a:r>
              <a:rPr lang="en-US" sz="1600" dirty="0">
                <a:solidFill>
                  <a:srgbClr val="1E4E79"/>
                </a:solidFill>
                <a:latin typeface="Times New Roman"/>
                <a:cs typeface="Times New Roman"/>
              </a:rPr>
              <a:t>300 Dec to Hex </a:t>
            </a:r>
            <a:r>
              <a:rPr lang="en-US" sz="16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 0X12C</a:t>
            </a:r>
          </a:p>
          <a:p>
            <a:r>
              <a:rPr lang="en-US" sz="16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Byte 0 = 0X11</a:t>
            </a:r>
          </a:p>
          <a:p>
            <a:r>
              <a:rPr lang="en-US" sz="16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Byte 1 = 0X2C</a:t>
            </a:r>
            <a:endParaRPr lang="en-US" sz="1600" dirty="0">
              <a:solidFill>
                <a:srgbClr val="1E4E79"/>
              </a:solidFill>
              <a:latin typeface="Times New Roman"/>
              <a:cs typeface="Times New Roman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F0F868-7750-11ED-7481-607DBE24269E}"/>
              </a:ext>
            </a:extLst>
          </p:cNvPr>
          <p:cNvSpPr/>
          <p:nvPr/>
        </p:nvSpPr>
        <p:spPr>
          <a:xfrm>
            <a:off x="7103533" y="4183325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3F4DDA-DAAC-B9BB-9A7C-5000EC5E9EA8}"/>
              </a:ext>
            </a:extLst>
          </p:cNvPr>
          <p:cNvSpPr/>
          <p:nvPr/>
        </p:nvSpPr>
        <p:spPr>
          <a:xfrm>
            <a:off x="7717366" y="4183326"/>
            <a:ext cx="618068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BFF246-2AEE-2459-3F4F-0F771A741FD1}"/>
              </a:ext>
            </a:extLst>
          </p:cNvPr>
          <p:cNvSpPr/>
          <p:nvPr/>
        </p:nvSpPr>
        <p:spPr>
          <a:xfrm>
            <a:off x="4673599" y="3555355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Length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BC7C0E8-BD1C-DF77-7CE5-2E0467D2093A}"/>
              </a:ext>
            </a:extLst>
          </p:cNvPr>
          <p:cNvSpPr/>
          <p:nvPr/>
        </p:nvSpPr>
        <p:spPr>
          <a:xfrm>
            <a:off x="5888565" y="3555355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First 6 bytes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0F6E1E-145A-84CB-EFEE-D617FD8C8B98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368800" y="4721386"/>
            <a:ext cx="2497666" cy="62128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4045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3" grpId="0"/>
      <p:bldP spid="3" grpId="0" build="p"/>
      <p:bldP spid="2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8" grpId="0"/>
      <p:bldP spid="22" grpId="0"/>
      <p:bldP spid="23" grpId="0"/>
      <p:bldP spid="15" grpId="0"/>
      <p:bldP spid="16" grpId="0" animBg="1"/>
      <p:bldP spid="17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>
          <a:extLst>
            <a:ext uri="{FF2B5EF4-FFF2-40B4-BE49-F238E27FC236}">
              <a16:creationId xmlns:a16="http://schemas.microsoft.com/office/drawing/2014/main" id="{903F7B63-8E76-4C1C-D654-E54509D1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>
            <a:extLst>
              <a:ext uri="{FF2B5EF4-FFF2-40B4-BE49-F238E27FC236}">
                <a16:creationId xmlns:a16="http://schemas.microsoft.com/office/drawing/2014/main" id="{0F7389A9-9AA2-7997-B22C-61B557AFD1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13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Clr>
                <a:srgbClr val="00B050"/>
              </a:buClr>
            </a:pPr>
            <a:r>
              <a:rPr lang="en-US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ISOTP - </a:t>
            </a:r>
            <a:r>
              <a:rPr lang="en-US" dirty="0">
                <a:solidFill>
                  <a:srgbClr val="00B050"/>
                </a:solidFill>
              </a:rPr>
              <a:t>Flow Control (FC)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4A7534C-D8B3-85E2-12A0-0867F0B5E6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6667" y="1825625"/>
            <a:ext cx="6629400" cy="3415242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1E4E79"/>
                </a:solidFill>
              </a:rPr>
              <a:t>After receiving the First Frame, the </a:t>
            </a:r>
            <a:r>
              <a:rPr lang="en-US" dirty="0">
                <a:solidFill>
                  <a:srgbClr val="833C0B"/>
                </a:solidFill>
              </a:rPr>
              <a:t>receiver</a:t>
            </a:r>
            <a:r>
              <a:rPr lang="en-US" sz="2000" dirty="0">
                <a:solidFill>
                  <a:srgbClr val="1E4E79"/>
                </a:solidFill>
              </a:rPr>
              <a:t> sends a Flow Control frame.</a:t>
            </a:r>
          </a:p>
          <a:p>
            <a:pPr marL="76200" indent="0">
              <a:buNone/>
            </a:pPr>
            <a:r>
              <a:rPr lang="en-US" dirty="0">
                <a:solidFill>
                  <a:srgbClr val="833C0B"/>
                </a:solidFill>
              </a:rPr>
              <a:t>Purpose:</a:t>
            </a:r>
          </a:p>
          <a:p>
            <a:r>
              <a:rPr lang="en-US" altLang="en-US" sz="2000" dirty="0">
                <a:solidFill>
                  <a:srgbClr val="1E4E79"/>
                </a:solidFill>
              </a:rPr>
              <a:t>Allow or pause transmission </a:t>
            </a:r>
          </a:p>
          <a:p>
            <a:r>
              <a:rPr lang="en-US" altLang="en-US" sz="2000" dirty="0">
                <a:solidFill>
                  <a:srgbClr val="1E4E79"/>
                </a:solidFill>
              </a:rPr>
              <a:t>Specify how many Consecutive Frames may be sent</a:t>
            </a:r>
          </a:p>
          <a:p>
            <a:r>
              <a:rPr lang="en-US" altLang="en-US" sz="2000" dirty="0">
                <a:solidFill>
                  <a:srgbClr val="1E4E79"/>
                </a:solidFill>
              </a:rPr>
              <a:t>Specify the delay between frames </a:t>
            </a:r>
          </a:p>
          <a:p>
            <a:pPr marL="76200" indent="0">
              <a:buNone/>
            </a:pPr>
            <a:r>
              <a:rPr lang="en-US" sz="2000" dirty="0">
                <a:solidFill>
                  <a:srgbClr val="1E4E79"/>
                </a:solidFill>
              </a:rPr>
              <a:t>CAN Frame Structure</a:t>
            </a:r>
          </a:p>
          <a:p>
            <a:endParaRPr lang="en-US" altLang="en-US" sz="2000" dirty="0">
              <a:solidFill>
                <a:srgbClr val="1E4E79"/>
              </a:solidFill>
            </a:endParaRPr>
          </a:p>
          <a:p>
            <a:endParaRPr lang="en-US" sz="2000" dirty="0">
              <a:solidFill>
                <a:srgbClr val="1E4E79"/>
              </a:solidFill>
            </a:endParaRPr>
          </a:p>
          <a:p>
            <a:endParaRPr lang="en-US" sz="2000" dirty="0">
              <a:solidFill>
                <a:srgbClr val="1E4E79"/>
              </a:solidFill>
            </a:endParaRPr>
          </a:p>
          <a:p>
            <a:pPr marL="76200" indent="0">
              <a:buNone/>
            </a:pPr>
            <a:endParaRPr lang="en-US" dirty="0">
              <a:solidFill>
                <a:srgbClr val="1E4E79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4C3DD75-C0F5-82A9-9866-2C7F4029CEA2}"/>
              </a:ext>
            </a:extLst>
          </p:cNvPr>
          <p:cNvSpPr/>
          <p:nvPr/>
        </p:nvSpPr>
        <p:spPr>
          <a:xfrm>
            <a:off x="846667" y="5074342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ID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46EE3F-ED78-7184-DC2F-243E6A1CED41}"/>
              </a:ext>
            </a:extLst>
          </p:cNvPr>
          <p:cNvSpPr/>
          <p:nvPr/>
        </p:nvSpPr>
        <p:spPr>
          <a:xfrm>
            <a:off x="2074333" y="5074342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DLC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2A9443B-BE01-514D-09AC-79A74A182B07}"/>
              </a:ext>
            </a:extLst>
          </p:cNvPr>
          <p:cNvSpPr/>
          <p:nvPr/>
        </p:nvSpPr>
        <p:spPr>
          <a:xfrm>
            <a:off x="3301999" y="5074341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4F1200-BC5E-495F-A03E-80049FE6D52A}"/>
              </a:ext>
            </a:extLst>
          </p:cNvPr>
          <p:cNvSpPr/>
          <p:nvPr/>
        </p:nvSpPr>
        <p:spPr>
          <a:xfrm>
            <a:off x="4529665" y="5074341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Block</a:t>
            </a:r>
          </a:p>
          <a:p>
            <a:pPr algn="ctr"/>
            <a:r>
              <a:rPr lang="en-US" dirty="0"/>
              <a:t>Size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C97478-2363-EEC5-BA3C-297FE62AB044}"/>
              </a:ext>
            </a:extLst>
          </p:cNvPr>
          <p:cNvSpPr/>
          <p:nvPr/>
        </p:nvSpPr>
        <p:spPr>
          <a:xfrm>
            <a:off x="5757331" y="5074340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  <a:p>
            <a:pPr algn="ctr"/>
            <a:r>
              <a:rPr lang="en-US" dirty="0"/>
              <a:t>Min (</a:t>
            </a:r>
            <a:r>
              <a:rPr lang="en-US" dirty="0" err="1"/>
              <a:t>ms</a:t>
            </a:r>
            <a:r>
              <a:rPr lang="en-US" dirty="0"/>
              <a:t>) 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94B97B5-0EE5-C866-5526-DA0FA69BA3CC}"/>
              </a:ext>
            </a:extLst>
          </p:cNvPr>
          <p:cNvSpPr/>
          <p:nvPr/>
        </p:nvSpPr>
        <p:spPr>
          <a:xfrm>
            <a:off x="838200" y="5768609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0x7E0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9ABCD9E-F929-F6C4-7614-BA9302B44352}"/>
              </a:ext>
            </a:extLst>
          </p:cNvPr>
          <p:cNvSpPr/>
          <p:nvPr/>
        </p:nvSpPr>
        <p:spPr>
          <a:xfrm>
            <a:off x="2065866" y="5768609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03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5FD8177-46D2-6E38-C688-989256DEA264}"/>
              </a:ext>
            </a:extLst>
          </p:cNvPr>
          <p:cNvSpPr/>
          <p:nvPr/>
        </p:nvSpPr>
        <p:spPr>
          <a:xfrm>
            <a:off x="3293532" y="5768608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30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B48AF89-98D7-2446-8B2B-AB8CA2D7FB56}"/>
              </a:ext>
            </a:extLst>
          </p:cNvPr>
          <p:cNvSpPr/>
          <p:nvPr/>
        </p:nvSpPr>
        <p:spPr>
          <a:xfrm>
            <a:off x="4521198" y="5768608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04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33C8C61-3681-7A19-4C74-89CC637365AC}"/>
              </a:ext>
            </a:extLst>
          </p:cNvPr>
          <p:cNvSpPr/>
          <p:nvPr/>
        </p:nvSpPr>
        <p:spPr>
          <a:xfrm>
            <a:off x="5748864" y="5768607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0A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42EC36-104B-288D-6CD9-922E02C2F525}"/>
              </a:ext>
            </a:extLst>
          </p:cNvPr>
          <p:cNvSpPr txBox="1"/>
          <p:nvPr/>
        </p:nvSpPr>
        <p:spPr>
          <a:xfrm>
            <a:off x="7349066" y="1825625"/>
            <a:ext cx="4368801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833C0B"/>
                </a:solidFill>
                <a:latin typeface="Times New Roman"/>
                <a:cs typeface="Times New Roman"/>
                <a:sym typeface="Times New Roman"/>
              </a:rPr>
              <a:t>Flow Status (FS)</a:t>
            </a:r>
          </a:p>
          <a:p>
            <a:endParaRPr lang="en-US" sz="2400" dirty="0">
              <a:solidFill>
                <a:srgbClr val="833C0B"/>
              </a:solidFill>
              <a:latin typeface="Times New Roman"/>
              <a:cs typeface="Times New Roman"/>
              <a:sym typeface="Times New Roman"/>
            </a:endParaRPr>
          </a:p>
          <a:p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Times New Roman"/>
                <a:cs typeface="Times New Roman"/>
              </a:rPr>
              <a:t>CTS(Continue to Send) - 0X30</a:t>
            </a:r>
          </a:p>
          <a:p>
            <a:r>
              <a:rPr lang="en-US" sz="1600" b="1" dirty="0">
                <a:solidFill>
                  <a:srgbClr val="00B050"/>
                </a:solidFill>
              </a:rPr>
              <a:t>Receiver 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Continue sending.</a:t>
            </a:r>
          </a:p>
          <a:p>
            <a:r>
              <a:rPr lang="en-US" dirty="0"/>
              <a:t>	</a:t>
            </a:r>
          </a:p>
          <a:p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Times New Roman"/>
                <a:cs typeface="Times New Roman"/>
              </a:rPr>
              <a:t>WT(Wait)	 - 0X31</a:t>
            </a:r>
          </a:p>
          <a:p>
            <a:r>
              <a:rPr lang="en-US" sz="1600" b="1" dirty="0">
                <a:solidFill>
                  <a:srgbClr val="00B050"/>
                </a:solidFill>
              </a:rPr>
              <a:t>Receiver: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</a:rPr>
              <a:t>Pause transmission and wait for next FC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</a:rPr>
              <a:t>Used when the receiver is temporarily busy.</a:t>
            </a:r>
          </a:p>
          <a:p>
            <a:endParaRPr lang="en-US" sz="1800" dirty="0">
              <a:solidFill>
                <a:srgbClr val="1E4E79"/>
              </a:solidFill>
              <a:latin typeface="Times New Roman"/>
              <a:cs typeface="Times New Roman"/>
            </a:endParaRPr>
          </a:p>
          <a:p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Times New Roman"/>
                <a:cs typeface="Times New Roman"/>
              </a:rPr>
              <a:t>OVFLW(Overflow)	- 0X32</a:t>
            </a:r>
          </a:p>
          <a:p>
            <a:r>
              <a:rPr lang="en-US" sz="1600" b="1" dirty="0">
                <a:solidFill>
                  <a:srgbClr val="00B050"/>
                </a:solidFill>
              </a:rPr>
              <a:t>Receiver</a:t>
            </a:r>
            <a:br>
              <a:rPr lang="en-US" sz="1600" dirty="0"/>
            </a:b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</a:rPr>
              <a:t>My buffer is full.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</a:rPr>
              <a:t>Stop transmission (Abort)</a:t>
            </a:r>
          </a:p>
        </p:txBody>
      </p:sp>
    </p:spTree>
    <p:extLst>
      <p:ext uri="{BB962C8B-B14F-4D97-AF65-F5344CB8AC3E}">
        <p14:creationId xmlns:p14="http://schemas.microsoft.com/office/powerpoint/2010/main" val="767907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28" grpId="0" animBg="1"/>
      <p:bldP spid="29" grpId="0" animBg="1"/>
      <p:bldP spid="30" grpId="0" animBg="1"/>
      <p:bldP spid="31" grpId="0" animBg="1"/>
      <p:bldP spid="32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>
          <a:extLst>
            <a:ext uri="{FF2B5EF4-FFF2-40B4-BE49-F238E27FC236}">
              <a16:creationId xmlns:a16="http://schemas.microsoft.com/office/drawing/2014/main" id="{C0AC8379-6A47-CABC-27EB-3811589C8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>
            <a:extLst>
              <a:ext uri="{FF2B5EF4-FFF2-40B4-BE49-F238E27FC236}">
                <a16:creationId xmlns:a16="http://schemas.microsoft.com/office/drawing/2014/main" id="{143D589B-57CF-0568-208F-C56EF6F9E0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13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Clr>
                <a:srgbClr val="00B050"/>
              </a:buClr>
            </a:pPr>
            <a:r>
              <a:rPr lang="en-US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ISOTP - </a:t>
            </a:r>
            <a:r>
              <a:rPr lang="en-US" dirty="0">
                <a:solidFill>
                  <a:srgbClr val="00B050"/>
                </a:solidFill>
              </a:rPr>
              <a:t>Flow Control (FC)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BCC485-521B-8E42-BE44-7066DE92DDBA}"/>
              </a:ext>
            </a:extLst>
          </p:cNvPr>
          <p:cNvSpPr txBox="1"/>
          <p:nvPr/>
        </p:nvSpPr>
        <p:spPr>
          <a:xfrm>
            <a:off x="491067" y="1859340"/>
            <a:ext cx="568113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Block Size</a:t>
            </a:r>
          </a:p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Block Size controls how many Consecutive Frames the sender may transmit before waiting for another Flow Control frame.</a:t>
            </a:r>
          </a:p>
          <a:p>
            <a:endParaRPr lang="en-US" sz="2400" dirty="0">
              <a:solidFill>
                <a:srgbClr val="833C0B"/>
              </a:solidFill>
              <a:latin typeface="Times New Roman"/>
              <a:ea typeface="Times New Roman"/>
              <a:cs typeface="Times New Roman"/>
            </a:endParaRPr>
          </a:p>
          <a:p>
            <a:r>
              <a:rPr lang="en-US" sz="2400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</a:rPr>
              <a:t>Example :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ea typeface="Times New Roman"/>
                <a:cs typeface="Times New Roman"/>
              </a:rPr>
              <a:t>Block size is 4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3F2708E-7631-795B-B285-FB8F48ADB7B8}"/>
              </a:ext>
            </a:extLst>
          </p:cNvPr>
          <p:cNvSpPr/>
          <p:nvPr/>
        </p:nvSpPr>
        <p:spPr>
          <a:xfrm>
            <a:off x="6739467" y="1532467"/>
            <a:ext cx="1109133" cy="3863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Sender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B5B8D7E-5F11-8A9F-B5F7-08E069F55C3F}"/>
              </a:ext>
            </a:extLst>
          </p:cNvPr>
          <p:cNvSpPr/>
          <p:nvPr/>
        </p:nvSpPr>
        <p:spPr>
          <a:xfrm>
            <a:off x="9863666" y="1532467"/>
            <a:ext cx="1109133" cy="3863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Receiver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A30C6C2-E4CC-8C13-0CAA-2367C51A06FD}"/>
              </a:ext>
            </a:extLst>
          </p:cNvPr>
          <p:cNvSpPr/>
          <p:nvPr/>
        </p:nvSpPr>
        <p:spPr>
          <a:xfrm>
            <a:off x="6843180" y="2694988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9766E6-FBBD-D105-E0B6-D318A94E3A0A}"/>
              </a:ext>
            </a:extLst>
          </p:cNvPr>
          <p:cNvSpPr/>
          <p:nvPr/>
        </p:nvSpPr>
        <p:spPr>
          <a:xfrm>
            <a:off x="6862230" y="4843118"/>
            <a:ext cx="783167" cy="3863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Wait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EB992A-A355-DD10-B3DA-F5D288618161}"/>
              </a:ext>
            </a:extLst>
          </p:cNvPr>
          <p:cNvCxnSpPr>
            <a:cxnSpLocks/>
          </p:cNvCxnSpPr>
          <p:nvPr/>
        </p:nvCxnSpPr>
        <p:spPr>
          <a:xfrm>
            <a:off x="7522633" y="2248080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DE67724-6D30-45D9-4EC8-FFE54BCFD9F8}"/>
              </a:ext>
            </a:extLst>
          </p:cNvPr>
          <p:cNvCxnSpPr/>
          <p:nvPr/>
        </p:nvCxnSpPr>
        <p:spPr>
          <a:xfrm>
            <a:off x="7482415" y="2859782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1A150E7-85D8-901C-908F-0E539FD35CCA}"/>
              </a:ext>
            </a:extLst>
          </p:cNvPr>
          <p:cNvCxnSpPr/>
          <p:nvPr/>
        </p:nvCxnSpPr>
        <p:spPr>
          <a:xfrm>
            <a:off x="7522633" y="3428294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211F9F7-4258-BCAB-A7FA-68BABE230F96}"/>
              </a:ext>
            </a:extLst>
          </p:cNvPr>
          <p:cNvCxnSpPr/>
          <p:nvPr/>
        </p:nvCxnSpPr>
        <p:spPr>
          <a:xfrm>
            <a:off x="7522633" y="3966197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443278-F397-9906-C31A-B77B8851A6A1}"/>
              </a:ext>
            </a:extLst>
          </p:cNvPr>
          <p:cNvCxnSpPr/>
          <p:nvPr/>
        </p:nvCxnSpPr>
        <p:spPr>
          <a:xfrm>
            <a:off x="7522633" y="4483910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3DD016B-A48D-8936-BA84-37527F2E67CC}"/>
              </a:ext>
            </a:extLst>
          </p:cNvPr>
          <p:cNvCxnSpPr/>
          <p:nvPr/>
        </p:nvCxnSpPr>
        <p:spPr>
          <a:xfrm>
            <a:off x="7522633" y="5773225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DFEA659-D098-3136-1622-C85D03D36E3D}"/>
              </a:ext>
            </a:extLst>
          </p:cNvPr>
          <p:cNvCxnSpPr/>
          <p:nvPr/>
        </p:nvCxnSpPr>
        <p:spPr>
          <a:xfrm>
            <a:off x="7522633" y="6337232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9117E93-300C-BA4C-87BC-63C75EA70389}"/>
              </a:ext>
            </a:extLst>
          </p:cNvPr>
          <p:cNvCxnSpPr>
            <a:cxnSpLocks/>
          </p:cNvCxnSpPr>
          <p:nvPr/>
        </p:nvCxnSpPr>
        <p:spPr>
          <a:xfrm flipH="1">
            <a:off x="7586132" y="2492188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FA5605A-8DAA-DFB9-84F0-D5142F6BD609}"/>
              </a:ext>
            </a:extLst>
          </p:cNvPr>
          <p:cNvCxnSpPr>
            <a:cxnSpLocks/>
          </p:cNvCxnSpPr>
          <p:nvPr/>
        </p:nvCxnSpPr>
        <p:spPr>
          <a:xfrm flipH="1">
            <a:off x="7619998" y="5325533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8C8A3D7-6D33-2AD2-AB49-CA513B58AD28}"/>
              </a:ext>
            </a:extLst>
          </p:cNvPr>
          <p:cNvSpPr/>
          <p:nvPr/>
        </p:nvSpPr>
        <p:spPr>
          <a:xfrm>
            <a:off x="6843179" y="3260742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CF2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F60DEB7-E030-5CC2-BBE5-8DBA1C7F7256}"/>
              </a:ext>
            </a:extLst>
          </p:cNvPr>
          <p:cNvSpPr/>
          <p:nvPr/>
        </p:nvSpPr>
        <p:spPr>
          <a:xfrm>
            <a:off x="6841063" y="3734500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CF3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90C30FA-A397-45B9-BF5C-8D56ED2471F0}"/>
              </a:ext>
            </a:extLst>
          </p:cNvPr>
          <p:cNvSpPr/>
          <p:nvPr/>
        </p:nvSpPr>
        <p:spPr>
          <a:xfrm>
            <a:off x="6841062" y="4254431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CF4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B7A968C5-F3A5-2814-2FD1-5CAA3045C52A}"/>
              </a:ext>
            </a:extLst>
          </p:cNvPr>
          <p:cNvSpPr/>
          <p:nvPr/>
        </p:nvSpPr>
        <p:spPr>
          <a:xfrm>
            <a:off x="6841062" y="2053035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FF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B0CEACC-F02D-3CBD-D402-E7320D0EA58D}"/>
              </a:ext>
            </a:extLst>
          </p:cNvPr>
          <p:cNvSpPr/>
          <p:nvPr/>
        </p:nvSpPr>
        <p:spPr>
          <a:xfrm>
            <a:off x="10223498" y="2305245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FC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E529B94-3B9F-0D35-0493-F558079936AD}"/>
              </a:ext>
            </a:extLst>
          </p:cNvPr>
          <p:cNvSpPr/>
          <p:nvPr/>
        </p:nvSpPr>
        <p:spPr>
          <a:xfrm>
            <a:off x="10223498" y="5138590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FC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BF4EC53-825A-114A-745A-3E3674AD9211}"/>
              </a:ext>
            </a:extLst>
          </p:cNvPr>
          <p:cNvSpPr/>
          <p:nvPr/>
        </p:nvSpPr>
        <p:spPr>
          <a:xfrm>
            <a:off x="6883398" y="5512475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CF5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DC4D0CD-DBBD-A146-646E-DAC29D59A43C}"/>
              </a:ext>
            </a:extLst>
          </p:cNvPr>
          <p:cNvSpPr/>
          <p:nvPr/>
        </p:nvSpPr>
        <p:spPr>
          <a:xfrm>
            <a:off x="6883398" y="6080668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E070DFE-CFF7-38E7-9482-B121430BC69F}"/>
              </a:ext>
            </a:extLst>
          </p:cNvPr>
          <p:cNvSpPr txBox="1"/>
          <p:nvPr/>
        </p:nvSpPr>
        <p:spPr>
          <a:xfrm>
            <a:off x="643467" y="4628316"/>
            <a:ext cx="609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If BS = 0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The sender transmits all remaining CFs without waiting for another FC frames.</a:t>
            </a:r>
          </a:p>
        </p:txBody>
      </p:sp>
    </p:spTree>
    <p:extLst>
      <p:ext uri="{BB962C8B-B14F-4D97-AF65-F5344CB8AC3E}">
        <p14:creationId xmlns:p14="http://schemas.microsoft.com/office/powerpoint/2010/main" val="333279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allAtOnce"/>
      <p:bldP spid="4" grpId="0" animBg="1"/>
      <p:bldP spid="5" grpId="0" animBg="1"/>
      <p:bldP spid="8" grpId="0" animBg="1"/>
      <p:bldP spid="12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>
          <a:extLst>
            <a:ext uri="{FF2B5EF4-FFF2-40B4-BE49-F238E27FC236}">
              <a16:creationId xmlns:a16="http://schemas.microsoft.com/office/drawing/2014/main" id="{8F2B1CD4-DFFF-9322-2578-A14B2A6A6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>
            <a:extLst>
              <a:ext uri="{FF2B5EF4-FFF2-40B4-BE49-F238E27FC236}">
                <a16:creationId xmlns:a16="http://schemas.microsoft.com/office/drawing/2014/main" id="{0ADDB38D-F8E6-3288-3409-8CAEC0947A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13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Clr>
                <a:srgbClr val="00B050"/>
              </a:buClr>
            </a:pPr>
            <a:r>
              <a:rPr lang="en-US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ISOTP - </a:t>
            </a:r>
            <a:r>
              <a:rPr lang="en-US" dirty="0">
                <a:solidFill>
                  <a:srgbClr val="00B050"/>
                </a:solidFill>
              </a:rPr>
              <a:t>Flow Control (FC)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D10910-F352-DDDC-9863-AF55DAB8F218}"/>
              </a:ext>
            </a:extLst>
          </p:cNvPr>
          <p:cNvSpPr txBox="1"/>
          <p:nvPr/>
        </p:nvSpPr>
        <p:spPr>
          <a:xfrm>
            <a:off x="491067" y="1859340"/>
            <a:ext cx="568113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rgbClr val="833C0B"/>
                </a:solidFill>
                <a:latin typeface="Times New Roman"/>
                <a:ea typeface="Times New Roman"/>
                <a:cs typeface="Times New Roman"/>
              </a:rPr>
              <a:t>STmin</a:t>
            </a:r>
            <a:r>
              <a:rPr lang="en-US" sz="2400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</a:rPr>
              <a:t> (Separation Time)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1E4E79"/>
                </a:solidFill>
                <a:latin typeface="Times New Roman"/>
                <a:cs typeface="Times New Roman"/>
              </a:rPr>
              <a:t>STmin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 defines the minimum delay between two Consecutive Frames.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1E4E79"/>
                </a:solidFill>
                <a:latin typeface="Times New Roman"/>
                <a:cs typeface="Times New Roman"/>
              </a:rPr>
              <a:t>STmin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 specifies the minimum time the sender must wait between transmitting Consecutive Frames.</a:t>
            </a:r>
          </a:p>
          <a:p>
            <a:r>
              <a:rPr lang="en-US" sz="2400" dirty="0">
                <a:solidFill>
                  <a:srgbClr val="833C0B"/>
                </a:solidFill>
                <a:latin typeface="Times New Roman"/>
                <a:ea typeface="Times New Roman"/>
                <a:cs typeface="Times New Roman"/>
              </a:rPr>
              <a:t>Example :</a:t>
            </a:r>
          </a:p>
          <a:p>
            <a:r>
              <a:rPr lang="en-US" sz="2000" dirty="0" err="1">
                <a:solidFill>
                  <a:srgbClr val="1E4E79"/>
                </a:solidFill>
                <a:latin typeface="Times New Roman"/>
                <a:cs typeface="Times New Roman"/>
              </a:rPr>
              <a:t>STmin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 = 5 </a:t>
            </a:r>
            <a:r>
              <a:rPr lang="en-US" sz="2000" dirty="0" err="1">
                <a:solidFill>
                  <a:srgbClr val="1E4E79"/>
                </a:solidFill>
                <a:latin typeface="Times New Roman"/>
                <a:cs typeface="Times New Roman"/>
              </a:rPr>
              <a:t>ms</a:t>
            </a:r>
            <a:endParaRPr lang="en-US" sz="2000" dirty="0">
              <a:solidFill>
                <a:srgbClr val="1E4E79"/>
              </a:solidFill>
              <a:latin typeface="Times New Roman"/>
              <a:cs typeface="Times New Roman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DBF24CE-62F6-A503-595D-78A510D126E9}"/>
              </a:ext>
            </a:extLst>
          </p:cNvPr>
          <p:cNvSpPr/>
          <p:nvPr/>
        </p:nvSpPr>
        <p:spPr>
          <a:xfrm>
            <a:off x="6957484" y="2074510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CF1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54ED5B-CE38-AE94-D5A7-9A6D15D5C5D8}"/>
              </a:ext>
            </a:extLst>
          </p:cNvPr>
          <p:cNvCxnSpPr/>
          <p:nvPr/>
        </p:nvCxnSpPr>
        <p:spPr>
          <a:xfrm>
            <a:off x="7596719" y="2239304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8F13108-A24D-D526-4FA0-3FD0295E4B31}"/>
              </a:ext>
            </a:extLst>
          </p:cNvPr>
          <p:cNvCxnSpPr/>
          <p:nvPr/>
        </p:nvCxnSpPr>
        <p:spPr>
          <a:xfrm>
            <a:off x="7683506" y="3417448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6EE566B-243E-166E-3A08-D78777ADC4A1}"/>
              </a:ext>
            </a:extLst>
          </p:cNvPr>
          <p:cNvCxnSpPr/>
          <p:nvPr/>
        </p:nvCxnSpPr>
        <p:spPr>
          <a:xfrm>
            <a:off x="7725841" y="4442849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3F04693-DF21-B7A6-8180-77F9717B66EC}"/>
              </a:ext>
            </a:extLst>
          </p:cNvPr>
          <p:cNvCxnSpPr/>
          <p:nvPr/>
        </p:nvCxnSpPr>
        <p:spPr>
          <a:xfrm>
            <a:off x="7768177" y="5368612"/>
            <a:ext cx="2603500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C364071-5328-690F-A6B8-3146A64C2260}"/>
              </a:ext>
            </a:extLst>
          </p:cNvPr>
          <p:cNvSpPr/>
          <p:nvPr/>
        </p:nvSpPr>
        <p:spPr>
          <a:xfrm>
            <a:off x="7004052" y="3249896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CF2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E0721CCC-8C54-F4D7-AC98-FCE40710E669}"/>
              </a:ext>
            </a:extLst>
          </p:cNvPr>
          <p:cNvSpPr/>
          <p:nvPr/>
        </p:nvSpPr>
        <p:spPr>
          <a:xfrm>
            <a:off x="7044271" y="4211152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CF3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EC70D34-6BFC-9EC0-8742-108281F2B27D}"/>
              </a:ext>
            </a:extLst>
          </p:cNvPr>
          <p:cNvSpPr/>
          <p:nvPr/>
        </p:nvSpPr>
        <p:spPr>
          <a:xfrm>
            <a:off x="7086606" y="5139133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CF4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D6321B-83B8-046A-0F07-41551B5595B1}"/>
              </a:ext>
            </a:extLst>
          </p:cNvPr>
          <p:cNvCxnSpPr>
            <a:cxnSpLocks/>
          </p:cNvCxnSpPr>
          <p:nvPr/>
        </p:nvCxnSpPr>
        <p:spPr>
          <a:xfrm>
            <a:off x="7150101" y="2877449"/>
            <a:ext cx="3153832" cy="0"/>
          </a:xfrm>
          <a:prstGeom prst="straightConnector1">
            <a:avLst/>
          </a:prstGeom>
          <a:ln w="28575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0F080885-C075-6606-4295-37141868A799}"/>
              </a:ext>
            </a:extLst>
          </p:cNvPr>
          <p:cNvSpPr/>
          <p:nvPr/>
        </p:nvSpPr>
        <p:spPr>
          <a:xfrm>
            <a:off x="8229599" y="2696788"/>
            <a:ext cx="821267" cy="3601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5ms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B5E888-653F-1CAF-CCA5-C48E7CE4049D}"/>
              </a:ext>
            </a:extLst>
          </p:cNvPr>
          <p:cNvCxnSpPr>
            <a:cxnSpLocks/>
          </p:cNvCxnSpPr>
          <p:nvPr/>
        </p:nvCxnSpPr>
        <p:spPr>
          <a:xfrm>
            <a:off x="7150101" y="3858096"/>
            <a:ext cx="3153832" cy="0"/>
          </a:xfrm>
          <a:prstGeom prst="straightConnector1">
            <a:avLst/>
          </a:prstGeom>
          <a:ln w="28575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420DA5D-3D1A-13A8-60FB-0993C7A4FC4F}"/>
              </a:ext>
            </a:extLst>
          </p:cNvPr>
          <p:cNvSpPr/>
          <p:nvPr/>
        </p:nvSpPr>
        <p:spPr>
          <a:xfrm>
            <a:off x="8229599" y="3677435"/>
            <a:ext cx="821267" cy="3601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5ms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C2042A-2251-9731-4CE1-3C4F6B5C1829}"/>
              </a:ext>
            </a:extLst>
          </p:cNvPr>
          <p:cNvCxnSpPr>
            <a:cxnSpLocks/>
          </p:cNvCxnSpPr>
          <p:nvPr/>
        </p:nvCxnSpPr>
        <p:spPr>
          <a:xfrm>
            <a:off x="7158567" y="4827331"/>
            <a:ext cx="3153832" cy="0"/>
          </a:xfrm>
          <a:prstGeom prst="straightConnector1">
            <a:avLst/>
          </a:prstGeom>
          <a:ln w="28575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62E74ADC-859F-B81E-6AD9-2333E461701E}"/>
              </a:ext>
            </a:extLst>
          </p:cNvPr>
          <p:cNvSpPr/>
          <p:nvPr/>
        </p:nvSpPr>
        <p:spPr>
          <a:xfrm>
            <a:off x="8238065" y="4646670"/>
            <a:ext cx="821267" cy="3601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5ms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3D3689F-CE30-4991-9C88-EB36CA741611}"/>
              </a:ext>
            </a:extLst>
          </p:cNvPr>
          <p:cNvSpPr/>
          <p:nvPr/>
        </p:nvSpPr>
        <p:spPr>
          <a:xfrm>
            <a:off x="491067" y="5097679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0x7E0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991E00-BE51-5A12-B0EE-6D4AE6DD447C}"/>
              </a:ext>
            </a:extLst>
          </p:cNvPr>
          <p:cNvSpPr/>
          <p:nvPr/>
        </p:nvSpPr>
        <p:spPr>
          <a:xfrm>
            <a:off x="1718733" y="5097679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F09A1D0-86CB-DCD5-87F4-D40793C653E7}"/>
              </a:ext>
            </a:extLst>
          </p:cNvPr>
          <p:cNvSpPr/>
          <p:nvPr/>
        </p:nvSpPr>
        <p:spPr>
          <a:xfrm>
            <a:off x="2946399" y="5097678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30 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03A03F2-62B7-E31E-4AD5-E4E6C949C2C0}"/>
              </a:ext>
            </a:extLst>
          </p:cNvPr>
          <p:cNvSpPr/>
          <p:nvPr/>
        </p:nvSpPr>
        <p:spPr>
          <a:xfrm>
            <a:off x="4174065" y="5097678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04 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DCA9D32-CF8D-1108-7F28-99308EEC7E56}"/>
              </a:ext>
            </a:extLst>
          </p:cNvPr>
          <p:cNvSpPr/>
          <p:nvPr/>
        </p:nvSpPr>
        <p:spPr>
          <a:xfrm>
            <a:off x="5401731" y="5097677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1425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8" grpId="0" animBg="1"/>
      <p:bldP spid="35" grpId="0" animBg="1"/>
      <p:bldP spid="36" grpId="0" animBg="1"/>
      <p:bldP spid="37" grpId="0" animBg="1"/>
      <p:bldP spid="2" grpId="0" animBg="1"/>
      <p:bldP spid="15" grpId="0" animBg="1"/>
      <p:bldP spid="17" grpId="0" animBg="1"/>
      <p:bldP spid="32" grpId="0" animBg="1"/>
      <p:bldP spid="43" grpId="0" animBg="1"/>
      <p:bldP spid="45" grpId="0" animBg="1"/>
      <p:bldP spid="46" grpId="0" animBg="1"/>
      <p:bldP spid="4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>
          <a:extLst>
            <a:ext uri="{FF2B5EF4-FFF2-40B4-BE49-F238E27FC236}">
              <a16:creationId xmlns:a16="http://schemas.microsoft.com/office/drawing/2014/main" id="{3C1CC181-15E5-4CB4-64DF-375627B4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>
            <a:extLst>
              <a:ext uri="{FF2B5EF4-FFF2-40B4-BE49-F238E27FC236}">
                <a16:creationId xmlns:a16="http://schemas.microsoft.com/office/drawing/2014/main" id="{36D26F6A-C6CE-1D8A-246E-5AAC3E8031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013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Clr>
                <a:srgbClr val="00B050"/>
              </a:buClr>
            </a:pPr>
            <a:r>
              <a:rPr lang="en-US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CAN ISOTP - </a:t>
            </a:r>
            <a:r>
              <a:rPr lang="en-US" dirty="0">
                <a:solidFill>
                  <a:srgbClr val="00B050"/>
                </a:solidFill>
              </a:rPr>
              <a:t>Consecutive Frame (CF)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BDD00F-664D-8676-1E99-673C2FE7DEDA}"/>
              </a:ext>
            </a:extLst>
          </p:cNvPr>
          <p:cNvSpPr txBox="1"/>
          <p:nvPr/>
        </p:nvSpPr>
        <p:spPr>
          <a:xfrm>
            <a:off x="491067" y="1859340"/>
            <a:ext cx="88009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After receiving FC, the sender starts transmitting the remaining data.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03B784-20F7-0516-4B9A-A12A506D0B13}"/>
              </a:ext>
            </a:extLst>
          </p:cNvPr>
          <p:cNvSpPr/>
          <p:nvPr/>
        </p:nvSpPr>
        <p:spPr>
          <a:xfrm>
            <a:off x="74387" y="3158066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ID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432BEF-F6A7-12A5-9C8D-47453439D04C}"/>
              </a:ext>
            </a:extLst>
          </p:cNvPr>
          <p:cNvSpPr/>
          <p:nvPr/>
        </p:nvSpPr>
        <p:spPr>
          <a:xfrm>
            <a:off x="1302053" y="3158066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DLC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F0FD48-6472-4FDF-D416-C827338AF765}"/>
              </a:ext>
            </a:extLst>
          </p:cNvPr>
          <p:cNvSpPr/>
          <p:nvPr/>
        </p:nvSpPr>
        <p:spPr>
          <a:xfrm>
            <a:off x="2529719" y="3158065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PCI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1749E-7A1D-6983-847E-1F2094B78B9A}"/>
              </a:ext>
            </a:extLst>
          </p:cNvPr>
          <p:cNvSpPr/>
          <p:nvPr/>
        </p:nvSpPr>
        <p:spPr>
          <a:xfrm>
            <a:off x="3757385" y="3158065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0 to 7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9C86E6-17E0-0F90-A277-5A9F7CDCEE74}"/>
              </a:ext>
            </a:extLst>
          </p:cNvPr>
          <p:cNvSpPr/>
          <p:nvPr/>
        </p:nvSpPr>
        <p:spPr>
          <a:xfrm>
            <a:off x="57455" y="4099785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0x7E0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FFDD30-EB9D-4BB1-010D-C2A699DB9F0D}"/>
              </a:ext>
            </a:extLst>
          </p:cNvPr>
          <p:cNvSpPr/>
          <p:nvPr/>
        </p:nvSpPr>
        <p:spPr>
          <a:xfrm>
            <a:off x="1285121" y="4099785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F7C5E6-FCD9-5E4A-44A5-0DCD651447F3}"/>
              </a:ext>
            </a:extLst>
          </p:cNvPr>
          <p:cNvSpPr/>
          <p:nvPr/>
        </p:nvSpPr>
        <p:spPr>
          <a:xfrm>
            <a:off x="2512787" y="4099784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702C17-53F5-67CC-012B-1A838452DDC4}"/>
              </a:ext>
            </a:extLst>
          </p:cNvPr>
          <p:cNvSpPr/>
          <p:nvPr/>
        </p:nvSpPr>
        <p:spPr>
          <a:xfrm>
            <a:off x="3740453" y="4099784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01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A4B751-DFD4-E0FF-9A2B-62883D982C00}"/>
              </a:ext>
            </a:extLst>
          </p:cNvPr>
          <p:cNvSpPr/>
          <p:nvPr/>
        </p:nvSpPr>
        <p:spPr>
          <a:xfrm>
            <a:off x="5611586" y="4099783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04 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9BE4C6-FDE5-168B-70CA-D55D4D1737D2}"/>
              </a:ext>
            </a:extLst>
          </p:cNvPr>
          <p:cNvSpPr/>
          <p:nvPr/>
        </p:nvSpPr>
        <p:spPr>
          <a:xfrm>
            <a:off x="4985051" y="4099784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6FBD139-EDB4-9BC1-58E3-6090952A4EFD}"/>
              </a:ext>
            </a:extLst>
          </p:cNvPr>
          <p:cNvSpPr/>
          <p:nvPr/>
        </p:nvSpPr>
        <p:spPr>
          <a:xfrm>
            <a:off x="6229649" y="4099783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05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171D90-6E7D-B6C0-00E8-E58BECC7F459}"/>
              </a:ext>
            </a:extLst>
          </p:cNvPr>
          <p:cNvSpPr/>
          <p:nvPr/>
        </p:nvSpPr>
        <p:spPr>
          <a:xfrm>
            <a:off x="6856184" y="4099783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06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7EEC0AF-A1CE-3CAE-98C9-7505D8786CD1}"/>
              </a:ext>
            </a:extLst>
          </p:cNvPr>
          <p:cNvSpPr/>
          <p:nvPr/>
        </p:nvSpPr>
        <p:spPr>
          <a:xfrm>
            <a:off x="4362752" y="4099783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02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3EE836-C88A-7CDB-83AB-9ECA3DE73E82}"/>
              </a:ext>
            </a:extLst>
          </p:cNvPr>
          <p:cNvSpPr/>
          <p:nvPr/>
        </p:nvSpPr>
        <p:spPr>
          <a:xfrm>
            <a:off x="7491181" y="4099783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07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A77C69-7AB0-DF4F-768B-0AF3BA19F967}"/>
              </a:ext>
            </a:extLst>
          </p:cNvPr>
          <p:cNvSpPr txBox="1"/>
          <p:nvPr/>
        </p:nvSpPr>
        <p:spPr>
          <a:xfrm>
            <a:off x="8149163" y="5037435"/>
            <a:ext cx="3983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</a:rPr>
              <a:t>PCI = 0x22</a:t>
            </a:r>
          </a:p>
          <a:p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Lower Nibble =2</a:t>
            </a:r>
            <a:r>
              <a:rPr lang="en-US" sz="1800" dirty="0">
                <a:solidFill>
                  <a:srgbClr val="FF0000"/>
                </a:solidFill>
                <a:latin typeface="Times New Roman"/>
                <a:cs typeface="Times New Roman"/>
                <a:sym typeface="Times New Roman"/>
              </a:rPr>
              <a:t> </a:t>
            </a: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</a:t>
            </a: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 Sequence Number</a:t>
            </a:r>
          </a:p>
          <a:p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Upper  Nibble =2 </a:t>
            </a: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 Consecutive Frame</a:t>
            </a:r>
            <a:endParaRPr lang="en-US" sz="1800" dirty="0">
              <a:solidFill>
                <a:srgbClr val="1E4E79"/>
              </a:solidFill>
              <a:latin typeface="Times New Roman"/>
              <a:cs typeface="Times New Roman"/>
              <a:sym typeface="Times New Roman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4748850-1FD8-4E53-9100-9A7272F1F82F}"/>
              </a:ext>
            </a:extLst>
          </p:cNvPr>
          <p:cNvSpPr/>
          <p:nvPr/>
        </p:nvSpPr>
        <p:spPr>
          <a:xfrm>
            <a:off x="104017" y="5281917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0x7E0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4F76F80-3329-CE42-1543-5BC79F0E8B3A}"/>
              </a:ext>
            </a:extLst>
          </p:cNvPr>
          <p:cNvSpPr/>
          <p:nvPr/>
        </p:nvSpPr>
        <p:spPr>
          <a:xfrm>
            <a:off x="1331683" y="5281917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E92744-BCF1-B28A-E278-526395A03871}"/>
              </a:ext>
            </a:extLst>
          </p:cNvPr>
          <p:cNvSpPr/>
          <p:nvPr/>
        </p:nvSpPr>
        <p:spPr>
          <a:xfrm>
            <a:off x="2559349" y="5281916"/>
            <a:ext cx="1227666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22 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5827EFE-6821-44CE-FEED-6D0B19702724}"/>
              </a:ext>
            </a:extLst>
          </p:cNvPr>
          <p:cNvSpPr/>
          <p:nvPr/>
        </p:nvSpPr>
        <p:spPr>
          <a:xfrm>
            <a:off x="3787015" y="5281916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01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E64769E-E7C7-A03B-7928-E983C720CFC2}"/>
              </a:ext>
            </a:extLst>
          </p:cNvPr>
          <p:cNvSpPr/>
          <p:nvPr/>
        </p:nvSpPr>
        <p:spPr>
          <a:xfrm>
            <a:off x="5658148" y="5281915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04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F6D9195-B3F0-56E4-EA45-79CAC15C957A}"/>
              </a:ext>
            </a:extLst>
          </p:cNvPr>
          <p:cNvSpPr/>
          <p:nvPr/>
        </p:nvSpPr>
        <p:spPr>
          <a:xfrm>
            <a:off x="5031613" y="5281916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D263047-2BA5-CB61-B410-77E8BAC57E94}"/>
              </a:ext>
            </a:extLst>
          </p:cNvPr>
          <p:cNvSpPr/>
          <p:nvPr/>
        </p:nvSpPr>
        <p:spPr>
          <a:xfrm>
            <a:off x="6276211" y="5281915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05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7685D06-FC7B-7195-C2BE-488B173DD0A1}"/>
              </a:ext>
            </a:extLst>
          </p:cNvPr>
          <p:cNvSpPr/>
          <p:nvPr/>
        </p:nvSpPr>
        <p:spPr>
          <a:xfrm>
            <a:off x="6902746" y="5281915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06 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F085DFC-DA19-81DE-417A-E9C299C3368C}"/>
              </a:ext>
            </a:extLst>
          </p:cNvPr>
          <p:cNvSpPr/>
          <p:nvPr/>
        </p:nvSpPr>
        <p:spPr>
          <a:xfrm>
            <a:off x="4409314" y="5281915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02 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8A2870-99AC-CCF7-1021-5AFCCCCA136A}"/>
              </a:ext>
            </a:extLst>
          </p:cNvPr>
          <p:cNvSpPr/>
          <p:nvPr/>
        </p:nvSpPr>
        <p:spPr>
          <a:xfrm>
            <a:off x="7491181" y="5281914"/>
            <a:ext cx="626535" cy="541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07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E47125B-1945-05C1-8F03-405B2B9E14BE}"/>
              </a:ext>
            </a:extLst>
          </p:cNvPr>
          <p:cNvSpPr txBox="1"/>
          <p:nvPr/>
        </p:nvSpPr>
        <p:spPr>
          <a:xfrm>
            <a:off x="8149163" y="3997775"/>
            <a:ext cx="4147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</a:rPr>
              <a:t>PCI = 0x21</a:t>
            </a:r>
          </a:p>
          <a:p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Lower Nibble =1</a:t>
            </a:r>
            <a:r>
              <a:rPr lang="en-US" sz="1800" dirty="0">
                <a:solidFill>
                  <a:srgbClr val="FF0000"/>
                </a:solidFill>
                <a:latin typeface="Times New Roman"/>
                <a:cs typeface="Times New Roman"/>
                <a:sym typeface="Times New Roman"/>
              </a:rPr>
              <a:t> </a:t>
            </a: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</a:t>
            </a: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 Sequence Number</a:t>
            </a:r>
          </a:p>
          <a:p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Times New Roman"/>
              </a:rPr>
              <a:t>Upper  Nibble =2 </a:t>
            </a:r>
            <a:r>
              <a:rPr lang="en-US" sz="1800" dirty="0">
                <a:solidFill>
                  <a:srgbClr val="1E4E79"/>
                </a:solidFill>
                <a:latin typeface="Times New Roman"/>
                <a:cs typeface="Times New Roman"/>
                <a:sym typeface="Wingdings" panose="05000000000000000000" pitchFamily="2" charset="2"/>
              </a:rPr>
              <a:t> Consecutive Frame</a:t>
            </a:r>
            <a:endParaRPr lang="en-US" sz="1800" dirty="0">
              <a:solidFill>
                <a:srgbClr val="1E4E79"/>
              </a:solidFill>
              <a:latin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5452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" grpId="0" animBg="1"/>
      <p:bldP spid="4" grpId="0" animBg="1"/>
      <p:bldP spid="5" grpId="0" animBg="1"/>
      <p:bldP spid="7" grpId="0" animBg="1"/>
      <p:bldP spid="10" grpId="0" animBg="1"/>
      <p:bldP spid="11" grpId="0" animBg="1"/>
      <p:bldP spid="12" grpId="0" animBg="1"/>
      <p:bldP spid="13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  <p:bldP spid="30" grpId="0" animBg="1"/>
      <p:bldP spid="31" grpId="0" animBg="1"/>
      <p:bldP spid="33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4" grpId="0" animBg="1"/>
      <p:bldP spid="48" grpId="0" animBg="1"/>
      <p:bldP spid="4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>
          <a:extLst>
            <a:ext uri="{FF2B5EF4-FFF2-40B4-BE49-F238E27FC236}">
              <a16:creationId xmlns:a16="http://schemas.microsoft.com/office/drawing/2014/main" id="{C41D1BD3-4712-9E41-D6EE-35CC6A495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12E03AF2-F687-0A30-BB59-AEEBD6DDBDAF}"/>
              </a:ext>
            </a:extLst>
          </p:cNvPr>
          <p:cNvSpPr txBox="1"/>
          <p:nvPr/>
        </p:nvSpPr>
        <p:spPr>
          <a:xfrm>
            <a:off x="4073673" y="5868056"/>
            <a:ext cx="6324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0x7E0 0x07 0x25 0x23 0x24 0x25 0x26 0x27 0x28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179BE8-21B1-113A-DAFC-0E353AF63722}"/>
              </a:ext>
            </a:extLst>
          </p:cNvPr>
          <p:cNvSpPr txBox="1"/>
          <p:nvPr/>
        </p:nvSpPr>
        <p:spPr>
          <a:xfrm>
            <a:off x="4073673" y="4061887"/>
            <a:ext cx="6324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0x7E0 0x08 0x23 0x15 0x16 0x17 0x18 0x19 0x1A 0x1B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028A26-BCE5-44CD-4B22-B1F7A9632809}"/>
              </a:ext>
            </a:extLst>
          </p:cNvPr>
          <p:cNvSpPr txBox="1"/>
          <p:nvPr/>
        </p:nvSpPr>
        <p:spPr>
          <a:xfrm>
            <a:off x="4029678" y="3367879"/>
            <a:ext cx="6324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0x7E0 0x08 0x22 0x0E 0x0F 0x10 0x11 0x12 0x13 0x14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BDCD64-6337-43EE-738A-B79E660A4467}"/>
              </a:ext>
            </a:extLst>
          </p:cNvPr>
          <p:cNvSpPr txBox="1"/>
          <p:nvPr/>
        </p:nvSpPr>
        <p:spPr>
          <a:xfrm>
            <a:off x="4005636" y="2709730"/>
            <a:ext cx="6324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0x7E0 0x08 0x21 0x07 0x08 0x09 0x0A 0x0B 0x0C 0x0D</a:t>
            </a:r>
          </a:p>
        </p:txBody>
      </p:sp>
      <p:sp>
        <p:nvSpPr>
          <p:cNvPr id="313" name="Google Shape;313;p24">
            <a:extLst>
              <a:ext uri="{FF2B5EF4-FFF2-40B4-BE49-F238E27FC236}">
                <a16:creationId xmlns:a16="http://schemas.microsoft.com/office/drawing/2014/main" id="{06D62E5E-7C2A-1738-1226-8ED93F99C5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51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sz="2800" dirty="0"/>
              <a:t>Example: Transmitting 40 bytes of application data using CAN ISO-TP</a:t>
            </a:r>
            <a:endParaRPr lang="en-US" sz="2800" dirty="0">
              <a:solidFill>
                <a:srgbClr val="1E4E79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E7DA576-C467-ACE6-7BBA-6172FC54EA76}"/>
              </a:ext>
            </a:extLst>
          </p:cNvPr>
          <p:cNvSpPr/>
          <p:nvPr/>
        </p:nvSpPr>
        <p:spPr>
          <a:xfrm>
            <a:off x="3106058" y="1040348"/>
            <a:ext cx="1109133" cy="3863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Sender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95FCB63-9C27-41A5-6A53-1F5EA36D4920}"/>
              </a:ext>
            </a:extLst>
          </p:cNvPr>
          <p:cNvSpPr/>
          <p:nvPr/>
        </p:nvSpPr>
        <p:spPr>
          <a:xfrm>
            <a:off x="10457239" y="1053625"/>
            <a:ext cx="1109133" cy="3863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Receiver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9225B3-4979-EE13-C8F9-47F83B053768}"/>
              </a:ext>
            </a:extLst>
          </p:cNvPr>
          <p:cNvSpPr/>
          <p:nvPr/>
        </p:nvSpPr>
        <p:spPr>
          <a:xfrm>
            <a:off x="3261482" y="2909868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CF1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AEEFC0-7B16-F8E0-871F-ADFF6C5DD775}"/>
              </a:ext>
            </a:extLst>
          </p:cNvPr>
          <p:cNvCxnSpPr>
            <a:cxnSpLocks/>
          </p:cNvCxnSpPr>
          <p:nvPr/>
        </p:nvCxnSpPr>
        <p:spPr>
          <a:xfrm>
            <a:off x="3948495" y="1939905"/>
            <a:ext cx="6276822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68548EB-A75F-1AD4-171E-8F8CFA5D685D}"/>
              </a:ext>
            </a:extLst>
          </p:cNvPr>
          <p:cNvCxnSpPr>
            <a:cxnSpLocks/>
          </p:cNvCxnSpPr>
          <p:nvPr/>
        </p:nvCxnSpPr>
        <p:spPr>
          <a:xfrm>
            <a:off x="3948495" y="3089603"/>
            <a:ext cx="6276822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160C8F8-D20B-18B8-9D4B-00DDCD538695}"/>
              </a:ext>
            </a:extLst>
          </p:cNvPr>
          <p:cNvCxnSpPr>
            <a:cxnSpLocks/>
          </p:cNvCxnSpPr>
          <p:nvPr/>
        </p:nvCxnSpPr>
        <p:spPr>
          <a:xfrm>
            <a:off x="3948495" y="3794116"/>
            <a:ext cx="6381741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4B73BD-BEB1-6DA0-38E1-1F5DA140CAE1}"/>
              </a:ext>
            </a:extLst>
          </p:cNvPr>
          <p:cNvCxnSpPr>
            <a:cxnSpLocks/>
          </p:cNvCxnSpPr>
          <p:nvPr/>
        </p:nvCxnSpPr>
        <p:spPr>
          <a:xfrm>
            <a:off x="3920669" y="4421438"/>
            <a:ext cx="6433609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34CF159-C27A-7726-4434-C2220B3B15B0}"/>
              </a:ext>
            </a:extLst>
          </p:cNvPr>
          <p:cNvCxnSpPr>
            <a:cxnSpLocks/>
          </p:cNvCxnSpPr>
          <p:nvPr/>
        </p:nvCxnSpPr>
        <p:spPr>
          <a:xfrm>
            <a:off x="3948495" y="5172904"/>
            <a:ext cx="6449778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1DC3D5-B3F9-AFEB-A758-7DE5E93F6754}"/>
              </a:ext>
            </a:extLst>
          </p:cNvPr>
          <p:cNvCxnSpPr>
            <a:cxnSpLocks/>
          </p:cNvCxnSpPr>
          <p:nvPr/>
        </p:nvCxnSpPr>
        <p:spPr>
          <a:xfrm>
            <a:off x="3920668" y="6262547"/>
            <a:ext cx="6549269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EFB04D4-9DDD-8BA5-D1AB-34DA5EA807A6}"/>
              </a:ext>
            </a:extLst>
          </p:cNvPr>
          <p:cNvCxnSpPr>
            <a:cxnSpLocks/>
          </p:cNvCxnSpPr>
          <p:nvPr/>
        </p:nvCxnSpPr>
        <p:spPr>
          <a:xfrm flipH="1" flipV="1">
            <a:off x="3948495" y="2390398"/>
            <a:ext cx="6643305" cy="23179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5838698-D288-742B-ED47-6D9BB89900D2}"/>
              </a:ext>
            </a:extLst>
          </p:cNvPr>
          <p:cNvCxnSpPr>
            <a:cxnSpLocks/>
          </p:cNvCxnSpPr>
          <p:nvPr/>
        </p:nvCxnSpPr>
        <p:spPr>
          <a:xfrm flipH="1">
            <a:off x="3920668" y="5617879"/>
            <a:ext cx="6671132" cy="0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1C5259F-ECFC-F1B8-6E8B-8BA908ED5F8B}"/>
              </a:ext>
            </a:extLst>
          </p:cNvPr>
          <p:cNvSpPr/>
          <p:nvPr/>
        </p:nvSpPr>
        <p:spPr>
          <a:xfrm>
            <a:off x="3281434" y="3607174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CF2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CE6451A3-1146-46E9-8B0B-B88CBD60EEB9}"/>
              </a:ext>
            </a:extLst>
          </p:cNvPr>
          <p:cNvSpPr/>
          <p:nvPr/>
        </p:nvSpPr>
        <p:spPr>
          <a:xfrm>
            <a:off x="3261481" y="4234496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CF3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F4F374D-6B0F-3519-2F58-6D0D6A2BD38A}"/>
              </a:ext>
            </a:extLst>
          </p:cNvPr>
          <p:cNvSpPr/>
          <p:nvPr/>
        </p:nvSpPr>
        <p:spPr>
          <a:xfrm>
            <a:off x="3281433" y="4985962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CF4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2FAB7C0-2E0F-4EF6-843E-4458C7ED0588}"/>
              </a:ext>
            </a:extLst>
          </p:cNvPr>
          <p:cNvSpPr/>
          <p:nvPr/>
        </p:nvSpPr>
        <p:spPr>
          <a:xfrm>
            <a:off x="3266924" y="1744860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FF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799CFA8-EFB6-F9D6-3D62-354810C203C8}"/>
              </a:ext>
            </a:extLst>
          </p:cNvPr>
          <p:cNvSpPr/>
          <p:nvPr/>
        </p:nvSpPr>
        <p:spPr>
          <a:xfrm>
            <a:off x="10622338" y="2203456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FC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15C0C35-48C3-76C4-6061-C78A53EF9E9F}"/>
              </a:ext>
            </a:extLst>
          </p:cNvPr>
          <p:cNvSpPr/>
          <p:nvPr/>
        </p:nvSpPr>
        <p:spPr>
          <a:xfrm>
            <a:off x="10622338" y="5430937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FC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0C47631-A6BC-0A27-1334-889299B092F5}"/>
              </a:ext>
            </a:extLst>
          </p:cNvPr>
          <p:cNvSpPr/>
          <p:nvPr/>
        </p:nvSpPr>
        <p:spPr>
          <a:xfrm>
            <a:off x="3261481" y="6055415"/>
            <a:ext cx="639235" cy="373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CF5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8199-DE94-169C-05A2-DE10E5FD128D}"/>
              </a:ext>
            </a:extLst>
          </p:cNvPr>
          <p:cNvSpPr txBox="1"/>
          <p:nvPr/>
        </p:nvSpPr>
        <p:spPr>
          <a:xfrm>
            <a:off x="3900717" y="1498153"/>
            <a:ext cx="6324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0x7E0 0x08 0x10 0x28 0x01 0x02 0x03 0x04 0x05 0x06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26E410-2D8E-3C68-3BB9-DD99D5251D5C}"/>
              </a:ext>
            </a:extLst>
          </p:cNvPr>
          <p:cNvSpPr txBox="1"/>
          <p:nvPr/>
        </p:nvSpPr>
        <p:spPr>
          <a:xfrm>
            <a:off x="5170256" y="2013467"/>
            <a:ext cx="33942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0x7E8 0x03 0x30 0x04 0x0A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BAE44D-33E1-113C-A2ED-CE27EB32D187}"/>
              </a:ext>
            </a:extLst>
          </p:cNvPr>
          <p:cNvSpPr txBox="1"/>
          <p:nvPr/>
        </p:nvSpPr>
        <p:spPr>
          <a:xfrm>
            <a:off x="5664203" y="2379940"/>
            <a:ext cx="1605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B050"/>
                </a:solidFill>
                <a:latin typeface="Times New Roman"/>
                <a:cs typeface="Times New Roman"/>
              </a:rPr>
              <a:t>10ms delay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C8273F-7001-56CF-A7DD-428A28BC8031}"/>
              </a:ext>
            </a:extLst>
          </p:cNvPr>
          <p:cNvSpPr txBox="1"/>
          <p:nvPr/>
        </p:nvSpPr>
        <p:spPr>
          <a:xfrm>
            <a:off x="5664203" y="3049020"/>
            <a:ext cx="1605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B050"/>
                </a:solidFill>
                <a:latin typeface="Times New Roman"/>
                <a:cs typeface="Times New Roman"/>
              </a:rPr>
              <a:t>10ms delay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8FB4C8-9541-3000-B9AF-7C35B687050D}"/>
              </a:ext>
            </a:extLst>
          </p:cNvPr>
          <p:cNvSpPr txBox="1"/>
          <p:nvPr/>
        </p:nvSpPr>
        <p:spPr>
          <a:xfrm>
            <a:off x="5664203" y="3731171"/>
            <a:ext cx="1605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B050"/>
                </a:solidFill>
                <a:latin typeface="Times New Roman"/>
                <a:cs typeface="Times New Roman"/>
              </a:rPr>
              <a:t>10ms delay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C85E1E-F826-D66F-311F-0E642AB940EB}"/>
              </a:ext>
            </a:extLst>
          </p:cNvPr>
          <p:cNvSpPr txBox="1"/>
          <p:nvPr/>
        </p:nvSpPr>
        <p:spPr>
          <a:xfrm>
            <a:off x="5682040" y="4408326"/>
            <a:ext cx="1605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B050"/>
                </a:solidFill>
                <a:latin typeface="Times New Roman"/>
                <a:cs typeface="Times New Roman"/>
              </a:rPr>
              <a:t>10ms delay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011E01-5E3F-B1C8-45EF-7F28931D8A63}"/>
              </a:ext>
            </a:extLst>
          </p:cNvPr>
          <p:cNvSpPr txBox="1"/>
          <p:nvPr/>
        </p:nvSpPr>
        <p:spPr>
          <a:xfrm>
            <a:off x="4145337" y="4713699"/>
            <a:ext cx="6324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0x7E0 0x08 0x24 0x1C 0x1D 0x1E 0x1F 0x20 0x21 0x22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A5FC167-EB42-EEE6-4E2F-59EA5CF668E4}"/>
              </a:ext>
            </a:extLst>
          </p:cNvPr>
          <p:cNvSpPr txBox="1"/>
          <p:nvPr/>
        </p:nvSpPr>
        <p:spPr>
          <a:xfrm>
            <a:off x="5168440" y="5205926"/>
            <a:ext cx="33942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0x7E8 0x03 0x30 0x04 0x0A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C36D2F-1FC5-1DF6-FB2C-F952994C0928}"/>
              </a:ext>
            </a:extLst>
          </p:cNvPr>
          <p:cNvSpPr txBox="1"/>
          <p:nvPr/>
        </p:nvSpPr>
        <p:spPr>
          <a:xfrm>
            <a:off x="5701693" y="5575795"/>
            <a:ext cx="1605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B050"/>
                </a:solidFill>
                <a:latin typeface="Times New Roman"/>
                <a:cs typeface="Times New Roman"/>
              </a:rPr>
              <a:t>10ms delay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871A71E-B39A-D26E-1FDA-CC1FC8BD043A}"/>
              </a:ext>
            </a:extLst>
          </p:cNvPr>
          <p:cNvCxnSpPr/>
          <p:nvPr/>
        </p:nvCxnSpPr>
        <p:spPr>
          <a:xfrm>
            <a:off x="4377267" y="6688667"/>
            <a:ext cx="6092670" cy="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8B2505F-555B-613F-9E2D-08821D771A55}"/>
              </a:ext>
            </a:extLst>
          </p:cNvPr>
          <p:cNvSpPr txBox="1"/>
          <p:nvPr/>
        </p:nvSpPr>
        <p:spPr>
          <a:xfrm>
            <a:off x="5817658" y="6345774"/>
            <a:ext cx="24736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B050"/>
                </a:solidFill>
                <a:latin typeface="Times New Roman"/>
                <a:cs typeface="Times New Roman"/>
              </a:rPr>
              <a:t>Transfer complete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3C88BA-9C60-2A52-7286-28CF8B894625}"/>
              </a:ext>
            </a:extLst>
          </p:cNvPr>
          <p:cNvSpPr txBox="1"/>
          <p:nvPr/>
        </p:nvSpPr>
        <p:spPr>
          <a:xfrm>
            <a:off x="208718" y="4831840"/>
            <a:ext cx="302668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2">
                    <a:lumMod val="50000"/>
                  </a:schemeClr>
                </a:solidFill>
                <a:latin typeface="Times New Roman"/>
                <a:cs typeface="Times New Roman"/>
              </a:rPr>
              <a:t>Note : 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If </a:t>
            </a:r>
            <a:r>
              <a:rPr lang="en-US" sz="2000" dirty="0" err="1">
                <a:solidFill>
                  <a:srgbClr val="1E4E79"/>
                </a:solidFill>
                <a:latin typeface="Times New Roman"/>
                <a:cs typeface="Times New Roman"/>
              </a:rPr>
              <a:t>STmin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 = 5 </a:t>
            </a:r>
            <a:r>
              <a:rPr lang="en-US" sz="2000" dirty="0" err="1">
                <a:solidFill>
                  <a:srgbClr val="1E4E79"/>
                </a:solidFill>
                <a:latin typeface="Times New Roman"/>
                <a:cs typeface="Times New Roman"/>
              </a:rPr>
              <a:t>ms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:</a:t>
            </a:r>
          </a:p>
          <a:p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Transmitting after 5 </a:t>
            </a:r>
            <a:r>
              <a:rPr lang="en-US" sz="2000" dirty="0" err="1">
                <a:solidFill>
                  <a:srgbClr val="1E4E79"/>
                </a:solidFill>
                <a:latin typeface="Times New Roman"/>
                <a:cs typeface="Times New Roman"/>
              </a:rPr>
              <a:t>ms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, 6 </a:t>
            </a:r>
            <a:r>
              <a:rPr lang="en-US" sz="2000" dirty="0" err="1">
                <a:solidFill>
                  <a:srgbClr val="1E4E79"/>
                </a:solidFill>
                <a:latin typeface="Times New Roman"/>
                <a:cs typeface="Times New Roman"/>
              </a:rPr>
              <a:t>ms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, or 10 </a:t>
            </a:r>
            <a:r>
              <a:rPr lang="en-US" sz="2000" dirty="0" err="1">
                <a:solidFill>
                  <a:srgbClr val="1E4E79"/>
                </a:solidFill>
                <a:latin typeface="Times New Roman"/>
                <a:cs typeface="Times New Roman"/>
              </a:rPr>
              <a:t>ms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 is valid. Transmitting after 3 </a:t>
            </a:r>
            <a:r>
              <a:rPr lang="en-US" sz="2000" dirty="0" err="1">
                <a:solidFill>
                  <a:srgbClr val="1E4E79"/>
                </a:solidFill>
                <a:latin typeface="Times New Roman"/>
                <a:cs typeface="Times New Roman"/>
              </a:rPr>
              <a:t>ms</a:t>
            </a:r>
            <a:r>
              <a:rPr lang="en-US" sz="2000" dirty="0">
                <a:solidFill>
                  <a:srgbClr val="1E4E79"/>
                </a:solidFill>
                <a:latin typeface="Times New Roman"/>
                <a:cs typeface="Times New Roman"/>
              </a:rPr>
              <a:t> is not.</a:t>
            </a:r>
          </a:p>
        </p:txBody>
      </p:sp>
    </p:spTree>
    <p:extLst>
      <p:ext uri="{BB962C8B-B14F-4D97-AF65-F5344CB8AC3E}">
        <p14:creationId xmlns:p14="http://schemas.microsoft.com/office/powerpoint/2010/main" val="3949378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31" grpId="0"/>
      <p:bldP spid="28" grpId="0"/>
      <p:bldP spid="15" grpId="0"/>
      <p:bldP spid="313" grpId="0"/>
      <p:bldP spid="4" grpId="0" animBg="1"/>
      <p:bldP spid="5" grpId="0" animBg="1"/>
      <p:bldP spid="8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2" grpId="0"/>
      <p:bldP spid="10" grpId="0"/>
      <p:bldP spid="17" grpId="0"/>
      <p:bldP spid="25" grpId="0"/>
      <p:bldP spid="29" grpId="0"/>
      <p:bldP spid="32" grpId="0"/>
      <p:bldP spid="45" grpId="0"/>
      <p:bldP spid="47" grpId="0"/>
      <p:bldP spid="48" grpId="0"/>
      <p:bldP spid="5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Diagnostics</a:t>
            </a:r>
            <a:endParaRPr/>
          </a:p>
        </p:txBody>
      </p:sp>
      <p:pic>
        <p:nvPicPr>
          <p:cNvPr id="319" name="Google Shape;319;p25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2716896"/>
            <a:ext cx="6096000" cy="34340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2920" y="2932027"/>
            <a:ext cx="5673543" cy="2220864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5"/>
          <p:cNvSpPr txBox="1"/>
          <p:nvPr/>
        </p:nvSpPr>
        <p:spPr>
          <a:xfrm>
            <a:off x="1167618" y="1519311"/>
            <a:ext cx="1102438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Finding Root cause in defects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6"/>
          <p:cNvSpPr txBox="1">
            <a:spLocks noGrp="1"/>
          </p:cNvSpPr>
          <p:nvPr>
            <p:ph type="title"/>
          </p:nvPr>
        </p:nvSpPr>
        <p:spPr>
          <a:xfrm>
            <a:off x="838200" y="6826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Why Diagnostics?</a:t>
            </a:r>
            <a:endParaRPr/>
          </a:p>
        </p:txBody>
      </p:sp>
      <p:sp>
        <p:nvSpPr>
          <p:cNvPr id="327" name="Google Shape;327;p26"/>
          <p:cNvSpPr txBox="1">
            <a:spLocks noGrp="1"/>
          </p:cNvSpPr>
          <p:nvPr>
            <p:ph type="body" idx="1"/>
          </p:nvPr>
        </p:nvSpPr>
        <p:spPr>
          <a:xfrm>
            <a:off x="1384300" y="2270125"/>
            <a:ext cx="6248400" cy="302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Identify </a:t>
            </a:r>
            <a:r>
              <a:rPr lang="en-US" sz="2800">
                <a:solidFill>
                  <a:srgbClr val="FF0000"/>
                </a:solidFill>
              </a:rPr>
              <a:t>defective</a:t>
            </a:r>
            <a:r>
              <a:rPr lang="en-US" sz="2800">
                <a:solidFill>
                  <a:srgbClr val="002060"/>
                </a:solidFill>
              </a:rPr>
              <a:t> components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Provide backup values to</a:t>
            </a:r>
            <a:endParaRPr/>
          </a:p>
          <a:p>
            <a:pPr marL="11430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Maintain </a:t>
            </a:r>
            <a:r>
              <a:rPr lang="en-US" sz="2800">
                <a:solidFill>
                  <a:srgbClr val="FF0000"/>
                </a:solidFill>
              </a:rPr>
              <a:t>safe driving</a:t>
            </a:r>
            <a:endParaRPr sz="2800">
              <a:solidFill>
                <a:srgbClr val="002060"/>
              </a:solidFill>
            </a:endParaRPr>
          </a:p>
          <a:p>
            <a:pPr marL="11430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Minimize </a:t>
            </a:r>
            <a:r>
              <a:rPr lang="en-US" sz="2800">
                <a:solidFill>
                  <a:srgbClr val="FF0000"/>
                </a:solidFill>
              </a:rPr>
              <a:t>Emission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800"/>
              <a:buChar char="•"/>
            </a:pPr>
            <a:r>
              <a:rPr lang="en-US" sz="2800">
                <a:solidFill>
                  <a:srgbClr val="FF0000"/>
                </a:solidFill>
              </a:rPr>
              <a:t>Report problem </a:t>
            </a:r>
            <a:r>
              <a:rPr lang="en-US" sz="2800">
                <a:solidFill>
                  <a:srgbClr val="002060"/>
                </a:solidFill>
              </a:rPr>
              <a:t>to driver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Diagnostic tester</a:t>
            </a:r>
            <a:endParaRPr/>
          </a:p>
        </p:txBody>
      </p:sp>
      <p:pic>
        <p:nvPicPr>
          <p:cNvPr id="333" name="Google Shape;333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58266" y="785275"/>
            <a:ext cx="5188707" cy="5850157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27" descr="FOXWELL NT510 for BMW OBD2 Scanners Car Code Reader All System Automotive  Diagnostic Scan Tool with EPB SAS TPS Oil Service Reset Battery  Registration, Battery Testers - Amazon Canada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9747" y="2243772"/>
            <a:ext cx="1648966" cy="191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27" descr="Top 10 Best OBD2 Scanners in 2020 - Buyer's Guid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147912" y="3710353"/>
            <a:ext cx="2614041" cy="24942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Goal of diagnostic communication</a:t>
            </a:r>
            <a:endParaRPr/>
          </a:p>
        </p:txBody>
      </p:sp>
      <p:sp>
        <p:nvSpPr>
          <p:cNvPr id="341" name="Google Shape;341;p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6705600" cy="2695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Fulfilling its </a:t>
            </a:r>
            <a:r>
              <a:rPr lang="en-US" sz="2800">
                <a:solidFill>
                  <a:srgbClr val="FF0000"/>
                </a:solidFill>
              </a:rPr>
              <a:t>controlling</a:t>
            </a:r>
            <a:r>
              <a:rPr lang="en-US" sz="2800">
                <a:solidFill>
                  <a:srgbClr val="002060"/>
                </a:solidFill>
              </a:rPr>
              <a:t> functionality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Observation of control unit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Check </a:t>
            </a:r>
            <a:r>
              <a:rPr lang="en-US" sz="2800">
                <a:solidFill>
                  <a:srgbClr val="FF0000"/>
                </a:solidFill>
              </a:rPr>
              <a:t>reaction</a:t>
            </a:r>
            <a:r>
              <a:rPr lang="en-US" sz="2800">
                <a:solidFill>
                  <a:srgbClr val="002060"/>
                </a:solidFill>
              </a:rPr>
              <a:t> of control unit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Check and </a:t>
            </a:r>
            <a:r>
              <a:rPr lang="en-US" sz="2800">
                <a:solidFill>
                  <a:srgbClr val="FF0000"/>
                </a:solidFill>
              </a:rPr>
              <a:t>filter incoming </a:t>
            </a:r>
            <a:r>
              <a:rPr lang="en-US" sz="2800">
                <a:solidFill>
                  <a:srgbClr val="002060"/>
                </a:solidFill>
              </a:rPr>
              <a:t>signal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Read Error Memory (Source of error)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Protocols</a:t>
            </a:r>
            <a:endParaRPr/>
          </a:p>
        </p:txBody>
      </p:sp>
      <p:sp>
        <p:nvSpPr>
          <p:cNvPr id="347" name="Google Shape;347;p29"/>
          <p:cNvSpPr txBox="1">
            <a:spLocks noGrp="1"/>
          </p:cNvSpPr>
          <p:nvPr>
            <p:ph type="body" idx="1"/>
          </p:nvPr>
        </p:nvSpPr>
        <p:spPr>
          <a:xfrm>
            <a:off x="2849880" y="2544689"/>
            <a:ext cx="5970563" cy="1212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KWP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UDS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KWP (Keyword Protocol)</a:t>
            </a:r>
            <a:endParaRPr/>
          </a:p>
        </p:txBody>
      </p:sp>
      <p:sp>
        <p:nvSpPr>
          <p:cNvPr id="353" name="Google Shape;353;p3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KWP2000 or Keyword protocol 2000 is a </a:t>
            </a:r>
            <a:r>
              <a:rPr lang="en-US" sz="2800">
                <a:solidFill>
                  <a:srgbClr val="FF0000"/>
                </a:solidFill>
              </a:rPr>
              <a:t>on board diagnosis </a:t>
            </a:r>
            <a:r>
              <a:rPr lang="en-US" sz="2800">
                <a:solidFill>
                  <a:srgbClr val="002060"/>
                </a:solidFill>
              </a:rPr>
              <a:t>(OBD) protocol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ISO </a:t>
            </a:r>
            <a:r>
              <a:rPr lang="en-US" sz="2800">
                <a:solidFill>
                  <a:srgbClr val="FF0000"/>
                </a:solidFill>
              </a:rPr>
              <a:t>14230</a:t>
            </a:r>
            <a:r>
              <a:rPr lang="en-US" sz="2800">
                <a:solidFill>
                  <a:srgbClr val="002060"/>
                </a:solidFill>
              </a:rPr>
              <a:t> Standard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Compatible with </a:t>
            </a:r>
            <a:r>
              <a:rPr lang="en-US" sz="2800">
                <a:solidFill>
                  <a:srgbClr val="FF0000"/>
                </a:solidFill>
              </a:rPr>
              <a:t>K-LINE (ISO 9141)</a:t>
            </a:r>
            <a:r>
              <a:rPr lang="en-US" sz="2800">
                <a:solidFill>
                  <a:srgbClr val="002060"/>
                </a:solidFill>
              </a:rPr>
              <a:t> and </a:t>
            </a:r>
            <a:r>
              <a:rPr lang="en-US" sz="2800">
                <a:solidFill>
                  <a:srgbClr val="FF0000"/>
                </a:solidFill>
              </a:rPr>
              <a:t>CAN (ISO 11898)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Data rate of KWP is between </a:t>
            </a:r>
            <a:r>
              <a:rPr lang="en-US" sz="2800">
                <a:solidFill>
                  <a:srgbClr val="FF0000"/>
                </a:solidFill>
              </a:rPr>
              <a:t>1.2 and 10.4 kilo baud</a:t>
            </a:r>
            <a:r>
              <a:rPr lang="en-US" sz="2800">
                <a:solidFill>
                  <a:srgbClr val="002060"/>
                </a:solidFill>
              </a:rPr>
              <a:t> and data fields up to </a:t>
            </a:r>
            <a:r>
              <a:rPr lang="en-US" sz="2800">
                <a:solidFill>
                  <a:srgbClr val="FF0000"/>
                </a:solidFill>
              </a:rPr>
              <a:t>255 bytes.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10894255" cy="1097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Standard Protocol Tester Communication (SAE)</a:t>
            </a:r>
            <a:endParaRPr/>
          </a:p>
        </p:txBody>
      </p:sp>
      <p:pic>
        <p:nvPicPr>
          <p:cNvPr id="359" name="Google Shape;359;p3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1711" t="2290" r="2199" b="4139"/>
          <a:stretch/>
        </p:blipFill>
        <p:spPr>
          <a:xfrm>
            <a:off x="1308295" y="1463040"/>
            <a:ext cx="9481626" cy="5190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UDS (Unified Diagnostic Services) </a:t>
            </a:r>
            <a:endParaRPr/>
          </a:p>
        </p:txBody>
      </p:sp>
      <p:sp>
        <p:nvSpPr>
          <p:cNvPr id="365" name="Google Shape;365;p32"/>
          <p:cNvSpPr txBox="1">
            <a:spLocks noGrp="1"/>
          </p:cNvSpPr>
          <p:nvPr>
            <p:ph type="body" idx="1"/>
          </p:nvPr>
        </p:nvSpPr>
        <p:spPr>
          <a:xfrm>
            <a:off x="407963" y="2346131"/>
            <a:ext cx="11676184" cy="2521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To unify all the diagnostics standards that existed previously.</a:t>
            </a:r>
            <a:endParaRPr sz="2800">
              <a:solidFill>
                <a:srgbClr val="FF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800"/>
              <a:buChar char="•"/>
            </a:pPr>
            <a:r>
              <a:rPr lang="en-US" sz="2800">
                <a:solidFill>
                  <a:srgbClr val="FF0000"/>
                </a:solidFill>
              </a:rPr>
              <a:t>Off board </a:t>
            </a:r>
            <a:r>
              <a:rPr lang="en-US" sz="2800">
                <a:solidFill>
                  <a:srgbClr val="002060"/>
                </a:solidFill>
              </a:rPr>
              <a:t>Diagnostic Service Protocol with ISO standard 14229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Designed with combo of </a:t>
            </a:r>
            <a:r>
              <a:rPr lang="en-US" sz="2800">
                <a:solidFill>
                  <a:srgbClr val="FF0000"/>
                </a:solidFill>
              </a:rPr>
              <a:t>IS014230-3</a:t>
            </a:r>
            <a:r>
              <a:rPr lang="en-US" sz="2800">
                <a:solidFill>
                  <a:srgbClr val="002060"/>
                </a:solidFill>
              </a:rPr>
              <a:t>(KWP2000) and </a:t>
            </a:r>
            <a:r>
              <a:rPr lang="en-US" sz="2800">
                <a:solidFill>
                  <a:srgbClr val="FF0000"/>
                </a:solidFill>
              </a:rPr>
              <a:t>ISO15765-3</a:t>
            </a:r>
            <a:r>
              <a:rPr lang="en-US" sz="2800">
                <a:solidFill>
                  <a:srgbClr val="002060"/>
                </a:solidFill>
              </a:rPr>
              <a:t> (DoCAN)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Message Size </a:t>
            </a:r>
            <a:r>
              <a:rPr lang="en-US" sz="2800">
                <a:solidFill>
                  <a:srgbClr val="FF0000"/>
                </a:solidFill>
              </a:rPr>
              <a:t>8 bytes </a:t>
            </a:r>
            <a:r>
              <a:rPr lang="en-US" sz="2800">
                <a:solidFill>
                  <a:srgbClr val="002060"/>
                </a:solidFill>
              </a:rPr>
              <a:t>(max) 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Compatible with </a:t>
            </a:r>
            <a:r>
              <a:rPr lang="en-US" sz="2800">
                <a:solidFill>
                  <a:srgbClr val="FF0000"/>
                </a:solidFill>
              </a:rPr>
              <a:t>CAN</a:t>
            </a:r>
            <a:r>
              <a:rPr lang="en-US" sz="2800">
                <a:solidFill>
                  <a:srgbClr val="002060"/>
                </a:solidFill>
              </a:rPr>
              <a:t> and </a:t>
            </a:r>
            <a:r>
              <a:rPr lang="en-US" sz="2800">
                <a:solidFill>
                  <a:srgbClr val="FF0000"/>
                </a:solidFill>
              </a:rPr>
              <a:t>LIN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3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UDS Workings</a:t>
            </a:r>
            <a:endParaRPr/>
          </a:p>
        </p:txBody>
      </p:sp>
      <p:pic>
        <p:nvPicPr>
          <p:cNvPr id="371" name="Google Shape;371;p33" descr="Electronic engine control un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85595" y="2053387"/>
            <a:ext cx="2710621" cy="15258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3" descr="Top 10 Best OBD2 Scanners in 2020 - Buyer's Guid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7174" y="1930751"/>
            <a:ext cx="1569781" cy="14978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73" name="Google Shape;373;p33"/>
          <p:cNvCxnSpPr/>
          <p:nvPr/>
        </p:nvCxnSpPr>
        <p:spPr>
          <a:xfrm>
            <a:off x="2824829" y="2440402"/>
            <a:ext cx="5950388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374" name="Google Shape;374;p33"/>
          <p:cNvCxnSpPr/>
          <p:nvPr/>
        </p:nvCxnSpPr>
        <p:spPr>
          <a:xfrm rot="10800000">
            <a:off x="2913924" y="3377775"/>
            <a:ext cx="5950388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375" name="Google Shape;375;p33"/>
          <p:cNvSpPr txBox="1"/>
          <p:nvPr/>
        </p:nvSpPr>
        <p:spPr>
          <a:xfrm>
            <a:off x="4394610" y="1930751"/>
            <a:ext cx="133882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Request</a:t>
            </a:r>
            <a:endParaRPr/>
          </a:p>
        </p:txBody>
      </p:sp>
      <p:sp>
        <p:nvSpPr>
          <p:cNvPr id="376" name="Google Shape;376;p33"/>
          <p:cNvSpPr txBox="1"/>
          <p:nvPr/>
        </p:nvSpPr>
        <p:spPr>
          <a:xfrm>
            <a:off x="4394610" y="2840987"/>
            <a:ext cx="155844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Response</a:t>
            </a:r>
            <a:endParaRPr/>
          </a:p>
        </p:txBody>
      </p:sp>
      <p:sp>
        <p:nvSpPr>
          <p:cNvPr id="377" name="Google Shape;377;p33"/>
          <p:cNvSpPr txBox="1"/>
          <p:nvPr/>
        </p:nvSpPr>
        <p:spPr>
          <a:xfrm>
            <a:off x="1255048" y="3727449"/>
            <a:ext cx="1059906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</a:t>
            </a:r>
            <a:endParaRPr/>
          </a:p>
        </p:txBody>
      </p:sp>
      <p:sp>
        <p:nvSpPr>
          <p:cNvPr id="378" name="Google Shape;378;p33"/>
          <p:cNvSpPr txBox="1"/>
          <p:nvPr/>
        </p:nvSpPr>
        <p:spPr>
          <a:xfrm>
            <a:off x="9482426" y="3731167"/>
            <a:ext cx="1122423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</a:t>
            </a:r>
            <a:endParaRPr/>
          </a:p>
        </p:txBody>
      </p:sp>
      <p:sp>
        <p:nvSpPr>
          <p:cNvPr id="379" name="Google Shape;379;p33"/>
          <p:cNvSpPr txBox="1"/>
          <p:nvPr/>
        </p:nvSpPr>
        <p:spPr>
          <a:xfrm>
            <a:off x="3905573" y="3941963"/>
            <a:ext cx="5255271" cy="2708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Services</a:t>
            </a:r>
            <a:endParaRPr/>
          </a:p>
          <a:p>
            <a:pPr marL="514350" marR="0" lvl="0" indent="-51435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Request for Data</a:t>
            </a:r>
            <a:endParaRPr/>
          </a:p>
          <a:p>
            <a:pPr marL="514350" marR="0" lvl="0" indent="-51435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Write some Data</a:t>
            </a:r>
            <a:endParaRPr/>
          </a:p>
          <a:p>
            <a:pPr marL="514350" marR="0" lvl="0" indent="-51435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Running Test and get results</a:t>
            </a:r>
            <a:endParaRPr/>
          </a:p>
          <a:p>
            <a:pPr marL="514350" marR="0" lvl="0" indent="-51435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Flashing a Program</a:t>
            </a:r>
            <a:endParaRPr/>
          </a:p>
          <a:p>
            <a:pPr marL="514350" marR="0" lvl="0" indent="-51435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Clearing Memory and more..,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4"/>
          <p:cNvSpPr txBox="1">
            <a:spLocks noGrp="1"/>
          </p:cNvSpPr>
          <p:nvPr>
            <p:ph type="title"/>
          </p:nvPr>
        </p:nvSpPr>
        <p:spPr>
          <a:xfrm>
            <a:off x="838200" y="308854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SID (Service Identifiers)</a:t>
            </a:r>
            <a:endParaRPr/>
          </a:p>
        </p:txBody>
      </p:sp>
      <p:sp>
        <p:nvSpPr>
          <p:cNvPr id="385" name="Google Shape;385;p34"/>
          <p:cNvSpPr txBox="1">
            <a:spLocks noGrp="1"/>
          </p:cNvSpPr>
          <p:nvPr>
            <p:ph type="body" idx="1"/>
          </p:nvPr>
        </p:nvSpPr>
        <p:spPr>
          <a:xfrm>
            <a:off x="1026942" y="1825624"/>
            <a:ext cx="10326858" cy="3477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Service Identifier describes a </a:t>
            </a:r>
            <a:r>
              <a:rPr lang="en-US" sz="2800">
                <a:solidFill>
                  <a:srgbClr val="FF0000"/>
                </a:solidFill>
              </a:rPr>
              <a:t>type of service </a:t>
            </a:r>
            <a:r>
              <a:rPr lang="en-US" sz="2800">
                <a:solidFill>
                  <a:srgbClr val="002060"/>
                </a:solidFill>
              </a:rPr>
              <a:t>required form client to server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Length :</a:t>
            </a:r>
            <a:r>
              <a:rPr lang="en-US" sz="2800">
                <a:solidFill>
                  <a:srgbClr val="FF0000"/>
                </a:solidFill>
              </a:rPr>
              <a:t>1 byte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Range :</a:t>
            </a:r>
            <a:r>
              <a:rPr lang="en-US" sz="2800">
                <a:solidFill>
                  <a:srgbClr val="FF0000"/>
                </a:solidFill>
              </a:rPr>
              <a:t>0X00 to 0X3E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It will be present always a </a:t>
            </a:r>
            <a:r>
              <a:rPr lang="en-US" sz="2800">
                <a:solidFill>
                  <a:srgbClr val="FF0000"/>
                </a:solidFill>
              </a:rPr>
              <a:t>1</a:t>
            </a:r>
            <a:r>
              <a:rPr lang="en-US" sz="2800" baseline="30000">
                <a:solidFill>
                  <a:srgbClr val="FF0000"/>
                </a:solidFill>
              </a:rPr>
              <a:t>st</a:t>
            </a:r>
            <a:r>
              <a:rPr lang="en-US" sz="2800">
                <a:solidFill>
                  <a:srgbClr val="FF0000"/>
                </a:solidFill>
              </a:rPr>
              <a:t> byte</a:t>
            </a:r>
            <a:r>
              <a:rPr lang="en-US" sz="2800">
                <a:solidFill>
                  <a:srgbClr val="002060"/>
                </a:solidFill>
              </a:rPr>
              <a:t> of Service request message and its </a:t>
            </a:r>
            <a:r>
              <a:rPr lang="en-US" sz="2800">
                <a:solidFill>
                  <a:srgbClr val="FF0000"/>
                </a:solidFill>
              </a:rPr>
              <a:t>mandatory.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35" descr="Image result for services in UDS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65108" y="21690"/>
            <a:ext cx="8716849" cy="68363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CAPL Script</a:t>
            </a:r>
            <a:endParaRPr/>
          </a:p>
        </p:txBody>
      </p:sp>
      <p:sp>
        <p:nvSpPr>
          <p:cNvPr id="396" name="Google Shape;396;p3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CAPL  - CAN Access Programming Language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Similar to C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D</a:t>
            </a:r>
            <a:r>
              <a:rPr lang="en-US" sz="2800" b="0" i="0">
                <a:solidFill>
                  <a:srgbClr val="002060"/>
                </a:solidFill>
              </a:rPr>
              <a:t>eveloped by Vector Informatik.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>
                <a:solidFill>
                  <a:srgbClr val="002060"/>
                </a:solidFill>
              </a:rPr>
              <a:t>The execution of program blocks is controlled by events.</a:t>
            </a:r>
            <a:endParaRPr sz="2800">
              <a:solidFill>
                <a:srgbClr val="00206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>
                <a:solidFill>
                  <a:srgbClr val="002060"/>
                </a:solidFill>
              </a:rPr>
              <a:t>CAPL programs are developed and compiled in a dedicated browser.</a:t>
            </a:r>
            <a:endParaRPr sz="2800">
              <a:solidFill>
                <a:srgbClr val="002060"/>
              </a:solidFill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 i="0" u="none" strike="noStrike" cap="none">
                <a:solidFill>
                  <a:srgbClr val="002060"/>
                </a:solidFill>
              </a:rPr>
              <a:t>CAPL Program Organization</a:t>
            </a:r>
            <a:endParaRPr sz="2800">
              <a:solidFill>
                <a:srgbClr val="002060"/>
              </a:solidFill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 i="0" u="none" strike="noStrike" cap="none">
                <a:solidFill>
                  <a:srgbClr val="002060"/>
                </a:solidFill>
              </a:rPr>
              <a:t>            1. Global Variable Declarations</a:t>
            </a:r>
            <a:endParaRPr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 i="0" u="none" strike="noStrike" cap="none">
                <a:solidFill>
                  <a:srgbClr val="002060"/>
                </a:solidFill>
              </a:rPr>
              <a:t>            2. Event Procedures</a:t>
            </a:r>
            <a:endParaRPr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 i="0" u="none" strike="noStrike" cap="none">
                <a:solidFill>
                  <a:srgbClr val="002060"/>
                </a:solidFill>
              </a:rPr>
              <a:t>            3. User-Defined Functions</a:t>
            </a: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7"/>
          <p:cNvSpPr txBox="1">
            <a:spLocks noGrp="1"/>
          </p:cNvSpPr>
          <p:nvPr>
            <p:ph type="title"/>
          </p:nvPr>
        </p:nvSpPr>
        <p:spPr>
          <a:xfrm>
            <a:off x="838200" y="16817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CAPL Script Basic Structure</a:t>
            </a:r>
            <a:endParaRPr/>
          </a:p>
        </p:txBody>
      </p:sp>
      <p:sp>
        <p:nvSpPr>
          <p:cNvPr id="402" name="Google Shape;402;p37"/>
          <p:cNvSpPr txBox="1">
            <a:spLocks noGrp="1"/>
          </p:cNvSpPr>
          <p:nvPr>
            <p:ph type="body" idx="1"/>
          </p:nvPr>
        </p:nvSpPr>
        <p:spPr>
          <a:xfrm>
            <a:off x="838200" y="1237957"/>
            <a:ext cx="10515600" cy="5620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include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}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variables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local and system variable declaration;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}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Event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}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User defined functions()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}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3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Timer</a:t>
            </a:r>
            <a:endParaRPr/>
          </a:p>
        </p:txBody>
      </p:sp>
      <p:sp>
        <p:nvSpPr>
          <p:cNvPr id="408" name="Google Shape;408;p3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379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>
                <a:solidFill>
                  <a:srgbClr val="002060"/>
                </a:solidFill>
              </a:rPr>
              <a:t>It is a built-in peripheral that counts down from a specified time interval and used to generate a time delay.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Steps to use Timer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</a:rPr>
              <a:t>Declaring a Timer variable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</a:rPr>
              <a:t>Preset Timer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</a:rPr>
              <a:t>Start timer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 b="0" i="0" u="none" strike="noStrike"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39"/>
          <p:cNvSpPr txBox="1">
            <a:spLocks noGrp="1"/>
          </p:cNvSpPr>
          <p:nvPr>
            <p:ph type="body" idx="1"/>
          </p:nvPr>
        </p:nvSpPr>
        <p:spPr>
          <a:xfrm>
            <a:off x="731519" y="263146"/>
            <a:ext cx="10744493" cy="982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-US" sz="2800">
                <a:solidFill>
                  <a:srgbClr val="FF0000"/>
                </a:solidFill>
              </a:rPr>
              <a:t>Example : </a:t>
            </a:r>
            <a:r>
              <a:rPr lang="en-US" sz="2800">
                <a:solidFill>
                  <a:srgbClr val="00B050"/>
                </a:solidFill>
              </a:rPr>
              <a:t>Send dummy ABS sensor data to CAN network node with 5000ms interval.</a:t>
            </a:r>
            <a:endParaRPr/>
          </a:p>
        </p:txBody>
      </p:sp>
      <p:sp>
        <p:nvSpPr>
          <p:cNvPr id="414" name="Google Shape;414;p39"/>
          <p:cNvSpPr txBox="1"/>
          <p:nvPr/>
        </p:nvSpPr>
        <p:spPr>
          <a:xfrm>
            <a:off x="928467" y="1595021"/>
            <a:ext cx="8102991" cy="5262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include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variables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 timercount;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msTimer abstimer; //Timer variable initialization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 start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setTimer(abstimer,5000);//Preset timer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Times New Roman"/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  <a:endParaRPr/>
          </a:p>
        </p:txBody>
      </p:sp>
      <p:sp>
        <p:nvSpPr>
          <p:cNvPr id="415" name="Google Shape;415;p39"/>
          <p:cNvSpPr txBox="1"/>
          <p:nvPr/>
        </p:nvSpPr>
        <p:spPr>
          <a:xfrm>
            <a:off x="6757182" y="1246015"/>
            <a:ext cx="5434818" cy="3108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 timer abstimer //Start Timer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timercount++;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write(“ABS message is transmitting %d”,timercount);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setTimer(abstimer,5000);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0"/>
          <p:cNvSpPr txBox="1">
            <a:spLocks noGrp="1"/>
          </p:cNvSpPr>
          <p:nvPr>
            <p:ph type="title"/>
          </p:nvPr>
        </p:nvSpPr>
        <p:spPr>
          <a:xfrm>
            <a:off x="838200" y="229239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 sz="6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Diagnostics session</a:t>
            </a:r>
            <a:br>
              <a:rPr lang="en-US" sz="6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6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10H Services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Diagnostics Session 10Hex Service</a:t>
            </a:r>
            <a:endParaRPr/>
          </a:p>
        </p:txBody>
      </p:sp>
      <p:sp>
        <p:nvSpPr>
          <p:cNvPr id="426" name="Google Shape;426;p41"/>
          <p:cNvSpPr txBox="1"/>
          <p:nvPr/>
        </p:nvSpPr>
        <p:spPr>
          <a:xfrm>
            <a:off x="1237957" y="2152357"/>
            <a:ext cx="969264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Diagnostic Session Control service is used to enable different diagnostic sessions in the server(s).</a:t>
            </a:r>
            <a:endParaRPr/>
          </a:p>
        </p:txBody>
      </p:sp>
      <p:sp>
        <p:nvSpPr>
          <p:cNvPr id="427" name="Google Shape;427;p41"/>
          <p:cNvSpPr txBox="1"/>
          <p:nvPr/>
        </p:nvSpPr>
        <p:spPr>
          <a:xfrm>
            <a:off x="1561512" y="3429000"/>
            <a:ext cx="5359792" cy="1815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14350" marR="0" lvl="0" indent="-51435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Request Message</a:t>
            </a:r>
            <a:endParaRPr/>
          </a:p>
          <a:p>
            <a:pPr marL="514350" marR="0" lvl="0" indent="-51435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Positive Response</a:t>
            </a:r>
            <a:endParaRPr/>
          </a:p>
          <a:p>
            <a:pPr marL="514350" marR="0" lvl="0" indent="-51435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Negative Response</a:t>
            </a:r>
            <a:endParaRPr/>
          </a:p>
          <a:p>
            <a:pPr marL="514350" marR="0" lvl="0" indent="-51435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Sub function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29698" y="1282211"/>
            <a:ext cx="10132604" cy="46824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10H Request Frame Format</a:t>
            </a:r>
            <a:endParaRPr/>
          </a:p>
        </p:txBody>
      </p:sp>
      <p:pic>
        <p:nvPicPr>
          <p:cNvPr id="439" name="Google Shape;439;p43"/>
          <p:cNvPicPr preferRelativeResize="0"/>
          <p:nvPr/>
        </p:nvPicPr>
        <p:blipFill rotWithShape="1">
          <a:blip r:embed="rId3">
            <a:alphaModFix/>
          </a:blip>
          <a:srcRect b="5049"/>
          <a:stretch/>
        </p:blipFill>
        <p:spPr>
          <a:xfrm>
            <a:off x="731520" y="4106877"/>
            <a:ext cx="11029139" cy="2139844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43"/>
          <p:cNvSpPr/>
          <p:nvPr/>
        </p:nvSpPr>
        <p:spPr>
          <a:xfrm>
            <a:off x="555156" y="2442864"/>
            <a:ext cx="1448972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MESSAGE ID</a:t>
            </a:r>
            <a:endParaRPr/>
          </a:p>
        </p:txBody>
      </p:sp>
      <p:sp>
        <p:nvSpPr>
          <p:cNvPr id="441" name="Google Shape;441;p43"/>
          <p:cNvSpPr/>
          <p:nvPr/>
        </p:nvSpPr>
        <p:spPr>
          <a:xfrm>
            <a:off x="2004128" y="2442864"/>
            <a:ext cx="1069145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NO.OF BYTES</a:t>
            </a:r>
            <a:endParaRPr/>
          </a:p>
        </p:txBody>
      </p:sp>
      <p:sp>
        <p:nvSpPr>
          <p:cNvPr id="442" name="Google Shape;442;p43"/>
          <p:cNvSpPr/>
          <p:nvPr/>
        </p:nvSpPr>
        <p:spPr>
          <a:xfrm>
            <a:off x="3073273" y="2442864"/>
            <a:ext cx="1237957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SERVICE ID</a:t>
            </a:r>
            <a:endParaRPr/>
          </a:p>
        </p:txBody>
      </p:sp>
      <p:sp>
        <p:nvSpPr>
          <p:cNvPr id="443" name="Google Shape;443;p43"/>
          <p:cNvSpPr/>
          <p:nvPr/>
        </p:nvSpPr>
        <p:spPr>
          <a:xfrm>
            <a:off x="4322986" y="2442863"/>
            <a:ext cx="1448972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SUB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FUNCTION</a:t>
            </a:r>
            <a:endParaRPr/>
          </a:p>
        </p:txBody>
      </p:sp>
      <p:sp>
        <p:nvSpPr>
          <p:cNvPr id="444" name="Google Shape;444;p43"/>
          <p:cNvSpPr/>
          <p:nvPr/>
        </p:nvSpPr>
        <p:spPr>
          <a:xfrm>
            <a:off x="5771958" y="2442862"/>
            <a:ext cx="1029253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DID</a:t>
            </a:r>
            <a:endParaRPr/>
          </a:p>
        </p:txBody>
      </p:sp>
      <p:sp>
        <p:nvSpPr>
          <p:cNvPr id="445" name="Google Shape;445;p43"/>
          <p:cNvSpPr/>
          <p:nvPr/>
        </p:nvSpPr>
        <p:spPr>
          <a:xfrm>
            <a:off x="6801211" y="2442861"/>
            <a:ext cx="1237957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</a:t>
            </a:r>
            <a:endParaRPr/>
          </a:p>
        </p:txBody>
      </p:sp>
      <p:sp>
        <p:nvSpPr>
          <p:cNvPr id="446" name="Google Shape;446;p43"/>
          <p:cNvSpPr/>
          <p:nvPr/>
        </p:nvSpPr>
        <p:spPr>
          <a:xfrm>
            <a:off x="8046788" y="2442860"/>
            <a:ext cx="1237957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Times New Roman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</a:t>
            </a: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47" name="Google Shape;447;p43"/>
          <p:cNvSpPr/>
          <p:nvPr/>
        </p:nvSpPr>
        <p:spPr>
          <a:xfrm>
            <a:off x="9284745" y="2442859"/>
            <a:ext cx="1237957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Times New Roman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</a:t>
            </a: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48" name="Google Shape;448;p43"/>
          <p:cNvSpPr/>
          <p:nvPr/>
        </p:nvSpPr>
        <p:spPr>
          <a:xfrm>
            <a:off x="10522702" y="2442858"/>
            <a:ext cx="1237957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Times New Roman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4"/>
          <p:cNvSpPr txBox="1">
            <a:spLocks noGrp="1"/>
          </p:cNvSpPr>
          <p:nvPr>
            <p:ph type="body" idx="1"/>
          </p:nvPr>
        </p:nvSpPr>
        <p:spPr>
          <a:xfrm>
            <a:off x="838200" y="1253331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-US" sz="2800">
                <a:solidFill>
                  <a:srgbClr val="FF0000"/>
                </a:solidFill>
              </a:rPr>
              <a:t>Message ID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It can be any value, it does not affect any process, don’t use same message ID for some other frame.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-US" sz="2800">
                <a:solidFill>
                  <a:srgbClr val="FF0000"/>
                </a:solidFill>
              </a:rPr>
              <a:t>Number of bytes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-US" sz="2800">
                <a:solidFill>
                  <a:srgbClr val="FF0000"/>
                </a:solidFill>
              </a:rPr>
              <a:t>Data Identifier 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DID is used to specify the data element which is to be read.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Example : 0XFB02 – distance travelled.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3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-US" sz="2800">
                <a:solidFill>
                  <a:srgbClr val="FF0000"/>
                </a:solidFill>
              </a:rPr>
              <a:t>Data Record field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Read data by identifier		-		No need of data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Write Data by identifier		-		Needs data.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Eg : 0X9876 🡪 vehicle speed limit.</a:t>
            </a:r>
            <a:endParaRPr sz="2800"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46"/>
          <p:cNvSpPr txBox="1">
            <a:spLocks noGrp="1"/>
          </p:cNvSpPr>
          <p:nvPr>
            <p:ph type="body" idx="1"/>
          </p:nvPr>
        </p:nvSpPr>
        <p:spPr>
          <a:xfrm>
            <a:off x="2695721" y="225560"/>
            <a:ext cx="6800557" cy="495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None/>
            </a:pPr>
            <a:r>
              <a:rPr lang="en-US" sz="4000">
                <a:solidFill>
                  <a:srgbClr val="FF0000"/>
                </a:solidFill>
              </a:rPr>
              <a:t>Sub functions</a:t>
            </a:r>
            <a:endParaRPr/>
          </a:p>
        </p:txBody>
      </p:sp>
      <p:graphicFrame>
        <p:nvGraphicFramePr>
          <p:cNvPr id="465" name="Google Shape;465;p46"/>
          <p:cNvGraphicFramePr/>
          <p:nvPr/>
        </p:nvGraphicFramePr>
        <p:xfrm>
          <a:off x="0" y="116245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{8DE30F34-3500-48CC-B1A7-52E360DDCD2A}</a:tableStyleId>
              </a:tblPr>
              <a:tblGrid>
                <a:gridCol w="128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07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3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HEX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Subfunction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ISOSAE Reserved</a:t>
                      </a:r>
                      <a:endParaRPr sz="24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01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Default Session</a:t>
                      </a:r>
                      <a:endParaRPr sz="24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2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Programming Session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 upload software</a:t>
                      </a:r>
                      <a:endParaRPr sz="24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2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03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Extended Diagnostic Session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 unlock additional diagnostic functions, such as the adjustment of sensors.</a:t>
                      </a:r>
                      <a:endParaRPr sz="24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62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04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Safety System Diagnostic Session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To test all safety-critical diagnostic functions, such as airbag tests.</a:t>
                      </a:r>
                      <a:endParaRPr sz="24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05-3F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ISOSAE Reserved</a:t>
                      </a:r>
                      <a:endParaRPr sz="24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40-5F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Vehicle Manufacturer Specific</a:t>
                      </a:r>
                      <a:endParaRPr sz="24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60-7E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System Supplier Specific</a:t>
                      </a:r>
                      <a:endParaRPr sz="24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5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7F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ISOSAE Reserved</a:t>
                      </a:r>
                      <a:endParaRPr sz="24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10H Positiv</a:t>
            </a:r>
            <a:r>
              <a:rPr lang="en-US"/>
              <a:t>e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Response frame format</a:t>
            </a:r>
            <a:endParaRPr/>
          </a:p>
        </p:txBody>
      </p:sp>
      <p:pic>
        <p:nvPicPr>
          <p:cNvPr id="472" name="Google Shape;472;p4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09841" y="3179299"/>
            <a:ext cx="11372318" cy="3692769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47"/>
          <p:cNvSpPr/>
          <p:nvPr/>
        </p:nvSpPr>
        <p:spPr>
          <a:xfrm>
            <a:off x="838200" y="1995532"/>
            <a:ext cx="1097819" cy="7820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Message ID</a:t>
            </a:r>
            <a:endParaRPr/>
          </a:p>
        </p:txBody>
      </p:sp>
      <p:sp>
        <p:nvSpPr>
          <p:cNvPr id="474" name="Google Shape;474;p47"/>
          <p:cNvSpPr/>
          <p:nvPr/>
        </p:nvSpPr>
        <p:spPr>
          <a:xfrm>
            <a:off x="1936019" y="1995532"/>
            <a:ext cx="928468" cy="7820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NO.OF BYTES</a:t>
            </a:r>
            <a:endParaRPr/>
          </a:p>
        </p:txBody>
      </p:sp>
      <p:sp>
        <p:nvSpPr>
          <p:cNvPr id="475" name="Google Shape;475;p47"/>
          <p:cNvSpPr/>
          <p:nvPr/>
        </p:nvSpPr>
        <p:spPr>
          <a:xfrm>
            <a:off x="2864486" y="1995532"/>
            <a:ext cx="1006299" cy="7820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SERVICE ID+ 40</a:t>
            </a:r>
            <a:endParaRPr/>
          </a:p>
        </p:txBody>
      </p:sp>
      <p:sp>
        <p:nvSpPr>
          <p:cNvPr id="476" name="Google Shape;476;p47"/>
          <p:cNvSpPr/>
          <p:nvPr/>
        </p:nvSpPr>
        <p:spPr>
          <a:xfrm>
            <a:off x="3792955" y="1995532"/>
            <a:ext cx="1107905" cy="7820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Sub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/>
          </a:p>
        </p:txBody>
      </p:sp>
      <p:sp>
        <p:nvSpPr>
          <p:cNvPr id="477" name="Google Shape;477;p47"/>
          <p:cNvSpPr/>
          <p:nvPr/>
        </p:nvSpPr>
        <p:spPr>
          <a:xfrm>
            <a:off x="4900859" y="1995532"/>
            <a:ext cx="2358959" cy="7820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Session Response time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 bit Resolution</a:t>
            </a:r>
            <a:endParaRPr/>
          </a:p>
        </p:txBody>
      </p:sp>
      <p:sp>
        <p:nvSpPr>
          <p:cNvPr id="478" name="Google Shape;478;p47"/>
          <p:cNvSpPr/>
          <p:nvPr/>
        </p:nvSpPr>
        <p:spPr>
          <a:xfrm>
            <a:off x="7259818" y="1995532"/>
            <a:ext cx="1921212" cy="7820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Response Time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 bit  resolution</a:t>
            </a:r>
            <a:endParaRPr/>
          </a:p>
        </p:txBody>
      </p:sp>
      <p:sp>
        <p:nvSpPr>
          <p:cNvPr id="479" name="Google Shape;479;p47"/>
          <p:cNvSpPr/>
          <p:nvPr/>
        </p:nvSpPr>
        <p:spPr>
          <a:xfrm>
            <a:off x="9181030" y="1995532"/>
            <a:ext cx="1041251" cy="7820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48"/>
          <p:cNvSpPr txBox="1">
            <a:spLocks noGrp="1"/>
          </p:cNvSpPr>
          <p:nvPr>
            <p:ph type="body" idx="1"/>
          </p:nvPr>
        </p:nvSpPr>
        <p:spPr>
          <a:xfrm>
            <a:off x="838200" y="1253331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-US" sz="2800">
                <a:solidFill>
                  <a:srgbClr val="FF0000"/>
                </a:solidFill>
              </a:rPr>
              <a:t>Service ID </a:t>
            </a:r>
            <a:r>
              <a:rPr lang="en-US" sz="2800">
                <a:solidFill>
                  <a:srgbClr val="002060"/>
                </a:solidFill>
              </a:rPr>
              <a:t>				-		Actual Service ID + 40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-US" sz="2800">
                <a:solidFill>
                  <a:srgbClr val="FF0000"/>
                </a:solidFill>
              </a:rPr>
              <a:t>Session Response time (1 bit)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It’s a minimum response time after request made by client.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-US" sz="2800">
                <a:solidFill>
                  <a:srgbClr val="FF0000"/>
                </a:solidFill>
              </a:rPr>
              <a:t>Response time (10 bit resolution)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It’s a maximum response time after request made by client.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9" name="Google Shape;489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2174" y="3277772"/>
            <a:ext cx="9147651" cy="3362059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4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10H </a:t>
            </a:r>
            <a:r>
              <a:rPr lang="en-US"/>
              <a:t>Negative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Response frame format</a:t>
            </a:r>
            <a:endParaRPr/>
          </a:p>
        </p:txBody>
      </p:sp>
      <p:sp>
        <p:nvSpPr>
          <p:cNvPr id="491" name="Google Shape;491;p49"/>
          <p:cNvSpPr/>
          <p:nvPr/>
        </p:nvSpPr>
        <p:spPr>
          <a:xfrm>
            <a:off x="1522174" y="1690687"/>
            <a:ext cx="1959010" cy="102494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MESSAGE ID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49"/>
          <p:cNvSpPr/>
          <p:nvPr/>
        </p:nvSpPr>
        <p:spPr>
          <a:xfrm>
            <a:off x="3481184" y="1690687"/>
            <a:ext cx="1959010" cy="102494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NO.OF BYTES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49"/>
          <p:cNvSpPr/>
          <p:nvPr/>
        </p:nvSpPr>
        <p:spPr>
          <a:xfrm>
            <a:off x="5440194" y="1690689"/>
            <a:ext cx="1959010" cy="102494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NR_SERVICE ID</a:t>
            </a:r>
            <a:endParaRPr/>
          </a:p>
        </p:txBody>
      </p:sp>
      <p:sp>
        <p:nvSpPr>
          <p:cNvPr id="494" name="Google Shape;494;p49"/>
          <p:cNvSpPr/>
          <p:nvPr/>
        </p:nvSpPr>
        <p:spPr>
          <a:xfrm>
            <a:off x="7399204" y="1690687"/>
            <a:ext cx="1959010" cy="102494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SERVICE ID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49"/>
          <p:cNvSpPr/>
          <p:nvPr/>
        </p:nvSpPr>
        <p:spPr>
          <a:xfrm>
            <a:off x="9358214" y="1690687"/>
            <a:ext cx="1959010" cy="102494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NRC CODE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50"/>
          <p:cNvSpPr txBox="1">
            <a:spLocks noGrp="1"/>
          </p:cNvSpPr>
          <p:nvPr>
            <p:ph type="title"/>
          </p:nvPr>
        </p:nvSpPr>
        <p:spPr>
          <a:xfrm>
            <a:off x="838200" y="1124782"/>
            <a:ext cx="2186354" cy="535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3800"/>
              <a:buFont typeface="Times New Roman"/>
              <a:buNone/>
            </a:pPr>
            <a:r>
              <a:rPr lang="en-US" sz="3800"/>
              <a:t>Example</a:t>
            </a:r>
            <a:endParaRPr/>
          </a:p>
        </p:txBody>
      </p:sp>
      <p:sp>
        <p:nvSpPr>
          <p:cNvPr id="501" name="Google Shape;501;p5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-US" sz="2800">
                <a:solidFill>
                  <a:srgbClr val="FF0000"/>
                </a:solidFill>
              </a:rPr>
              <a:t>Frame the Diagnostic session service with positive response for the following statement: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	Subfunction : default session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	Session response time : 50ms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	Response time : 5000ms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	Message ID : 450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	Data record field : none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5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Session Response time calculation </a:t>
            </a:r>
            <a:endParaRPr/>
          </a:p>
        </p:txBody>
      </p:sp>
      <p:sp>
        <p:nvSpPr>
          <p:cNvPr id="507" name="Google Shape;507;p5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Required time 		 50ms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Resolution 		 1 bit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Session response time = (Required time / resolution)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			= 50 / 1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			= (50)d 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			= (0X32)h	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5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Response time calculation </a:t>
            </a:r>
            <a:endParaRPr/>
          </a:p>
        </p:txBody>
      </p:sp>
      <p:sp>
        <p:nvSpPr>
          <p:cNvPr id="513" name="Google Shape;513;p5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Required time 		 5000ms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Resolution 		 10 bit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Response time = (Required time / resolution)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			= (5000 / 10)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			= (500)d 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			= (0X1F4)h	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Client to Server Request</a:t>
            </a:r>
            <a:endParaRPr/>
          </a:p>
        </p:txBody>
      </p:sp>
      <p:graphicFrame>
        <p:nvGraphicFramePr>
          <p:cNvPr id="519" name="Google Shape;519;p53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20" name="Google Shape;520;p53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450</a:t>
            </a:r>
            <a:endParaRPr/>
          </a:p>
        </p:txBody>
      </p:sp>
      <p:sp>
        <p:nvSpPr>
          <p:cNvPr id="521" name="Google Shape;521;p53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522" name="Google Shape;522;p53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523" name="Google Shape;523;p53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524" name="Google Shape;524;p53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525" name="Google Shape;525;p53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526" name="Google Shape;526;p53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527" name="Google Shape;527;p53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5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Server to Client Response</a:t>
            </a:r>
            <a:endParaRPr/>
          </a:p>
        </p:txBody>
      </p:sp>
      <p:graphicFrame>
        <p:nvGraphicFramePr>
          <p:cNvPr id="533" name="Google Shape;533;p54"/>
          <p:cNvGraphicFramePr/>
          <p:nvPr/>
        </p:nvGraphicFramePr>
        <p:xfrm>
          <a:off x="601981" y="29718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499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1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48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2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SERVICE ID+ 40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SESSION RESPONSE TIME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(1 bit)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/>
                        <a:t>RESPONSE TIME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/>
                        <a:t>(10 bit)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34" name="Google Shape;534;p54"/>
          <p:cNvSpPr/>
          <p:nvPr/>
        </p:nvSpPr>
        <p:spPr>
          <a:xfrm>
            <a:off x="601981" y="3886200"/>
            <a:ext cx="147710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480</a:t>
            </a:r>
            <a:endParaRPr/>
          </a:p>
        </p:txBody>
      </p:sp>
      <p:sp>
        <p:nvSpPr>
          <p:cNvPr id="535" name="Google Shape;535;p54"/>
          <p:cNvSpPr/>
          <p:nvPr/>
        </p:nvSpPr>
        <p:spPr>
          <a:xfrm>
            <a:off x="2079087" y="3886200"/>
            <a:ext cx="984738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536" name="Google Shape;536;p54"/>
          <p:cNvSpPr/>
          <p:nvPr/>
        </p:nvSpPr>
        <p:spPr>
          <a:xfrm>
            <a:off x="3063825" y="3886200"/>
            <a:ext cx="112541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537" name="Google Shape;537;p54"/>
          <p:cNvSpPr/>
          <p:nvPr/>
        </p:nvSpPr>
        <p:spPr>
          <a:xfrm>
            <a:off x="4189241" y="3889268"/>
            <a:ext cx="1364566" cy="87758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538" name="Google Shape;538;p54"/>
          <p:cNvSpPr/>
          <p:nvPr/>
        </p:nvSpPr>
        <p:spPr>
          <a:xfrm>
            <a:off x="5553807" y="3886200"/>
            <a:ext cx="1237957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539" name="Google Shape;539;p54"/>
          <p:cNvSpPr/>
          <p:nvPr/>
        </p:nvSpPr>
        <p:spPr>
          <a:xfrm>
            <a:off x="6791764" y="3886200"/>
            <a:ext cx="109728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32</a:t>
            </a:r>
            <a:endParaRPr/>
          </a:p>
        </p:txBody>
      </p:sp>
      <p:sp>
        <p:nvSpPr>
          <p:cNvPr id="540" name="Google Shape;540;p54"/>
          <p:cNvSpPr/>
          <p:nvPr/>
        </p:nvSpPr>
        <p:spPr>
          <a:xfrm>
            <a:off x="7889044" y="3886200"/>
            <a:ext cx="900332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541" name="Google Shape;541;p54"/>
          <p:cNvSpPr/>
          <p:nvPr/>
        </p:nvSpPr>
        <p:spPr>
          <a:xfrm>
            <a:off x="8789376" y="3886200"/>
            <a:ext cx="900332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F4</a:t>
            </a:r>
            <a:endParaRPr/>
          </a:p>
        </p:txBody>
      </p:sp>
      <p:sp>
        <p:nvSpPr>
          <p:cNvPr id="542" name="Google Shape;542;p54"/>
          <p:cNvSpPr/>
          <p:nvPr/>
        </p:nvSpPr>
        <p:spPr>
          <a:xfrm>
            <a:off x="9678571" y="3886200"/>
            <a:ext cx="9688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5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Server to Client Negative Response</a:t>
            </a:r>
            <a:endParaRPr/>
          </a:p>
        </p:txBody>
      </p:sp>
      <p:graphicFrame>
        <p:nvGraphicFramePr>
          <p:cNvPr id="548" name="Google Shape;548;p55"/>
          <p:cNvGraphicFramePr/>
          <p:nvPr/>
        </p:nvGraphicFramePr>
        <p:xfrm>
          <a:off x="1340534" y="292454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2102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9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NR_SERVICE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SERVICE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NRC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CODE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49" name="Google Shape;549;p55"/>
          <p:cNvSpPr/>
          <p:nvPr/>
        </p:nvSpPr>
        <p:spPr>
          <a:xfrm>
            <a:off x="1340534" y="3564626"/>
            <a:ext cx="2120118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490</a:t>
            </a:r>
            <a:endParaRPr/>
          </a:p>
        </p:txBody>
      </p:sp>
      <p:sp>
        <p:nvSpPr>
          <p:cNvPr id="550" name="Google Shape;550;p55"/>
          <p:cNvSpPr/>
          <p:nvPr/>
        </p:nvSpPr>
        <p:spPr>
          <a:xfrm>
            <a:off x="3460652" y="3564626"/>
            <a:ext cx="1322363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551" name="Google Shape;551;p55"/>
          <p:cNvSpPr/>
          <p:nvPr/>
        </p:nvSpPr>
        <p:spPr>
          <a:xfrm>
            <a:off x="4783016" y="3550784"/>
            <a:ext cx="2120118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7F</a:t>
            </a:r>
            <a:endParaRPr/>
          </a:p>
        </p:txBody>
      </p:sp>
      <p:sp>
        <p:nvSpPr>
          <p:cNvPr id="552" name="Google Shape;552;p55"/>
          <p:cNvSpPr/>
          <p:nvPr/>
        </p:nvSpPr>
        <p:spPr>
          <a:xfrm>
            <a:off x="6903134" y="3550784"/>
            <a:ext cx="1533379" cy="87758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553" name="Google Shape;553;p55"/>
          <p:cNvSpPr/>
          <p:nvPr/>
        </p:nvSpPr>
        <p:spPr>
          <a:xfrm>
            <a:off x="8436513" y="3549250"/>
            <a:ext cx="145307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56"/>
          <p:cNvSpPr txBox="1">
            <a:spLocks noGrp="1"/>
          </p:cNvSpPr>
          <p:nvPr>
            <p:ph type="title"/>
          </p:nvPr>
        </p:nvSpPr>
        <p:spPr>
          <a:xfrm>
            <a:off x="703385" y="365126"/>
            <a:ext cx="10650415" cy="675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Client to Server Request code</a:t>
            </a:r>
            <a:endParaRPr/>
          </a:p>
        </p:txBody>
      </p:sp>
      <p:sp>
        <p:nvSpPr>
          <p:cNvPr id="559" name="Google Shape;559;p56"/>
          <p:cNvSpPr txBox="1">
            <a:spLocks noGrp="1"/>
          </p:cNvSpPr>
          <p:nvPr>
            <p:ph type="body" idx="1"/>
          </p:nvPr>
        </p:nvSpPr>
        <p:spPr>
          <a:xfrm>
            <a:off x="838200" y="1041010"/>
            <a:ext cx="4732606" cy="578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includes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}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variables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  message diag_req _Request;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  message diag_response _Response;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}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on start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>
                <a:solidFill>
                  <a:srgbClr val="002060"/>
                </a:solidFill>
              </a:rPr>
              <a:t>}</a:t>
            </a: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 key 'w'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sessioncontrol(0x01);  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>
              <a:solidFill>
                <a:srgbClr val="002060"/>
              </a:solidFill>
            </a:endParaRPr>
          </a:p>
        </p:txBody>
      </p:sp>
      <p:sp>
        <p:nvSpPr>
          <p:cNvPr id="560" name="Google Shape;560;p56"/>
          <p:cNvSpPr txBox="1"/>
          <p:nvPr/>
        </p:nvSpPr>
        <p:spPr>
          <a:xfrm>
            <a:off x="6621196" y="1290326"/>
            <a:ext cx="4311162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void sessioncontrol(byte session)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if(session==1)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_Request.byte(0)=0x02;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_Request.byte(1)=0x10;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_Request.byte(2)=0x01;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_Request.byte(3)=0x0;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_Request.byte(4)=0x0;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_Request.byte(5)=0x0;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_Request.byte(6)=0x0;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_Request.byte(7)=0x0;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output(_Request);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57"/>
          <p:cNvSpPr txBox="1">
            <a:spLocks noGrp="1"/>
          </p:cNvSpPr>
          <p:nvPr>
            <p:ph type="title"/>
          </p:nvPr>
        </p:nvSpPr>
        <p:spPr>
          <a:xfrm>
            <a:off x="703384" y="238517"/>
            <a:ext cx="10650415" cy="675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Server to client Response</a:t>
            </a:r>
            <a:endParaRPr/>
          </a:p>
        </p:txBody>
      </p:sp>
      <p:sp>
        <p:nvSpPr>
          <p:cNvPr id="566" name="Google Shape;566;p57"/>
          <p:cNvSpPr txBox="1">
            <a:spLocks noGrp="1"/>
          </p:cNvSpPr>
          <p:nvPr>
            <p:ph type="body" idx="1"/>
          </p:nvPr>
        </p:nvSpPr>
        <p:spPr>
          <a:xfrm>
            <a:off x="703384" y="1041010"/>
            <a:ext cx="5392615" cy="58169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includes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}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variables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  message diag_req _Request;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  message diag_response _Response;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}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on message diag_req</a:t>
            </a:r>
            <a:endParaRPr sz="220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{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  write("Entered");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if(this.byte(1)==0x010)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None/>
            </a:pPr>
            <a:r>
              <a:rPr lang="en-US" sz="2200">
                <a:solidFill>
                  <a:srgbClr val="002060"/>
                </a:solidFill>
              </a:rPr>
              <a:t>  { 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</a:pPr>
            <a:endParaRPr sz="220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</a:pPr>
            <a:endParaRPr sz="2200">
              <a:solidFill>
                <a:srgbClr val="002060"/>
              </a:solidFill>
            </a:endParaRPr>
          </a:p>
        </p:txBody>
      </p:sp>
      <p:sp>
        <p:nvSpPr>
          <p:cNvPr id="567" name="Google Shape;567;p57"/>
          <p:cNvSpPr txBox="1"/>
          <p:nvPr/>
        </p:nvSpPr>
        <p:spPr>
          <a:xfrm>
            <a:off x="6635262" y="1041010"/>
            <a:ext cx="5556738" cy="576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if((this.byte(2)==0x01)&amp;(this.byte(0)==0x02))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{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_Response.byte(0)=0x06;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_Response.byte(1)=0x50;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_Response.byte(2)=0x01;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_Response.byte(3)=0x00;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_Response.byte(4)=0x23;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_Response.byte(5)=0x03;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_Response.byte(6)=0x41;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_Response.byte(7)=0x0;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output(_Response);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}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200"/>
              <a:buFont typeface="Arial"/>
              <a:buNone/>
            </a:pPr>
            <a:r>
              <a:rPr lang="en-US" sz="22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}}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58"/>
          <p:cNvSpPr txBox="1">
            <a:spLocks noGrp="1"/>
          </p:cNvSpPr>
          <p:nvPr>
            <p:ph type="title"/>
          </p:nvPr>
        </p:nvSpPr>
        <p:spPr>
          <a:xfrm>
            <a:off x="838200" y="229239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6200"/>
              <a:buFont typeface="Times New Roman"/>
              <a:buNone/>
            </a:pPr>
            <a:r>
              <a:rPr lang="en-US" sz="6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ECU Reset (11H) Services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59"/>
          <p:cNvSpPr txBox="1">
            <a:spLocks noGrp="1"/>
          </p:cNvSpPr>
          <p:nvPr>
            <p:ph type="title"/>
          </p:nvPr>
        </p:nvSpPr>
        <p:spPr>
          <a:xfrm>
            <a:off x="838200" y="308854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ECU Reset Session 11Hex Service</a:t>
            </a:r>
            <a:endParaRPr/>
          </a:p>
        </p:txBody>
      </p:sp>
      <p:sp>
        <p:nvSpPr>
          <p:cNvPr id="578" name="Google Shape;578;p59"/>
          <p:cNvSpPr txBox="1"/>
          <p:nvPr/>
        </p:nvSpPr>
        <p:spPr>
          <a:xfrm>
            <a:off x="1237957" y="2152357"/>
            <a:ext cx="9692640" cy="1815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ECU Reset service is used by the client to </a:t>
            </a:r>
            <a:r>
              <a:rPr lang="en-US"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request a server reset.</a:t>
            </a:r>
            <a:endParaRPr/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After ECU reset sever shall activate the default session</a:t>
            </a:r>
            <a:endParaRPr/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ECU reset mostly supports in extended diagnostic system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11H Request Frame Format</a:t>
            </a:r>
            <a:endParaRPr/>
          </a:p>
        </p:txBody>
      </p:sp>
      <p:sp>
        <p:nvSpPr>
          <p:cNvPr id="585" name="Google Shape;585;p60"/>
          <p:cNvSpPr/>
          <p:nvPr/>
        </p:nvSpPr>
        <p:spPr>
          <a:xfrm>
            <a:off x="838200" y="2442858"/>
            <a:ext cx="1448972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MESSAGE ID</a:t>
            </a:r>
            <a:endParaRPr/>
          </a:p>
        </p:txBody>
      </p:sp>
      <p:sp>
        <p:nvSpPr>
          <p:cNvPr id="586" name="Google Shape;586;p60"/>
          <p:cNvSpPr/>
          <p:nvPr/>
        </p:nvSpPr>
        <p:spPr>
          <a:xfrm>
            <a:off x="2287172" y="2442858"/>
            <a:ext cx="1069145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NO.OF BYTES</a:t>
            </a:r>
            <a:endParaRPr/>
          </a:p>
        </p:txBody>
      </p:sp>
      <p:sp>
        <p:nvSpPr>
          <p:cNvPr id="587" name="Google Shape;587;p60"/>
          <p:cNvSpPr/>
          <p:nvPr/>
        </p:nvSpPr>
        <p:spPr>
          <a:xfrm>
            <a:off x="3328181" y="2442854"/>
            <a:ext cx="1237957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SERVICE ID</a:t>
            </a:r>
            <a:endParaRPr/>
          </a:p>
        </p:txBody>
      </p:sp>
      <p:sp>
        <p:nvSpPr>
          <p:cNvPr id="588" name="Google Shape;588;p60"/>
          <p:cNvSpPr/>
          <p:nvPr/>
        </p:nvSpPr>
        <p:spPr>
          <a:xfrm>
            <a:off x="4563827" y="2442853"/>
            <a:ext cx="1448972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SUB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FUNCTION</a:t>
            </a:r>
            <a:endParaRPr/>
          </a:p>
        </p:txBody>
      </p:sp>
      <p:pic>
        <p:nvPicPr>
          <p:cNvPr id="589" name="Google Shape;589;p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5077" y="4106865"/>
            <a:ext cx="9941007" cy="1731223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60"/>
          <p:cNvSpPr/>
          <p:nvPr/>
        </p:nvSpPr>
        <p:spPr>
          <a:xfrm>
            <a:off x="6010488" y="2442853"/>
            <a:ext cx="1101903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591" name="Google Shape;591;p60"/>
          <p:cNvSpPr/>
          <p:nvPr/>
        </p:nvSpPr>
        <p:spPr>
          <a:xfrm>
            <a:off x="7107768" y="2442853"/>
            <a:ext cx="1101903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592" name="Google Shape;592;p60"/>
          <p:cNvSpPr/>
          <p:nvPr/>
        </p:nvSpPr>
        <p:spPr>
          <a:xfrm>
            <a:off x="8213253" y="2442853"/>
            <a:ext cx="1101903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593" name="Google Shape;593;p60"/>
          <p:cNvSpPr/>
          <p:nvPr/>
        </p:nvSpPr>
        <p:spPr>
          <a:xfrm>
            <a:off x="9322191" y="2442853"/>
            <a:ext cx="1101903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594" name="Google Shape;594;p60"/>
          <p:cNvSpPr/>
          <p:nvPr/>
        </p:nvSpPr>
        <p:spPr>
          <a:xfrm>
            <a:off x="10431129" y="2441297"/>
            <a:ext cx="1101903" cy="911835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9" name="Google Shape;599;p6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3211" y="1066800"/>
            <a:ext cx="8570042" cy="5791200"/>
          </a:xfrm>
          <a:prstGeom prst="rect">
            <a:avLst/>
          </a:prstGeom>
          <a:noFill/>
          <a:ln>
            <a:noFill/>
          </a:ln>
        </p:spPr>
      </p:pic>
      <p:sp>
        <p:nvSpPr>
          <p:cNvPr id="600" name="Google Shape;600;p61"/>
          <p:cNvSpPr txBox="1"/>
          <p:nvPr/>
        </p:nvSpPr>
        <p:spPr>
          <a:xfrm>
            <a:off x="2695721" y="225560"/>
            <a:ext cx="6800557" cy="495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Arial"/>
              <a:buNone/>
            </a:pPr>
            <a:r>
              <a:rPr lang="en-US" sz="4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Sub functions</a:t>
            </a:r>
            <a:endParaRPr sz="4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6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11H Positiv</a:t>
            </a:r>
            <a:r>
              <a:rPr lang="en-US"/>
              <a:t>e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Response frame format</a:t>
            </a:r>
            <a:endParaRPr/>
          </a:p>
        </p:txBody>
      </p:sp>
      <p:pic>
        <p:nvPicPr>
          <p:cNvPr id="607" name="Google Shape;607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3429000"/>
            <a:ext cx="10844487" cy="2268415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62"/>
          <p:cNvSpPr/>
          <p:nvPr/>
        </p:nvSpPr>
        <p:spPr>
          <a:xfrm>
            <a:off x="838200" y="1925782"/>
            <a:ext cx="1269271" cy="119149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Message ID</a:t>
            </a:r>
            <a:endParaRPr/>
          </a:p>
        </p:txBody>
      </p:sp>
      <p:sp>
        <p:nvSpPr>
          <p:cNvPr id="609" name="Google Shape;609;p62"/>
          <p:cNvSpPr/>
          <p:nvPr/>
        </p:nvSpPr>
        <p:spPr>
          <a:xfrm>
            <a:off x="2107471" y="1925782"/>
            <a:ext cx="1073472" cy="119149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NO.OF BYTES</a:t>
            </a:r>
            <a:endParaRPr/>
          </a:p>
        </p:txBody>
      </p:sp>
      <p:sp>
        <p:nvSpPr>
          <p:cNvPr id="610" name="Google Shape;610;p62"/>
          <p:cNvSpPr/>
          <p:nvPr/>
        </p:nvSpPr>
        <p:spPr>
          <a:xfrm>
            <a:off x="3180942" y="1925782"/>
            <a:ext cx="1163458" cy="119149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SERVICE ID+ 40</a:t>
            </a:r>
            <a:endParaRPr/>
          </a:p>
        </p:txBody>
      </p:sp>
      <p:sp>
        <p:nvSpPr>
          <p:cNvPr id="611" name="Google Shape;611;p62"/>
          <p:cNvSpPr/>
          <p:nvPr/>
        </p:nvSpPr>
        <p:spPr>
          <a:xfrm>
            <a:off x="4254415" y="1925782"/>
            <a:ext cx="1280932" cy="119149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SUB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/>
          </a:p>
        </p:txBody>
      </p:sp>
      <p:sp>
        <p:nvSpPr>
          <p:cNvPr id="612" name="Google Shape;612;p62"/>
          <p:cNvSpPr/>
          <p:nvPr/>
        </p:nvSpPr>
        <p:spPr>
          <a:xfrm>
            <a:off x="5535347" y="1925782"/>
            <a:ext cx="1203869" cy="119149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613" name="Google Shape;613;p62"/>
          <p:cNvSpPr/>
          <p:nvPr/>
        </p:nvSpPr>
        <p:spPr>
          <a:xfrm>
            <a:off x="6739216" y="1925782"/>
            <a:ext cx="1203869" cy="119149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614" name="Google Shape;614;p62"/>
          <p:cNvSpPr/>
          <p:nvPr/>
        </p:nvSpPr>
        <p:spPr>
          <a:xfrm>
            <a:off x="7943085" y="1925782"/>
            <a:ext cx="1203869" cy="119149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615" name="Google Shape;615;p62"/>
          <p:cNvSpPr/>
          <p:nvPr/>
        </p:nvSpPr>
        <p:spPr>
          <a:xfrm>
            <a:off x="9146954" y="1925782"/>
            <a:ext cx="1203869" cy="119149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616" name="Google Shape;616;p62"/>
          <p:cNvSpPr/>
          <p:nvPr/>
        </p:nvSpPr>
        <p:spPr>
          <a:xfrm>
            <a:off x="10350822" y="1925782"/>
            <a:ext cx="1203869" cy="119149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63"/>
          <p:cNvSpPr txBox="1"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11H </a:t>
            </a:r>
            <a:r>
              <a:rPr lang="en-US"/>
              <a:t>Negative </a:t>
            </a:r>
            <a:r>
              <a:rPr lang="en-US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Response frame format</a:t>
            </a:r>
            <a:endParaRPr/>
          </a:p>
        </p:txBody>
      </p:sp>
      <p:pic>
        <p:nvPicPr>
          <p:cNvPr id="622" name="Google Shape;622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00138" y="2761736"/>
            <a:ext cx="9391724" cy="3895642"/>
          </a:xfrm>
          <a:prstGeom prst="rect">
            <a:avLst/>
          </a:prstGeom>
          <a:noFill/>
          <a:ln>
            <a:noFill/>
          </a:ln>
        </p:spPr>
      </p:pic>
      <p:sp>
        <p:nvSpPr>
          <p:cNvPr id="623" name="Google Shape;623;p63"/>
          <p:cNvSpPr/>
          <p:nvPr/>
        </p:nvSpPr>
        <p:spPr>
          <a:xfrm>
            <a:off x="7779432" y="1449291"/>
            <a:ext cx="984740" cy="667896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624" name="Google Shape;624;p63"/>
          <p:cNvSpPr/>
          <p:nvPr/>
        </p:nvSpPr>
        <p:spPr>
          <a:xfrm>
            <a:off x="8764172" y="1449291"/>
            <a:ext cx="984740" cy="667896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625" name="Google Shape;625;p63"/>
          <p:cNvSpPr/>
          <p:nvPr/>
        </p:nvSpPr>
        <p:spPr>
          <a:xfrm>
            <a:off x="9748912" y="1445773"/>
            <a:ext cx="984740" cy="67141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626" name="Google Shape;626;p63"/>
          <p:cNvSpPr/>
          <p:nvPr/>
        </p:nvSpPr>
        <p:spPr>
          <a:xfrm>
            <a:off x="10733652" y="1445773"/>
            <a:ext cx="984740" cy="67141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627" name="Google Shape;627;p63"/>
          <p:cNvSpPr/>
          <p:nvPr/>
        </p:nvSpPr>
        <p:spPr>
          <a:xfrm>
            <a:off x="1175861" y="1449292"/>
            <a:ext cx="1296170" cy="66789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MESSAGE ID</a:t>
            </a:r>
            <a:endParaRPr/>
          </a:p>
        </p:txBody>
      </p:sp>
      <p:sp>
        <p:nvSpPr>
          <p:cNvPr id="628" name="Google Shape;628;p63"/>
          <p:cNvSpPr/>
          <p:nvPr/>
        </p:nvSpPr>
        <p:spPr>
          <a:xfrm>
            <a:off x="2472031" y="1449291"/>
            <a:ext cx="1296170" cy="66789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NO.OF BYTES</a:t>
            </a:r>
            <a:endParaRPr/>
          </a:p>
        </p:txBody>
      </p:sp>
      <p:sp>
        <p:nvSpPr>
          <p:cNvPr id="629" name="Google Shape;629;p63"/>
          <p:cNvSpPr/>
          <p:nvPr/>
        </p:nvSpPr>
        <p:spPr>
          <a:xfrm>
            <a:off x="3768200" y="1449291"/>
            <a:ext cx="1418893" cy="667891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NR_SERVICE ID</a:t>
            </a:r>
            <a:endParaRPr/>
          </a:p>
        </p:txBody>
      </p:sp>
      <p:sp>
        <p:nvSpPr>
          <p:cNvPr id="630" name="Google Shape;630;p63"/>
          <p:cNvSpPr/>
          <p:nvPr/>
        </p:nvSpPr>
        <p:spPr>
          <a:xfrm>
            <a:off x="5187093" y="1449291"/>
            <a:ext cx="1296170" cy="667893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SERVICE ID</a:t>
            </a:r>
            <a:endParaRPr/>
          </a:p>
        </p:txBody>
      </p:sp>
      <p:sp>
        <p:nvSpPr>
          <p:cNvPr id="631" name="Google Shape;631;p63"/>
          <p:cNvSpPr/>
          <p:nvPr/>
        </p:nvSpPr>
        <p:spPr>
          <a:xfrm>
            <a:off x="6483262" y="1449293"/>
            <a:ext cx="1296170" cy="66789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NRC CODE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64"/>
          <p:cNvSpPr txBox="1">
            <a:spLocks noGrp="1"/>
          </p:cNvSpPr>
          <p:nvPr>
            <p:ph type="title"/>
          </p:nvPr>
        </p:nvSpPr>
        <p:spPr>
          <a:xfrm>
            <a:off x="838200" y="1124782"/>
            <a:ext cx="2186354" cy="535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3800"/>
              <a:buFont typeface="Times New Roman"/>
              <a:buNone/>
            </a:pPr>
            <a:r>
              <a:rPr lang="en-US" sz="3800"/>
              <a:t>Example</a:t>
            </a:r>
            <a:endParaRPr/>
          </a:p>
        </p:txBody>
      </p:sp>
      <p:sp>
        <p:nvSpPr>
          <p:cNvPr id="637" name="Google Shape;637;p6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-US" sz="2800">
                <a:solidFill>
                  <a:srgbClr val="FF0000"/>
                </a:solidFill>
              </a:rPr>
              <a:t>Frame the ECU Reset service with positive response for the following statement: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	Subfunction : Hard reset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	Message ID : 450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>
                <a:solidFill>
                  <a:srgbClr val="002060"/>
                </a:solidFill>
              </a:rPr>
              <a:t>	Data record field : none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65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Client to Server Request</a:t>
            </a:r>
            <a:endParaRPr/>
          </a:p>
        </p:txBody>
      </p:sp>
      <p:graphicFrame>
        <p:nvGraphicFramePr>
          <p:cNvPr id="643" name="Google Shape;643;p65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44" name="Google Shape;644;p65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450</a:t>
            </a:r>
            <a:endParaRPr/>
          </a:p>
        </p:txBody>
      </p:sp>
      <p:sp>
        <p:nvSpPr>
          <p:cNvPr id="645" name="Google Shape;645;p65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646" name="Google Shape;646;p65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647" name="Google Shape;647;p65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648" name="Google Shape;648;p65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649" name="Google Shape;649;p65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650" name="Google Shape;650;p65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651" name="Google Shape;651;p65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6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Server to Client Response</a:t>
            </a:r>
            <a:endParaRPr/>
          </a:p>
        </p:txBody>
      </p:sp>
      <p:graphicFrame>
        <p:nvGraphicFramePr>
          <p:cNvPr id="657" name="Google Shape;657;p66"/>
          <p:cNvGraphicFramePr/>
          <p:nvPr/>
        </p:nvGraphicFramePr>
        <p:xfrm>
          <a:off x="2754337" y="25146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604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4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4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SERVICE ID+ 40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58" name="Google Shape;658;p66"/>
          <p:cNvSpPr/>
          <p:nvPr/>
        </p:nvSpPr>
        <p:spPr>
          <a:xfrm>
            <a:off x="2754337" y="3429000"/>
            <a:ext cx="147710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480</a:t>
            </a:r>
            <a:endParaRPr/>
          </a:p>
        </p:txBody>
      </p:sp>
      <p:sp>
        <p:nvSpPr>
          <p:cNvPr id="659" name="Google Shape;659;p66"/>
          <p:cNvSpPr/>
          <p:nvPr/>
        </p:nvSpPr>
        <p:spPr>
          <a:xfrm>
            <a:off x="4231443" y="3429000"/>
            <a:ext cx="1175824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660" name="Google Shape;660;p66"/>
          <p:cNvSpPr/>
          <p:nvPr/>
        </p:nvSpPr>
        <p:spPr>
          <a:xfrm>
            <a:off x="5407266" y="3429000"/>
            <a:ext cx="1237957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51</a:t>
            </a:r>
            <a:endParaRPr/>
          </a:p>
        </p:txBody>
      </p:sp>
      <p:sp>
        <p:nvSpPr>
          <p:cNvPr id="661" name="Google Shape;661;p66"/>
          <p:cNvSpPr/>
          <p:nvPr/>
        </p:nvSpPr>
        <p:spPr>
          <a:xfrm>
            <a:off x="6549682" y="3432068"/>
            <a:ext cx="1364566" cy="87758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662" name="Google Shape;662;p66"/>
          <p:cNvSpPr/>
          <p:nvPr/>
        </p:nvSpPr>
        <p:spPr>
          <a:xfrm>
            <a:off x="7905455" y="3429000"/>
            <a:ext cx="1237957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6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Server to Client Negative Response</a:t>
            </a:r>
            <a:endParaRPr/>
          </a:p>
        </p:txBody>
      </p:sp>
      <p:graphicFrame>
        <p:nvGraphicFramePr>
          <p:cNvPr id="668" name="Google Shape;668;p67"/>
          <p:cNvGraphicFramePr/>
          <p:nvPr/>
        </p:nvGraphicFramePr>
        <p:xfrm>
          <a:off x="1340534" y="292454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2102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9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NR_SERVICE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SERVICE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NRC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CODE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69" name="Google Shape;669;p67"/>
          <p:cNvSpPr/>
          <p:nvPr/>
        </p:nvSpPr>
        <p:spPr>
          <a:xfrm>
            <a:off x="1340534" y="3564626"/>
            <a:ext cx="2120118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490</a:t>
            </a:r>
            <a:endParaRPr/>
          </a:p>
        </p:txBody>
      </p:sp>
      <p:sp>
        <p:nvSpPr>
          <p:cNvPr id="670" name="Google Shape;670;p67"/>
          <p:cNvSpPr/>
          <p:nvPr/>
        </p:nvSpPr>
        <p:spPr>
          <a:xfrm>
            <a:off x="3460652" y="3564626"/>
            <a:ext cx="1322363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671" name="Google Shape;671;p67"/>
          <p:cNvSpPr/>
          <p:nvPr/>
        </p:nvSpPr>
        <p:spPr>
          <a:xfrm>
            <a:off x="4783016" y="3550784"/>
            <a:ext cx="2120118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7F</a:t>
            </a:r>
            <a:endParaRPr/>
          </a:p>
        </p:txBody>
      </p:sp>
      <p:sp>
        <p:nvSpPr>
          <p:cNvPr id="672" name="Google Shape;672;p67"/>
          <p:cNvSpPr/>
          <p:nvPr/>
        </p:nvSpPr>
        <p:spPr>
          <a:xfrm>
            <a:off x="6903134" y="3550784"/>
            <a:ext cx="1533379" cy="87758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673" name="Google Shape;673;p67"/>
          <p:cNvSpPr/>
          <p:nvPr/>
        </p:nvSpPr>
        <p:spPr>
          <a:xfrm>
            <a:off x="8436513" y="3549250"/>
            <a:ext cx="145307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68"/>
          <p:cNvSpPr txBox="1">
            <a:spLocks noGrp="1"/>
          </p:cNvSpPr>
          <p:nvPr>
            <p:ph type="title"/>
          </p:nvPr>
        </p:nvSpPr>
        <p:spPr>
          <a:xfrm>
            <a:off x="838200" y="229239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6200"/>
              <a:buFont typeface="Times New Roman"/>
              <a:buNone/>
            </a:pPr>
            <a:r>
              <a:rPr lang="en-US" sz="6200"/>
              <a:t>Security Access</a:t>
            </a:r>
            <a:r>
              <a:rPr lang="en-US" sz="6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(27H) Services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6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Security Access 27Hex Service</a:t>
            </a:r>
            <a:endParaRPr/>
          </a:p>
        </p:txBody>
      </p:sp>
      <p:sp>
        <p:nvSpPr>
          <p:cNvPr id="684" name="Google Shape;684;p69"/>
          <p:cNvSpPr txBox="1"/>
          <p:nvPr/>
        </p:nvSpPr>
        <p:spPr>
          <a:xfrm>
            <a:off x="1237957" y="2152357"/>
            <a:ext cx="9692640" cy="2677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Protects modification of </a:t>
            </a:r>
            <a:r>
              <a:rPr lang="en-US"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ECU data</a:t>
            </a:r>
            <a:endParaRPr/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Its implemented to restrict access for security emission, or </a:t>
            </a:r>
            <a:r>
              <a:rPr lang="en-US"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safety reasons</a:t>
            </a:r>
            <a:endParaRPr/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Initially all ECU’s are will be </a:t>
            </a:r>
            <a:r>
              <a:rPr lang="en-US"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locked state</a:t>
            </a:r>
            <a:endParaRPr/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we want </a:t>
            </a:r>
            <a:r>
              <a:rPr lang="en-US"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write/read data from/to ECU</a:t>
            </a: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need a 27hex service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7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Security Access 27H Procedure</a:t>
            </a:r>
            <a:endParaRPr/>
          </a:p>
        </p:txBody>
      </p:sp>
      <p:sp>
        <p:nvSpPr>
          <p:cNvPr id="690" name="Google Shape;690;p7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2380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Client request for the “seed”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Server responds with “seed”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Client requests (sends) for the “Key”(respective for the seed received)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Server responds that the “key” was valid and that it will unlock itself.</a:t>
            </a:r>
            <a:endParaRPr/>
          </a:p>
          <a:p>
            <a:pPr marL="228600" lvl="0" indent="-76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5" name="Google Shape;695;p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34997" y="0"/>
            <a:ext cx="8946338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0" name="Google Shape;700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68306" y="683015"/>
            <a:ext cx="7648176" cy="214459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68306" y="4030395"/>
            <a:ext cx="7989301" cy="1729228"/>
          </a:xfrm>
          <a:prstGeom prst="rect">
            <a:avLst/>
          </a:prstGeom>
          <a:noFill/>
          <a:ln>
            <a:noFill/>
          </a:ln>
        </p:spPr>
      </p:pic>
      <p:sp>
        <p:nvSpPr>
          <p:cNvPr id="702" name="Google Shape;702;p72"/>
          <p:cNvSpPr txBox="1"/>
          <p:nvPr/>
        </p:nvSpPr>
        <p:spPr>
          <a:xfrm>
            <a:off x="2087307" y="132844"/>
            <a:ext cx="775129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General Negative response codes</a:t>
            </a:r>
            <a:endParaRPr/>
          </a:p>
        </p:txBody>
      </p:sp>
      <p:sp>
        <p:nvSpPr>
          <p:cNvPr id="703" name="Google Shape;703;p72"/>
          <p:cNvSpPr txBox="1"/>
          <p:nvPr/>
        </p:nvSpPr>
        <p:spPr>
          <a:xfrm>
            <a:off x="2087307" y="3526527"/>
            <a:ext cx="775129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Security Access Specific Negative response codes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73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27Hex Request for seed Frame Format</a:t>
            </a:r>
            <a:endParaRPr/>
          </a:p>
        </p:txBody>
      </p:sp>
      <p:graphicFrame>
        <p:nvGraphicFramePr>
          <p:cNvPr id="709" name="Google Shape;709;p73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10" name="Google Shape;710;p73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450</a:t>
            </a:r>
            <a:endParaRPr/>
          </a:p>
        </p:txBody>
      </p:sp>
      <p:sp>
        <p:nvSpPr>
          <p:cNvPr id="711" name="Google Shape;711;p73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712" name="Google Shape;712;p73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27</a:t>
            </a:r>
            <a:endParaRPr/>
          </a:p>
        </p:txBody>
      </p:sp>
      <p:sp>
        <p:nvSpPr>
          <p:cNvPr id="713" name="Google Shape;713;p73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714" name="Google Shape;714;p73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715" name="Google Shape;715;p73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716" name="Google Shape;716;p73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717" name="Google Shape;717;p73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74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27Hex Positive Response seed Frame Format</a:t>
            </a:r>
            <a:endParaRPr/>
          </a:p>
        </p:txBody>
      </p:sp>
      <p:graphicFrame>
        <p:nvGraphicFramePr>
          <p:cNvPr id="723" name="Google Shape;723;p74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24" name="Google Shape;724;p74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451</a:t>
            </a:r>
            <a:endParaRPr/>
          </a:p>
        </p:txBody>
      </p:sp>
      <p:sp>
        <p:nvSpPr>
          <p:cNvPr id="725" name="Google Shape;725;p74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726" name="Google Shape;726;p74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67</a:t>
            </a:r>
            <a:endParaRPr/>
          </a:p>
        </p:txBody>
      </p:sp>
      <p:sp>
        <p:nvSpPr>
          <p:cNvPr id="727" name="Google Shape;727;p74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728" name="Google Shape;728;p74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70</a:t>
            </a:r>
            <a:endParaRPr/>
          </a:p>
        </p:txBody>
      </p:sp>
      <p:sp>
        <p:nvSpPr>
          <p:cNvPr id="729" name="Google Shape;729;p74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70</a:t>
            </a:r>
            <a:endParaRPr/>
          </a:p>
        </p:txBody>
      </p:sp>
      <p:sp>
        <p:nvSpPr>
          <p:cNvPr id="730" name="Google Shape;730;p74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731" name="Google Shape;731;p74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75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27Hex Request (Send) for Key Frame Format</a:t>
            </a:r>
            <a:endParaRPr/>
          </a:p>
        </p:txBody>
      </p:sp>
      <p:graphicFrame>
        <p:nvGraphicFramePr>
          <p:cNvPr id="737" name="Google Shape;737;p75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38" name="Google Shape;738;p75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452</a:t>
            </a:r>
            <a:endParaRPr/>
          </a:p>
        </p:txBody>
      </p:sp>
      <p:sp>
        <p:nvSpPr>
          <p:cNvPr id="739" name="Google Shape;739;p75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740" name="Google Shape;740;p75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27</a:t>
            </a:r>
            <a:endParaRPr/>
          </a:p>
        </p:txBody>
      </p:sp>
      <p:sp>
        <p:nvSpPr>
          <p:cNvPr id="741" name="Google Shape;741;p75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742" name="Google Shape;742;p75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96</a:t>
            </a:r>
            <a:endParaRPr/>
          </a:p>
        </p:txBody>
      </p:sp>
      <p:sp>
        <p:nvSpPr>
          <p:cNvPr id="743" name="Google Shape;743;p75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97</a:t>
            </a:r>
            <a:endParaRPr/>
          </a:p>
        </p:txBody>
      </p:sp>
      <p:sp>
        <p:nvSpPr>
          <p:cNvPr id="744" name="Google Shape;744;p75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745" name="Google Shape;745;p75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76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27Hex Positive Response seed Frame Format</a:t>
            </a:r>
            <a:endParaRPr/>
          </a:p>
        </p:txBody>
      </p:sp>
      <p:graphicFrame>
        <p:nvGraphicFramePr>
          <p:cNvPr id="751" name="Google Shape;751;p76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52" name="Google Shape;752;p76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451</a:t>
            </a:r>
            <a:endParaRPr/>
          </a:p>
        </p:txBody>
      </p:sp>
      <p:sp>
        <p:nvSpPr>
          <p:cNvPr id="753" name="Google Shape;753;p76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754" name="Google Shape;754;p76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67</a:t>
            </a:r>
            <a:endParaRPr/>
          </a:p>
        </p:txBody>
      </p:sp>
      <p:sp>
        <p:nvSpPr>
          <p:cNvPr id="755" name="Google Shape;755;p76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756" name="Google Shape;756;p76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757" name="Google Shape;757;p76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758" name="Google Shape;758;p76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759" name="Google Shape;759;p76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7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Task</a:t>
            </a:r>
            <a:endParaRPr/>
          </a:p>
        </p:txBody>
      </p:sp>
      <p:sp>
        <p:nvSpPr>
          <p:cNvPr id="765" name="Google Shape;765;p77"/>
          <p:cNvSpPr txBox="1">
            <a:spLocks noGrp="1"/>
          </p:cNvSpPr>
          <p:nvPr>
            <p:ph type="body" idx="1"/>
          </p:nvPr>
        </p:nvSpPr>
        <p:spPr>
          <a:xfrm>
            <a:off x="1739705" y="2768161"/>
            <a:ext cx="3283634" cy="271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Default session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ECU Reset Services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 Request for seed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Send Key</a:t>
            </a:r>
            <a:endParaRPr/>
          </a:p>
        </p:txBody>
      </p:sp>
      <p:sp>
        <p:nvSpPr>
          <p:cNvPr id="766" name="Google Shape;766;p77"/>
          <p:cNvSpPr txBox="1"/>
          <p:nvPr/>
        </p:nvSpPr>
        <p:spPr>
          <a:xfrm>
            <a:off x="7315788" y="2768161"/>
            <a:ext cx="4038012" cy="2718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Default session (Positive)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ECU Reset (Positive)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Positive response Seed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Positive Response key</a:t>
            </a:r>
            <a:endParaRPr/>
          </a:p>
        </p:txBody>
      </p:sp>
      <p:sp>
        <p:nvSpPr>
          <p:cNvPr id="767" name="Google Shape;767;p77"/>
          <p:cNvSpPr txBox="1"/>
          <p:nvPr/>
        </p:nvSpPr>
        <p:spPr>
          <a:xfrm>
            <a:off x="1928446" y="1899139"/>
            <a:ext cx="3094893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Request</a:t>
            </a:r>
            <a:endParaRPr/>
          </a:p>
        </p:txBody>
      </p:sp>
      <p:sp>
        <p:nvSpPr>
          <p:cNvPr id="768" name="Google Shape;768;p77"/>
          <p:cNvSpPr txBox="1"/>
          <p:nvPr/>
        </p:nvSpPr>
        <p:spPr>
          <a:xfrm>
            <a:off x="7315788" y="1899138"/>
            <a:ext cx="3094893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Response</a:t>
            </a:r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78"/>
          <p:cNvSpPr txBox="1">
            <a:spLocks noGrp="1"/>
          </p:cNvSpPr>
          <p:nvPr>
            <p:ph type="title"/>
          </p:nvPr>
        </p:nvSpPr>
        <p:spPr>
          <a:xfrm>
            <a:off x="838200" y="229239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 sz="6200"/>
              <a:t>Communication Control </a:t>
            </a:r>
            <a:r>
              <a:rPr lang="en-US" sz="6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(28H) Services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7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Communication Control 28Hex Service</a:t>
            </a:r>
            <a:endParaRPr/>
          </a:p>
        </p:txBody>
      </p:sp>
      <p:sp>
        <p:nvSpPr>
          <p:cNvPr id="779" name="Google Shape;779;p79"/>
          <p:cNvSpPr txBox="1"/>
          <p:nvPr/>
        </p:nvSpPr>
        <p:spPr>
          <a:xfrm>
            <a:off x="1237957" y="2152357"/>
            <a:ext cx="9692640" cy="1815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service is used to control the communication of server</a:t>
            </a:r>
            <a:endParaRPr/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Enable or disable transmission or reception of messages from server</a:t>
            </a:r>
            <a:endParaRPr/>
          </a:p>
          <a:p>
            <a:pPr marL="457200" marR="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4" name="Google Shape;784;p80"/>
          <p:cNvPicPr preferRelativeResize="0"/>
          <p:nvPr/>
        </p:nvPicPr>
        <p:blipFill rotWithShape="1">
          <a:blip r:embed="rId3">
            <a:alphaModFix/>
          </a:blip>
          <a:srcRect l="3165" r="2978" b="3623"/>
          <a:stretch/>
        </p:blipFill>
        <p:spPr>
          <a:xfrm>
            <a:off x="2121921" y="9449"/>
            <a:ext cx="7417710" cy="6848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9" name="Google Shape;789;p8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6265" y="394334"/>
            <a:ext cx="9826535" cy="60693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82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28Hex disable Tx and Rx</a:t>
            </a:r>
            <a:endParaRPr/>
          </a:p>
        </p:txBody>
      </p:sp>
      <p:graphicFrame>
        <p:nvGraphicFramePr>
          <p:cNvPr id="795" name="Google Shape;795;p82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96" name="Google Shape;796;p82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450</a:t>
            </a:r>
            <a:endParaRPr/>
          </a:p>
        </p:txBody>
      </p:sp>
      <p:sp>
        <p:nvSpPr>
          <p:cNvPr id="797" name="Google Shape;797;p82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798" name="Google Shape;798;p82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28</a:t>
            </a:r>
            <a:endParaRPr/>
          </a:p>
        </p:txBody>
      </p:sp>
      <p:sp>
        <p:nvSpPr>
          <p:cNvPr id="799" name="Google Shape;799;p82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800" name="Google Shape;800;p82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801" name="Google Shape;801;p82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02" name="Google Shape;802;p82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03" name="Google Shape;803;p82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04" name="Google Shape;804;p82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8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28Hex disable Tx and Rx Negative response</a:t>
            </a:r>
            <a:endParaRPr/>
          </a:p>
        </p:txBody>
      </p:sp>
      <p:graphicFrame>
        <p:nvGraphicFramePr>
          <p:cNvPr id="810" name="Google Shape;810;p83"/>
          <p:cNvGraphicFramePr/>
          <p:nvPr/>
        </p:nvGraphicFramePr>
        <p:xfrm>
          <a:off x="1340534" y="292454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2102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9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NR_SERVICE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SERVICE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NRC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CODE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1" name="Google Shape;811;p83"/>
          <p:cNvSpPr/>
          <p:nvPr/>
        </p:nvSpPr>
        <p:spPr>
          <a:xfrm>
            <a:off x="1340534" y="3564626"/>
            <a:ext cx="2120118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490</a:t>
            </a:r>
            <a:endParaRPr/>
          </a:p>
        </p:txBody>
      </p:sp>
      <p:sp>
        <p:nvSpPr>
          <p:cNvPr id="812" name="Google Shape;812;p83"/>
          <p:cNvSpPr/>
          <p:nvPr/>
        </p:nvSpPr>
        <p:spPr>
          <a:xfrm>
            <a:off x="3460652" y="3564626"/>
            <a:ext cx="1322363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813" name="Google Shape;813;p83"/>
          <p:cNvSpPr/>
          <p:nvPr/>
        </p:nvSpPr>
        <p:spPr>
          <a:xfrm>
            <a:off x="4783016" y="3550784"/>
            <a:ext cx="2120118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7F</a:t>
            </a:r>
            <a:endParaRPr/>
          </a:p>
        </p:txBody>
      </p:sp>
      <p:sp>
        <p:nvSpPr>
          <p:cNvPr id="814" name="Google Shape;814;p83"/>
          <p:cNvSpPr/>
          <p:nvPr/>
        </p:nvSpPr>
        <p:spPr>
          <a:xfrm>
            <a:off x="6903134" y="3550784"/>
            <a:ext cx="1533379" cy="87758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28</a:t>
            </a:r>
            <a:endParaRPr/>
          </a:p>
        </p:txBody>
      </p:sp>
      <p:sp>
        <p:nvSpPr>
          <p:cNvPr id="815" name="Google Shape;815;p83"/>
          <p:cNvSpPr/>
          <p:nvPr/>
        </p:nvSpPr>
        <p:spPr>
          <a:xfrm>
            <a:off x="8436513" y="3549250"/>
            <a:ext cx="145307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816" name="Google Shape;816;p83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8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10Hex Extended Diagnostic session request</a:t>
            </a:r>
            <a:endParaRPr/>
          </a:p>
        </p:txBody>
      </p:sp>
      <p:graphicFrame>
        <p:nvGraphicFramePr>
          <p:cNvPr id="822" name="Google Shape;822;p84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23" name="Google Shape;823;p84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451</a:t>
            </a:r>
            <a:endParaRPr/>
          </a:p>
        </p:txBody>
      </p:sp>
      <p:sp>
        <p:nvSpPr>
          <p:cNvPr id="824" name="Google Shape;824;p84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825" name="Google Shape;825;p84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826" name="Google Shape;826;p84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827" name="Google Shape;827;p84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28" name="Google Shape;828;p84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29" name="Google Shape;829;p84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30" name="Google Shape;830;p84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31" name="Google Shape;831;p84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p8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10Hex Extended Diagnostic session Positive response</a:t>
            </a:r>
            <a:endParaRPr/>
          </a:p>
        </p:txBody>
      </p:sp>
      <p:graphicFrame>
        <p:nvGraphicFramePr>
          <p:cNvPr id="837" name="Google Shape;837;p85"/>
          <p:cNvGraphicFramePr/>
          <p:nvPr/>
        </p:nvGraphicFramePr>
        <p:xfrm>
          <a:off x="601981" y="29718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499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1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48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2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SERVICE ID+ 40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SESSION RESPONSE TIME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(1 bit)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/>
                        <a:t>RESPONSE TIME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/>
                        <a:t>(10 bit)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38" name="Google Shape;838;p85"/>
          <p:cNvSpPr/>
          <p:nvPr/>
        </p:nvSpPr>
        <p:spPr>
          <a:xfrm>
            <a:off x="601981" y="3886200"/>
            <a:ext cx="147710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452</a:t>
            </a:r>
            <a:endParaRPr/>
          </a:p>
        </p:txBody>
      </p:sp>
      <p:sp>
        <p:nvSpPr>
          <p:cNvPr id="839" name="Google Shape;839;p85"/>
          <p:cNvSpPr/>
          <p:nvPr/>
        </p:nvSpPr>
        <p:spPr>
          <a:xfrm>
            <a:off x="2079087" y="3886200"/>
            <a:ext cx="984738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840" name="Google Shape;840;p85"/>
          <p:cNvSpPr/>
          <p:nvPr/>
        </p:nvSpPr>
        <p:spPr>
          <a:xfrm>
            <a:off x="3063825" y="3886200"/>
            <a:ext cx="112541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841" name="Google Shape;841;p85"/>
          <p:cNvSpPr/>
          <p:nvPr/>
        </p:nvSpPr>
        <p:spPr>
          <a:xfrm>
            <a:off x="4189241" y="3889268"/>
            <a:ext cx="1364566" cy="87758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842" name="Google Shape;842;p85"/>
          <p:cNvSpPr/>
          <p:nvPr/>
        </p:nvSpPr>
        <p:spPr>
          <a:xfrm>
            <a:off x="5553807" y="3886200"/>
            <a:ext cx="1237957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43" name="Google Shape;843;p85"/>
          <p:cNvSpPr/>
          <p:nvPr/>
        </p:nvSpPr>
        <p:spPr>
          <a:xfrm>
            <a:off x="6791764" y="3886200"/>
            <a:ext cx="109728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32</a:t>
            </a:r>
            <a:endParaRPr/>
          </a:p>
        </p:txBody>
      </p:sp>
      <p:sp>
        <p:nvSpPr>
          <p:cNvPr id="844" name="Google Shape;844;p85"/>
          <p:cNvSpPr/>
          <p:nvPr/>
        </p:nvSpPr>
        <p:spPr>
          <a:xfrm>
            <a:off x="7889044" y="3886200"/>
            <a:ext cx="900332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845" name="Google Shape;845;p85"/>
          <p:cNvSpPr/>
          <p:nvPr/>
        </p:nvSpPr>
        <p:spPr>
          <a:xfrm>
            <a:off x="8789376" y="3886200"/>
            <a:ext cx="900332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F4</a:t>
            </a:r>
            <a:endParaRPr/>
          </a:p>
        </p:txBody>
      </p:sp>
      <p:sp>
        <p:nvSpPr>
          <p:cNvPr id="846" name="Google Shape;846;p85"/>
          <p:cNvSpPr/>
          <p:nvPr/>
        </p:nvSpPr>
        <p:spPr>
          <a:xfrm>
            <a:off x="9678571" y="3886200"/>
            <a:ext cx="9688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47" name="Google Shape;847;p85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86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27Hex Request for seed Frame Format</a:t>
            </a:r>
            <a:endParaRPr/>
          </a:p>
        </p:txBody>
      </p:sp>
      <p:graphicFrame>
        <p:nvGraphicFramePr>
          <p:cNvPr id="853" name="Google Shape;853;p86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54" name="Google Shape;854;p86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453</a:t>
            </a:r>
            <a:endParaRPr/>
          </a:p>
        </p:txBody>
      </p:sp>
      <p:sp>
        <p:nvSpPr>
          <p:cNvPr id="855" name="Google Shape;855;p86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856" name="Google Shape;856;p86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27</a:t>
            </a:r>
            <a:endParaRPr/>
          </a:p>
        </p:txBody>
      </p:sp>
      <p:sp>
        <p:nvSpPr>
          <p:cNvPr id="857" name="Google Shape;857;p86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858" name="Google Shape;858;p86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59" name="Google Shape;859;p86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60" name="Google Shape;860;p86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61" name="Google Shape;861;p86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862" name="Google Shape;862;p86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87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27Hex Positive Response seed Frame Format</a:t>
            </a:r>
            <a:endParaRPr/>
          </a:p>
        </p:txBody>
      </p:sp>
      <p:graphicFrame>
        <p:nvGraphicFramePr>
          <p:cNvPr id="868" name="Google Shape;868;p87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69" name="Google Shape;869;p87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454</a:t>
            </a:r>
            <a:endParaRPr/>
          </a:p>
        </p:txBody>
      </p:sp>
      <p:sp>
        <p:nvSpPr>
          <p:cNvPr id="870" name="Google Shape;870;p87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871" name="Google Shape;871;p87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67</a:t>
            </a:r>
            <a:endParaRPr/>
          </a:p>
        </p:txBody>
      </p:sp>
      <p:sp>
        <p:nvSpPr>
          <p:cNvPr id="872" name="Google Shape;872;p87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873" name="Google Shape;873;p87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70</a:t>
            </a:r>
            <a:endParaRPr/>
          </a:p>
        </p:txBody>
      </p:sp>
      <p:sp>
        <p:nvSpPr>
          <p:cNvPr id="874" name="Google Shape;874;p87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70</a:t>
            </a:r>
            <a:endParaRPr/>
          </a:p>
        </p:txBody>
      </p:sp>
      <p:sp>
        <p:nvSpPr>
          <p:cNvPr id="875" name="Google Shape;875;p87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80</a:t>
            </a:r>
            <a:endParaRPr/>
          </a:p>
        </p:txBody>
      </p:sp>
      <p:sp>
        <p:nvSpPr>
          <p:cNvPr id="876" name="Google Shape;876;p87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90</a:t>
            </a:r>
            <a:endParaRPr/>
          </a:p>
        </p:txBody>
      </p:sp>
      <p:sp>
        <p:nvSpPr>
          <p:cNvPr id="877" name="Google Shape;877;p87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88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27Hex Request (Send) for Key Frame Format</a:t>
            </a:r>
            <a:endParaRPr/>
          </a:p>
        </p:txBody>
      </p:sp>
      <p:graphicFrame>
        <p:nvGraphicFramePr>
          <p:cNvPr id="883" name="Google Shape;883;p88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84" name="Google Shape;884;p88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455</a:t>
            </a:r>
            <a:endParaRPr/>
          </a:p>
        </p:txBody>
      </p:sp>
      <p:sp>
        <p:nvSpPr>
          <p:cNvPr id="885" name="Google Shape;885;p88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886" name="Google Shape;886;p88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27</a:t>
            </a:r>
            <a:endParaRPr/>
          </a:p>
        </p:txBody>
      </p:sp>
      <p:sp>
        <p:nvSpPr>
          <p:cNvPr id="887" name="Google Shape;887;p88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888" name="Google Shape;888;p88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96</a:t>
            </a:r>
            <a:endParaRPr/>
          </a:p>
        </p:txBody>
      </p:sp>
      <p:sp>
        <p:nvSpPr>
          <p:cNvPr id="889" name="Google Shape;889;p88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97</a:t>
            </a:r>
            <a:endParaRPr/>
          </a:p>
        </p:txBody>
      </p:sp>
      <p:sp>
        <p:nvSpPr>
          <p:cNvPr id="890" name="Google Shape;890;p88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54</a:t>
            </a:r>
            <a:endParaRPr/>
          </a:p>
        </p:txBody>
      </p:sp>
      <p:sp>
        <p:nvSpPr>
          <p:cNvPr id="891" name="Google Shape;891;p88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/>
          </a:p>
        </p:txBody>
      </p:sp>
      <p:sp>
        <p:nvSpPr>
          <p:cNvPr id="892" name="Google Shape;892;p88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89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27Hex Positive Response seed Frame Format</a:t>
            </a:r>
            <a:endParaRPr/>
          </a:p>
        </p:txBody>
      </p:sp>
      <p:graphicFrame>
        <p:nvGraphicFramePr>
          <p:cNvPr id="898" name="Google Shape;898;p89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99" name="Google Shape;899;p89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456</a:t>
            </a:r>
            <a:endParaRPr/>
          </a:p>
        </p:txBody>
      </p:sp>
      <p:sp>
        <p:nvSpPr>
          <p:cNvPr id="900" name="Google Shape;900;p89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901" name="Google Shape;901;p89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67</a:t>
            </a:r>
            <a:endParaRPr/>
          </a:p>
        </p:txBody>
      </p:sp>
      <p:sp>
        <p:nvSpPr>
          <p:cNvPr id="902" name="Google Shape;902;p89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903" name="Google Shape;903;p89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04" name="Google Shape;904;p89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05" name="Google Shape;905;p89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06" name="Google Shape;906;p89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07" name="Google Shape;907;p89"/>
          <p:cNvSpPr txBox="1"/>
          <p:nvPr/>
        </p:nvSpPr>
        <p:spPr>
          <a:xfrm>
            <a:off x="942535" y="1775094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8" name="Google Shape;908;p89"/>
          <p:cNvSpPr txBox="1"/>
          <p:nvPr/>
        </p:nvSpPr>
        <p:spPr>
          <a:xfrm>
            <a:off x="942535" y="1777658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90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28Hex disable Tx and Rx</a:t>
            </a:r>
            <a:endParaRPr/>
          </a:p>
        </p:txBody>
      </p:sp>
      <p:graphicFrame>
        <p:nvGraphicFramePr>
          <p:cNvPr id="914" name="Google Shape;914;p90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15" name="Google Shape;915;p90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457</a:t>
            </a:r>
            <a:endParaRPr/>
          </a:p>
        </p:txBody>
      </p:sp>
      <p:sp>
        <p:nvSpPr>
          <p:cNvPr id="916" name="Google Shape;916;p90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917" name="Google Shape;917;p90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28</a:t>
            </a:r>
            <a:endParaRPr/>
          </a:p>
        </p:txBody>
      </p:sp>
      <p:sp>
        <p:nvSpPr>
          <p:cNvPr id="918" name="Google Shape;918;p90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919" name="Google Shape;919;p90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920" name="Google Shape;920;p90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21" name="Google Shape;921;p90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22" name="Google Shape;922;p90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23" name="Google Shape;923;p90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91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28Hex disable Tx and Rx Positive response</a:t>
            </a:r>
            <a:endParaRPr/>
          </a:p>
        </p:txBody>
      </p:sp>
      <p:graphicFrame>
        <p:nvGraphicFramePr>
          <p:cNvPr id="929" name="Google Shape;929;p91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30" name="Google Shape;930;p91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458</a:t>
            </a:r>
            <a:endParaRPr/>
          </a:p>
        </p:txBody>
      </p:sp>
      <p:sp>
        <p:nvSpPr>
          <p:cNvPr id="931" name="Google Shape;931;p91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932" name="Google Shape;932;p91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68</a:t>
            </a:r>
            <a:endParaRPr/>
          </a:p>
        </p:txBody>
      </p:sp>
      <p:sp>
        <p:nvSpPr>
          <p:cNvPr id="933" name="Google Shape;933;p91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934" name="Google Shape;934;p91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35" name="Google Shape;935;p91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36" name="Google Shape;936;p91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37" name="Google Shape;937;p91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38" name="Google Shape;938;p91"/>
          <p:cNvSpPr txBox="1"/>
          <p:nvPr/>
        </p:nvSpPr>
        <p:spPr>
          <a:xfrm>
            <a:off x="942535" y="1777658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92"/>
          <p:cNvSpPr txBox="1">
            <a:spLocks noGrp="1"/>
          </p:cNvSpPr>
          <p:nvPr>
            <p:ph type="title"/>
          </p:nvPr>
        </p:nvSpPr>
        <p:spPr>
          <a:xfrm>
            <a:off x="838200" y="229239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6200"/>
              <a:buFont typeface="Times New Roman"/>
              <a:buNone/>
            </a:pPr>
            <a:r>
              <a:rPr lang="en-US" sz="6200"/>
              <a:t>Tester present </a:t>
            </a:r>
            <a:r>
              <a:rPr lang="en-US" sz="6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(3EH) Services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9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Tester Present 3EHex Service</a:t>
            </a:r>
            <a:endParaRPr/>
          </a:p>
        </p:txBody>
      </p:sp>
      <p:sp>
        <p:nvSpPr>
          <p:cNvPr id="949" name="Google Shape;949;p93"/>
          <p:cNvSpPr txBox="1"/>
          <p:nvPr/>
        </p:nvSpPr>
        <p:spPr>
          <a:xfrm>
            <a:off x="1237957" y="2152357"/>
            <a:ext cx="10115843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Tester Present UDS-service request is sent by the tester (client) to keep the ECU in the current diagnostic session, which will prevent the ECU from returning to the default diagnostic session.</a:t>
            </a:r>
            <a:endParaRPr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This service is used to keep one or multiple servers in a diagnostic session other than the default Session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p9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Subfunction</a:t>
            </a:r>
            <a:endParaRPr/>
          </a:p>
        </p:txBody>
      </p:sp>
      <p:pic>
        <p:nvPicPr>
          <p:cNvPr id="955" name="Google Shape;955;p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56432" y="2007045"/>
            <a:ext cx="9997368" cy="387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9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Negative response</a:t>
            </a:r>
            <a:endParaRPr/>
          </a:p>
        </p:txBody>
      </p:sp>
      <p:pic>
        <p:nvPicPr>
          <p:cNvPr id="961" name="Google Shape;961;p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02744" y="2285340"/>
            <a:ext cx="9586512" cy="3243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96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3EHex Request with zero subfunction Frame Format</a:t>
            </a:r>
            <a:endParaRPr/>
          </a:p>
        </p:txBody>
      </p:sp>
      <p:graphicFrame>
        <p:nvGraphicFramePr>
          <p:cNvPr id="967" name="Google Shape;967;p96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68" name="Google Shape;968;p96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453</a:t>
            </a:r>
            <a:endParaRPr/>
          </a:p>
        </p:txBody>
      </p:sp>
      <p:sp>
        <p:nvSpPr>
          <p:cNvPr id="969" name="Google Shape;969;p96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970" name="Google Shape;970;p96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3E</a:t>
            </a:r>
            <a:endParaRPr/>
          </a:p>
        </p:txBody>
      </p:sp>
      <p:sp>
        <p:nvSpPr>
          <p:cNvPr id="971" name="Google Shape;971;p96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72" name="Google Shape;972;p96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73" name="Google Shape;973;p96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74" name="Google Shape;974;p96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75" name="Google Shape;975;p96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76" name="Google Shape;976;p96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97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3EHex Positive Response Frame Format</a:t>
            </a:r>
            <a:endParaRPr/>
          </a:p>
        </p:txBody>
      </p:sp>
      <p:graphicFrame>
        <p:nvGraphicFramePr>
          <p:cNvPr id="982" name="Google Shape;982;p97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83" name="Google Shape;983;p97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456</a:t>
            </a:r>
            <a:endParaRPr/>
          </a:p>
        </p:txBody>
      </p:sp>
      <p:sp>
        <p:nvSpPr>
          <p:cNvPr id="984" name="Google Shape;984;p97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985" name="Google Shape;985;p97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7E</a:t>
            </a:r>
            <a:endParaRPr/>
          </a:p>
        </p:txBody>
      </p:sp>
      <p:sp>
        <p:nvSpPr>
          <p:cNvPr id="986" name="Google Shape;986;p97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87" name="Google Shape;987;p97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88" name="Google Shape;988;p97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89" name="Google Shape;989;p97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90" name="Google Shape;990;p97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991" name="Google Shape;991;p97"/>
          <p:cNvSpPr txBox="1"/>
          <p:nvPr/>
        </p:nvSpPr>
        <p:spPr>
          <a:xfrm>
            <a:off x="942535" y="1775094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2" name="Google Shape;992;p97"/>
          <p:cNvSpPr txBox="1"/>
          <p:nvPr/>
        </p:nvSpPr>
        <p:spPr>
          <a:xfrm>
            <a:off x="942535" y="1777658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98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3EHex Request with 80 subfunction Frame Format</a:t>
            </a:r>
            <a:endParaRPr/>
          </a:p>
        </p:txBody>
      </p:sp>
      <p:graphicFrame>
        <p:nvGraphicFramePr>
          <p:cNvPr id="998" name="Google Shape;998;p98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99" name="Google Shape;999;p98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458</a:t>
            </a:r>
            <a:endParaRPr/>
          </a:p>
        </p:txBody>
      </p:sp>
      <p:sp>
        <p:nvSpPr>
          <p:cNvPr id="1000" name="Google Shape;1000;p98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001" name="Google Shape;1001;p98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3E</a:t>
            </a:r>
            <a:endParaRPr/>
          </a:p>
        </p:txBody>
      </p:sp>
      <p:sp>
        <p:nvSpPr>
          <p:cNvPr id="1002" name="Google Shape;1002;p98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80</a:t>
            </a:r>
            <a:endParaRPr/>
          </a:p>
        </p:txBody>
      </p:sp>
      <p:sp>
        <p:nvSpPr>
          <p:cNvPr id="1003" name="Google Shape;1003;p98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004" name="Google Shape;1004;p98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005" name="Google Shape;1005;p98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006" name="Google Shape;1006;p98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007" name="Google Shape;1007;p98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99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3EHex Positive Response Frame Format</a:t>
            </a:r>
            <a:endParaRPr/>
          </a:p>
        </p:txBody>
      </p:sp>
      <p:graphicFrame>
        <p:nvGraphicFramePr>
          <p:cNvPr id="1013" name="Google Shape;1013;p99"/>
          <p:cNvGraphicFramePr/>
          <p:nvPr/>
        </p:nvGraphicFramePr>
        <p:xfrm>
          <a:off x="623668" y="307468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14" name="Google Shape;1014;p99"/>
          <p:cNvSpPr/>
          <p:nvPr/>
        </p:nvSpPr>
        <p:spPr>
          <a:xfrm>
            <a:off x="623668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460</a:t>
            </a:r>
            <a:endParaRPr/>
          </a:p>
        </p:txBody>
      </p:sp>
      <p:sp>
        <p:nvSpPr>
          <p:cNvPr id="1015" name="Google Shape;1015;p99"/>
          <p:cNvSpPr/>
          <p:nvPr/>
        </p:nvSpPr>
        <p:spPr>
          <a:xfrm>
            <a:off x="2239108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016" name="Google Shape;1016;p99"/>
          <p:cNvSpPr/>
          <p:nvPr/>
        </p:nvSpPr>
        <p:spPr>
          <a:xfrm>
            <a:off x="3423138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7E</a:t>
            </a:r>
            <a:endParaRPr/>
          </a:p>
        </p:txBody>
      </p:sp>
      <p:sp>
        <p:nvSpPr>
          <p:cNvPr id="1017" name="Google Shape;1017;p99"/>
          <p:cNvSpPr/>
          <p:nvPr/>
        </p:nvSpPr>
        <p:spPr>
          <a:xfrm>
            <a:off x="4787704" y="3989080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018" name="Google Shape;1018;p99"/>
          <p:cNvSpPr/>
          <p:nvPr/>
        </p:nvSpPr>
        <p:spPr>
          <a:xfrm>
            <a:off x="6403144" y="3989080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019" name="Google Shape;1019;p99"/>
          <p:cNvSpPr/>
          <p:nvPr/>
        </p:nvSpPr>
        <p:spPr>
          <a:xfrm>
            <a:off x="7587174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020" name="Google Shape;1020;p99"/>
          <p:cNvSpPr/>
          <p:nvPr/>
        </p:nvSpPr>
        <p:spPr>
          <a:xfrm>
            <a:off x="8951740" y="3989080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021" name="Google Shape;1021;p99"/>
          <p:cNvSpPr/>
          <p:nvPr/>
        </p:nvSpPr>
        <p:spPr>
          <a:xfrm>
            <a:off x="10316306" y="3989080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022" name="Google Shape;1022;p99"/>
          <p:cNvSpPr txBox="1"/>
          <p:nvPr/>
        </p:nvSpPr>
        <p:spPr>
          <a:xfrm>
            <a:off x="942535" y="1775094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23" name="Google Shape;1023;p99"/>
          <p:cNvSpPr txBox="1"/>
          <p:nvPr/>
        </p:nvSpPr>
        <p:spPr>
          <a:xfrm>
            <a:off x="942535" y="1777658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p100"/>
          <p:cNvSpPr txBox="1">
            <a:spLocks noGrp="1"/>
          </p:cNvSpPr>
          <p:nvPr>
            <p:ph type="title"/>
          </p:nvPr>
        </p:nvSpPr>
        <p:spPr>
          <a:xfrm>
            <a:off x="838200" y="229239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 sz="6200"/>
              <a:t>Secured data transmission </a:t>
            </a:r>
            <a:r>
              <a:rPr lang="en-US" sz="6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(84H) Services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Google Shape;1033;p10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Secured Data Transmission 84Hex Services</a:t>
            </a:r>
            <a:endParaRPr/>
          </a:p>
        </p:txBody>
      </p:sp>
      <p:sp>
        <p:nvSpPr>
          <p:cNvPr id="1034" name="Google Shape;1034;p101"/>
          <p:cNvSpPr txBox="1">
            <a:spLocks noGrp="1"/>
          </p:cNvSpPr>
          <p:nvPr>
            <p:ph type="body" idx="1"/>
          </p:nvPr>
        </p:nvSpPr>
        <p:spPr>
          <a:xfrm>
            <a:off x="838200" y="2061553"/>
            <a:ext cx="11127545" cy="4431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The purpose of this service is to transmit data that is protected against attacks from third parties, which could endanger data security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No subfunctions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In a secured mode, only confirmed services are allowed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 b="0" i="0" u="none" strike="noStrike">
                <a:solidFill>
                  <a:srgbClr val="002060"/>
                </a:solidFill>
              </a:rPr>
              <a:t>The below services are not allowed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1. Response On Event (86 hex);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2. Read Data By Periodic Identifier (2A hex);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3. Tester Present (3E hex).</a:t>
            </a:r>
            <a:endParaRPr sz="280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p102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Secured Data Transmission 84Hex Request frame Services</a:t>
            </a:r>
            <a:endParaRPr/>
          </a:p>
        </p:txBody>
      </p:sp>
      <p:graphicFrame>
        <p:nvGraphicFramePr>
          <p:cNvPr id="1040" name="Google Shape;1040;p102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41" name="Google Shape;1041;p102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350</a:t>
            </a:r>
            <a:endParaRPr/>
          </a:p>
        </p:txBody>
      </p:sp>
      <p:sp>
        <p:nvSpPr>
          <p:cNvPr id="1042" name="Google Shape;1042;p102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1043" name="Google Shape;1043;p102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84</a:t>
            </a:r>
            <a:endParaRPr/>
          </a:p>
        </p:txBody>
      </p:sp>
      <p:sp>
        <p:nvSpPr>
          <p:cNvPr id="1044" name="Google Shape;1044;p102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045" name="Google Shape;1045;p102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1046" name="Google Shape;1046;p102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33</a:t>
            </a:r>
            <a:endParaRPr/>
          </a:p>
        </p:txBody>
      </p:sp>
      <p:sp>
        <p:nvSpPr>
          <p:cNvPr id="1047" name="Google Shape;1047;p102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44</a:t>
            </a:r>
            <a:endParaRPr/>
          </a:p>
        </p:txBody>
      </p:sp>
      <p:sp>
        <p:nvSpPr>
          <p:cNvPr id="1048" name="Google Shape;1048;p102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55</a:t>
            </a:r>
            <a:endParaRPr/>
          </a:p>
        </p:txBody>
      </p:sp>
      <p:sp>
        <p:nvSpPr>
          <p:cNvPr id="1049" name="Google Shape;1049;p102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0" name="Google Shape;1050;p102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051" name="Google Shape;1051;p102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66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p103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84Hex Positive Response Frame Format</a:t>
            </a:r>
            <a:endParaRPr/>
          </a:p>
        </p:txBody>
      </p:sp>
      <p:graphicFrame>
        <p:nvGraphicFramePr>
          <p:cNvPr id="1057" name="Google Shape;1057;p103"/>
          <p:cNvGraphicFramePr/>
          <p:nvPr/>
        </p:nvGraphicFramePr>
        <p:xfrm>
          <a:off x="0" y="329630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781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58" name="Google Shape;1058;p103"/>
          <p:cNvSpPr/>
          <p:nvPr/>
        </p:nvSpPr>
        <p:spPr>
          <a:xfrm>
            <a:off x="0" y="4077952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460</a:t>
            </a:r>
            <a:endParaRPr/>
          </a:p>
        </p:txBody>
      </p:sp>
      <p:sp>
        <p:nvSpPr>
          <p:cNvPr id="1059" name="Google Shape;1059;p103"/>
          <p:cNvSpPr/>
          <p:nvPr/>
        </p:nvSpPr>
        <p:spPr>
          <a:xfrm>
            <a:off x="1615440" y="4077952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1060" name="Google Shape;1060;p103"/>
          <p:cNvSpPr/>
          <p:nvPr/>
        </p:nvSpPr>
        <p:spPr>
          <a:xfrm>
            <a:off x="2799470" y="4077952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C4</a:t>
            </a:r>
            <a:endParaRPr/>
          </a:p>
        </p:txBody>
      </p:sp>
      <p:sp>
        <p:nvSpPr>
          <p:cNvPr id="1061" name="Google Shape;1061;p103"/>
          <p:cNvSpPr/>
          <p:nvPr/>
        </p:nvSpPr>
        <p:spPr>
          <a:xfrm>
            <a:off x="4164036" y="4077952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062" name="Google Shape;1062;p103"/>
          <p:cNvSpPr/>
          <p:nvPr/>
        </p:nvSpPr>
        <p:spPr>
          <a:xfrm>
            <a:off x="5779476" y="4077952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1063" name="Google Shape;1063;p103"/>
          <p:cNvSpPr/>
          <p:nvPr/>
        </p:nvSpPr>
        <p:spPr>
          <a:xfrm>
            <a:off x="6963506" y="4077952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33</a:t>
            </a:r>
            <a:endParaRPr/>
          </a:p>
        </p:txBody>
      </p:sp>
      <p:sp>
        <p:nvSpPr>
          <p:cNvPr id="1064" name="Google Shape;1064;p103"/>
          <p:cNvSpPr/>
          <p:nvPr/>
        </p:nvSpPr>
        <p:spPr>
          <a:xfrm>
            <a:off x="8328072" y="4077952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44</a:t>
            </a:r>
            <a:endParaRPr/>
          </a:p>
        </p:txBody>
      </p:sp>
      <p:sp>
        <p:nvSpPr>
          <p:cNvPr id="1065" name="Google Shape;1065;p103"/>
          <p:cNvSpPr/>
          <p:nvPr/>
        </p:nvSpPr>
        <p:spPr>
          <a:xfrm>
            <a:off x="9692638" y="4077952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55</a:t>
            </a:r>
            <a:endParaRPr/>
          </a:p>
        </p:txBody>
      </p:sp>
      <p:sp>
        <p:nvSpPr>
          <p:cNvPr id="1066" name="Google Shape;1066;p103"/>
          <p:cNvSpPr txBox="1"/>
          <p:nvPr/>
        </p:nvSpPr>
        <p:spPr>
          <a:xfrm>
            <a:off x="942535" y="1775094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67" name="Google Shape;1067;p103"/>
          <p:cNvSpPr txBox="1"/>
          <p:nvPr/>
        </p:nvSpPr>
        <p:spPr>
          <a:xfrm>
            <a:off x="942535" y="1777658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68" name="Google Shape;1068;p103"/>
          <p:cNvSpPr/>
          <p:nvPr/>
        </p:nvSpPr>
        <p:spPr>
          <a:xfrm>
            <a:off x="10944663" y="3296306"/>
            <a:ext cx="1252025" cy="781646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069" name="Google Shape;1069;p103"/>
          <p:cNvSpPr/>
          <p:nvPr/>
        </p:nvSpPr>
        <p:spPr>
          <a:xfrm>
            <a:off x="10939975" y="4077952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66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10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84Hex Supported Negative  Response</a:t>
            </a:r>
            <a:endParaRPr/>
          </a:p>
        </p:txBody>
      </p:sp>
      <p:pic>
        <p:nvPicPr>
          <p:cNvPr id="1075" name="Google Shape;1075;p10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265821" y="2307102"/>
            <a:ext cx="9660357" cy="31836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10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84Hex Negative Response</a:t>
            </a:r>
            <a:endParaRPr/>
          </a:p>
        </p:txBody>
      </p:sp>
      <p:graphicFrame>
        <p:nvGraphicFramePr>
          <p:cNvPr id="1081" name="Google Shape;1081;p105"/>
          <p:cNvGraphicFramePr/>
          <p:nvPr/>
        </p:nvGraphicFramePr>
        <p:xfrm>
          <a:off x="1340534" y="292454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2102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9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NR_SERVICE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SERVICE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NRC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CODE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82" name="Google Shape;1082;p105"/>
          <p:cNvSpPr/>
          <p:nvPr/>
        </p:nvSpPr>
        <p:spPr>
          <a:xfrm>
            <a:off x="1340534" y="3564626"/>
            <a:ext cx="2120118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421</a:t>
            </a:r>
            <a:endParaRPr/>
          </a:p>
        </p:txBody>
      </p:sp>
      <p:sp>
        <p:nvSpPr>
          <p:cNvPr id="1083" name="Google Shape;1083;p105"/>
          <p:cNvSpPr/>
          <p:nvPr/>
        </p:nvSpPr>
        <p:spPr>
          <a:xfrm>
            <a:off x="3460652" y="3564626"/>
            <a:ext cx="1322363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084" name="Google Shape;1084;p105"/>
          <p:cNvSpPr/>
          <p:nvPr/>
        </p:nvSpPr>
        <p:spPr>
          <a:xfrm>
            <a:off x="4783016" y="3550784"/>
            <a:ext cx="2120118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7F</a:t>
            </a:r>
            <a:endParaRPr/>
          </a:p>
        </p:txBody>
      </p:sp>
      <p:sp>
        <p:nvSpPr>
          <p:cNvPr id="1085" name="Google Shape;1085;p105"/>
          <p:cNvSpPr/>
          <p:nvPr/>
        </p:nvSpPr>
        <p:spPr>
          <a:xfrm>
            <a:off x="6903134" y="3550784"/>
            <a:ext cx="1533379" cy="87758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84</a:t>
            </a:r>
            <a:endParaRPr/>
          </a:p>
        </p:txBody>
      </p:sp>
      <p:sp>
        <p:nvSpPr>
          <p:cNvPr id="1086" name="Google Shape;1086;p105"/>
          <p:cNvSpPr/>
          <p:nvPr/>
        </p:nvSpPr>
        <p:spPr>
          <a:xfrm>
            <a:off x="8436513" y="3549250"/>
            <a:ext cx="145307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p106"/>
          <p:cNvSpPr txBox="1">
            <a:spLocks noGrp="1"/>
          </p:cNvSpPr>
          <p:nvPr>
            <p:ph type="title"/>
          </p:nvPr>
        </p:nvSpPr>
        <p:spPr>
          <a:xfrm>
            <a:off x="838200" y="229239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 sz="6200"/>
              <a:t>Control DTC Setting </a:t>
            </a:r>
            <a:r>
              <a:rPr lang="en-US" sz="6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(85H) Services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10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Control DTC Setting 85H</a:t>
            </a:r>
            <a:endParaRPr/>
          </a:p>
        </p:txBody>
      </p:sp>
      <p:sp>
        <p:nvSpPr>
          <p:cNvPr id="1097" name="Google Shape;1097;p10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DTC are used by the automobile manufacturer to diagnose problems related to vehicle.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The Control DTC Setting enables the tester (client) to control the updating of the Diagnostic Trouble Codes (DTC:s) in the ECU:s.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Generally its used to disable DTC update while preprogramming and enable on post programming.</a:t>
            </a:r>
            <a:endParaRPr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2" name="Google Shape;1102;p10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9670" y="0"/>
            <a:ext cx="9932660" cy="67553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7" name="Google Shape;1107;p10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3385" y="0"/>
            <a:ext cx="10776538" cy="68635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10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Control DTC Setting 85H Request frame Services</a:t>
            </a:r>
            <a:endParaRPr/>
          </a:p>
        </p:txBody>
      </p:sp>
      <p:graphicFrame>
        <p:nvGraphicFramePr>
          <p:cNvPr id="1113" name="Google Shape;1113;p110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 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14" name="Google Shape;1114;p110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115" name="Google Shape;1115;p110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16" name="Google Shape;1116;p110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85</a:t>
            </a:r>
            <a:endParaRPr/>
          </a:p>
        </p:txBody>
      </p:sp>
      <p:sp>
        <p:nvSpPr>
          <p:cNvPr id="1117" name="Google Shape;1117;p110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118" name="Google Shape;1118;p110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19" name="Google Shape;1119;p110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20" name="Google Shape;1120;p110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21" name="Google Shape;1121;p110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22" name="Google Shape;1122;p110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3" name="Google Shape;1123;p110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124" name="Google Shape;1124;p110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p111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Control DTC Setting 85H Positive Response Frame Format</a:t>
            </a:r>
            <a:endParaRPr/>
          </a:p>
        </p:txBody>
      </p:sp>
      <p:graphicFrame>
        <p:nvGraphicFramePr>
          <p:cNvPr id="1130" name="Google Shape;1130;p111"/>
          <p:cNvGraphicFramePr/>
          <p:nvPr/>
        </p:nvGraphicFramePr>
        <p:xfrm>
          <a:off x="0" y="329630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781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31" name="Google Shape;1131;p111"/>
          <p:cNvSpPr/>
          <p:nvPr/>
        </p:nvSpPr>
        <p:spPr>
          <a:xfrm>
            <a:off x="0" y="4077952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460</a:t>
            </a:r>
            <a:endParaRPr/>
          </a:p>
        </p:txBody>
      </p:sp>
      <p:sp>
        <p:nvSpPr>
          <p:cNvPr id="1132" name="Google Shape;1132;p111"/>
          <p:cNvSpPr/>
          <p:nvPr/>
        </p:nvSpPr>
        <p:spPr>
          <a:xfrm>
            <a:off x="1615440" y="4077952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33" name="Google Shape;1133;p111"/>
          <p:cNvSpPr/>
          <p:nvPr/>
        </p:nvSpPr>
        <p:spPr>
          <a:xfrm>
            <a:off x="2799470" y="4077952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C5</a:t>
            </a:r>
            <a:endParaRPr/>
          </a:p>
        </p:txBody>
      </p:sp>
      <p:sp>
        <p:nvSpPr>
          <p:cNvPr id="1134" name="Google Shape;1134;p111"/>
          <p:cNvSpPr/>
          <p:nvPr/>
        </p:nvSpPr>
        <p:spPr>
          <a:xfrm>
            <a:off x="4164036" y="4077952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135" name="Google Shape;1135;p111"/>
          <p:cNvSpPr/>
          <p:nvPr/>
        </p:nvSpPr>
        <p:spPr>
          <a:xfrm>
            <a:off x="5779476" y="4077952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36" name="Google Shape;1136;p111"/>
          <p:cNvSpPr/>
          <p:nvPr/>
        </p:nvSpPr>
        <p:spPr>
          <a:xfrm>
            <a:off x="6963506" y="4077952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37" name="Google Shape;1137;p111"/>
          <p:cNvSpPr/>
          <p:nvPr/>
        </p:nvSpPr>
        <p:spPr>
          <a:xfrm>
            <a:off x="8328072" y="4077952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38" name="Google Shape;1138;p111"/>
          <p:cNvSpPr/>
          <p:nvPr/>
        </p:nvSpPr>
        <p:spPr>
          <a:xfrm>
            <a:off x="9692638" y="4077952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39" name="Google Shape;1139;p111"/>
          <p:cNvSpPr txBox="1"/>
          <p:nvPr/>
        </p:nvSpPr>
        <p:spPr>
          <a:xfrm>
            <a:off x="942535" y="1775094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0" name="Google Shape;1140;p111"/>
          <p:cNvSpPr txBox="1"/>
          <p:nvPr/>
        </p:nvSpPr>
        <p:spPr>
          <a:xfrm>
            <a:off x="942535" y="1777658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1" name="Google Shape;1141;p111"/>
          <p:cNvSpPr/>
          <p:nvPr/>
        </p:nvSpPr>
        <p:spPr>
          <a:xfrm>
            <a:off x="10944663" y="3296306"/>
            <a:ext cx="1252025" cy="781646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142" name="Google Shape;1142;p111"/>
          <p:cNvSpPr/>
          <p:nvPr/>
        </p:nvSpPr>
        <p:spPr>
          <a:xfrm>
            <a:off x="10939975" y="4077952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p1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Link control 87hex service</a:t>
            </a:r>
            <a:endParaRPr/>
          </a:p>
        </p:txBody>
      </p:sp>
      <p:sp>
        <p:nvSpPr>
          <p:cNvPr id="1148" name="Google Shape;1148;p112"/>
          <p:cNvSpPr txBox="1">
            <a:spLocks noGrp="1"/>
          </p:cNvSpPr>
          <p:nvPr>
            <p:ph type="body" idx="1"/>
          </p:nvPr>
        </p:nvSpPr>
        <p:spPr>
          <a:xfrm>
            <a:off x="1139483" y="2514944"/>
            <a:ext cx="10214317" cy="13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The Link Control service is used to control the communication link baud rate between the client and the server(s) for the exchange of diagnostic data.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This service optionally applied.</a:t>
            </a: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113"/>
          <p:cNvSpPr txBox="1">
            <a:spLocks noGrp="1"/>
          </p:cNvSpPr>
          <p:nvPr>
            <p:ph type="title"/>
          </p:nvPr>
        </p:nvSpPr>
        <p:spPr>
          <a:xfrm>
            <a:off x="844062" y="0"/>
            <a:ext cx="10509738" cy="970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 message subfunction</a:t>
            </a:r>
            <a:endParaRPr/>
          </a:p>
        </p:txBody>
      </p:sp>
      <p:pic>
        <p:nvPicPr>
          <p:cNvPr id="1154" name="Google Shape;1154;p1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5741" y="970672"/>
            <a:ext cx="7122721" cy="56186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Google Shape;1159;p114"/>
          <p:cNvSpPr txBox="1">
            <a:spLocks noGrp="1"/>
          </p:cNvSpPr>
          <p:nvPr>
            <p:ph type="title"/>
          </p:nvPr>
        </p:nvSpPr>
        <p:spPr>
          <a:xfrm>
            <a:off x="1055076" y="365125"/>
            <a:ext cx="10298723" cy="535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Baud rate</a:t>
            </a:r>
            <a:endParaRPr/>
          </a:p>
        </p:txBody>
      </p:sp>
      <p:pic>
        <p:nvPicPr>
          <p:cNvPr id="1160" name="Google Shape;1160;p1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56543" y="928467"/>
            <a:ext cx="6363035" cy="59576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115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Link control 87H Request frame Services</a:t>
            </a:r>
            <a:endParaRPr/>
          </a:p>
        </p:txBody>
      </p:sp>
      <p:graphicFrame>
        <p:nvGraphicFramePr>
          <p:cNvPr id="1166" name="Google Shape;1166;p115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 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Baud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Rate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67" name="Google Shape;1167;p115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350</a:t>
            </a:r>
            <a:endParaRPr/>
          </a:p>
        </p:txBody>
      </p:sp>
      <p:sp>
        <p:nvSpPr>
          <p:cNvPr id="1168" name="Google Shape;1168;p115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169" name="Google Shape;1169;p115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87</a:t>
            </a:r>
            <a:endParaRPr/>
          </a:p>
        </p:txBody>
      </p:sp>
      <p:sp>
        <p:nvSpPr>
          <p:cNvPr id="1170" name="Google Shape;1170;p115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171" name="Google Shape;1171;p115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172" name="Google Shape;1172;p115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73" name="Google Shape;1173;p115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74" name="Google Shape;1174;p115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75" name="Google Shape;1175;p115"/>
          <p:cNvSpPr txBox="1"/>
          <p:nvPr/>
        </p:nvSpPr>
        <p:spPr>
          <a:xfrm>
            <a:off x="942535" y="176102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76" name="Google Shape;1176;p115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177" name="Google Shape;1177;p115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Google Shape;1182;p116"/>
          <p:cNvSpPr txBox="1">
            <a:spLocks noGrp="1"/>
          </p:cNvSpPr>
          <p:nvPr>
            <p:ph type="title"/>
          </p:nvPr>
        </p:nvSpPr>
        <p:spPr>
          <a:xfrm>
            <a:off x="623668" y="4354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Link control 87H Positive Response Frame Format</a:t>
            </a:r>
            <a:endParaRPr/>
          </a:p>
        </p:txBody>
      </p:sp>
      <p:graphicFrame>
        <p:nvGraphicFramePr>
          <p:cNvPr id="1183" name="Google Shape;1183;p116"/>
          <p:cNvGraphicFramePr/>
          <p:nvPr/>
        </p:nvGraphicFramePr>
        <p:xfrm>
          <a:off x="0" y="329630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8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3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781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84" name="Google Shape;1184;p116"/>
          <p:cNvSpPr/>
          <p:nvPr/>
        </p:nvSpPr>
        <p:spPr>
          <a:xfrm>
            <a:off x="0" y="4077952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462</a:t>
            </a:r>
            <a:endParaRPr/>
          </a:p>
        </p:txBody>
      </p:sp>
      <p:sp>
        <p:nvSpPr>
          <p:cNvPr id="1185" name="Google Shape;1185;p116"/>
          <p:cNvSpPr/>
          <p:nvPr/>
        </p:nvSpPr>
        <p:spPr>
          <a:xfrm>
            <a:off x="1615440" y="4077952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86" name="Google Shape;1186;p116"/>
          <p:cNvSpPr/>
          <p:nvPr/>
        </p:nvSpPr>
        <p:spPr>
          <a:xfrm>
            <a:off x="2799470" y="4077952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C7</a:t>
            </a:r>
            <a:endParaRPr/>
          </a:p>
        </p:txBody>
      </p:sp>
      <p:sp>
        <p:nvSpPr>
          <p:cNvPr id="1187" name="Google Shape;1187;p116"/>
          <p:cNvSpPr/>
          <p:nvPr/>
        </p:nvSpPr>
        <p:spPr>
          <a:xfrm>
            <a:off x="4164036" y="4077952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188" name="Google Shape;1188;p116"/>
          <p:cNvSpPr/>
          <p:nvPr/>
        </p:nvSpPr>
        <p:spPr>
          <a:xfrm>
            <a:off x="5779476" y="4077952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89" name="Google Shape;1189;p116"/>
          <p:cNvSpPr/>
          <p:nvPr/>
        </p:nvSpPr>
        <p:spPr>
          <a:xfrm>
            <a:off x="6963506" y="4077952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90" name="Google Shape;1190;p116"/>
          <p:cNvSpPr/>
          <p:nvPr/>
        </p:nvSpPr>
        <p:spPr>
          <a:xfrm>
            <a:off x="8328072" y="4077952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91" name="Google Shape;1191;p116"/>
          <p:cNvSpPr/>
          <p:nvPr/>
        </p:nvSpPr>
        <p:spPr>
          <a:xfrm>
            <a:off x="9692638" y="4077952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192" name="Google Shape;1192;p116"/>
          <p:cNvSpPr txBox="1"/>
          <p:nvPr/>
        </p:nvSpPr>
        <p:spPr>
          <a:xfrm>
            <a:off x="942535" y="1775094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93" name="Google Shape;1193;p116"/>
          <p:cNvSpPr txBox="1"/>
          <p:nvPr/>
        </p:nvSpPr>
        <p:spPr>
          <a:xfrm>
            <a:off x="942535" y="1775094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94" name="Google Shape;1194;p116"/>
          <p:cNvSpPr/>
          <p:nvPr/>
        </p:nvSpPr>
        <p:spPr>
          <a:xfrm>
            <a:off x="10944663" y="3296306"/>
            <a:ext cx="1252025" cy="781646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195" name="Google Shape;1195;p116"/>
          <p:cNvSpPr/>
          <p:nvPr/>
        </p:nvSpPr>
        <p:spPr>
          <a:xfrm>
            <a:off x="10939975" y="4077952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Google Shape;1200;p1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Data Transmission functional unit</a:t>
            </a:r>
            <a:endParaRPr/>
          </a:p>
        </p:txBody>
      </p:sp>
      <p:sp>
        <p:nvSpPr>
          <p:cNvPr id="1201" name="Google Shape;1201;p1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</a:rPr>
              <a:t>Read data by identifier (22hex)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</a:rPr>
              <a:t>Read Memory by address (23hex)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</a:rPr>
              <a:t>Read Scaling data by Identifier (24hex)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</a:rPr>
              <a:t>Read data by periodic identifier (2Ahex)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</a:rPr>
              <a:t>Dynamically define data identifier (2Chex)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</a:rPr>
              <a:t>Write data by identifier (2Ehex)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</a:rPr>
              <a:t>Write Memory by address (3Dhex)</a:t>
            </a:r>
            <a:endParaRPr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1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Flow control</a:t>
            </a:r>
            <a:endParaRPr/>
          </a:p>
        </p:txBody>
      </p:sp>
      <p:sp>
        <p:nvSpPr>
          <p:cNvPr id="1207" name="Google Shape;1207;p1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If we want to receive more than 8 bytes of data we need to use flow control method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Types of frames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Single Frame		- 00 H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First frame			- 10 H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Consecutive frame		- 21 H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Flow control frame		- 20 H</a:t>
            </a:r>
            <a:endParaRPr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2" name="Google Shape;1212;p119"/>
          <p:cNvPicPr preferRelativeResize="0"/>
          <p:nvPr/>
        </p:nvPicPr>
        <p:blipFill rotWithShape="1">
          <a:blip r:embed="rId3">
            <a:alphaModFix/>
          </a:blip>
          <a:srcRect b="87635"/>
          <a:stretch/>
        </p:blipFill>
        <p:spPr>
          <a:xfrm>
            <a:off x="0" y="27630"/>
            <a:ext cx="12192000" cy="8445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3" name="Google Shape;1213;p119"/>
          <p:cNvPicPr preferRelativeResize="0"/>
          <p:nvPr/>
        </p:nvPicPr>
        <p:blipFill rotWithShape="1">
          <a:blip r:embed="rId3">
            <a:alphaModFix/>
          </a:blip>
          <a:srcRect b="79397"/>
          <a:stretch/>
        </p:blipFill>
        <p:spPr>
          <a:xfrm>
            <a:off x="0" y="27630"/>
            <a:ext cx="12192000" cy="140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4" name="Google Shape;1214;p119"/>
          <p:cNvPicPr preferRelativeResize="0"/>
          <p:nvPr/>
        </p:nvPicPr>
        <p:blipFill rotWithShape="1">
          <a:blip r:embed="rId3">
            <a:alphaModFix/>
          </a:blip>
          <a:srcRect t="-1" b="73836"/>
          <a:stretch/>
        </p:blipFill>
        <p:spPr>
          <a:xfrm>
            <a:off x="0" y="27630"/>
            <a:ext cx="12192000" cy="1787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5" name="Google Shape;1215;p119"/>
          <p:cNvPicPr preferRelativeResize="0"/>
          <p:nvPr/>
        </p:nvPicPr>
        <p:blipFill rotWithShape="1">
          <a:blip r:embed="rId3">
            <a:alphaModFix/>
          </a:blip>
          <a:srcRect b="64362"/>
          <a:stretch/>
        </p:blipFill>
        <p:spPr>
          <a:xfrm>
            <a:off x="0" y="-28136"/>
            <a:ext cx="12192000" cy="24342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6" name="Google Shape;1216;p119"/>
          <p:cNvPicPr preferRelativeResize="0"/>
          <p:nvPr/>
        </p:nvPicPr>
        <p:blipFill rotWithShape="1">
          <a:blip r:embed="rId3">
            <a:alphaModFix/>
          </a:blip>
          <a:srcRect l="1" r="45769" b="54064"/>
          <a:stretch/>
        </p:blipFill>
        <p:spPr>
          <a:xfrm>
            <a:off x="0" y="-28136"/>
            <a:ext cx="6611815" cy="3137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7" name="Google Shape;1217;p119"/>
          <p:cNvPicPr preferRelativeResize="0"/>
          <p:nvPr/>
        </p:nvPicPr>
        <p:blipFill rotWithShape="1">
          <a:blip r:embed="rId3">
            <a:alphaModFix/>
          </a:blip>
          <a:srcRect b="54064"/>
          <a:stretch/>
        </p:blipFill>
        <p:spPr>
          <a:xfrm>
            <a:off x="0" y="27629"/>
            <a:ext cx="12192000" cy="3137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8" name="Google Shape;1218;p119"/>
          <p:cNvPicPr preferRelativeResize="0"/>
          <p:nvPr/>
        </p:nvPicPr>
        <p:blipFill rotWithShape="1">
          <a:blip r:embed="rId3">
            <a:alphaModFix/>
          </a:blip>
          <a:srcRect b="46340"/>
          <a:stretch/>
        </p:blipFill>
        <p:spPr>
          <a:xfrm>
            <a:off x="0" y="27630"/>
            <a:ext cx="12192000" cy="3665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9" name="Google Shape;1219;p119"/>
          <p:cNvPicPr preferRelativeResize="0"/>
          <p:nvPr/>
        </p:nvPicPr>
        <p:blipFill rotWithShape="1">
          <a:blip r:embed="rId3">
            <a:alphaModFix/>
          </a:blip>
          <a:srcRect r="52692" b="34498"/>
          <a:stretch/>
        </p:blipFill>
        <p:spPr>
          <a:xfrm>
            <a:off x="1" y="27630"/>
            <a:ext cx="5767754" cy="4474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0" name="Google Shape;1220;p119"/>
          <p:cNvPicPr preferRelativeResize="0"/>
          <p:nvPr/>
        </p:nvPicPr>
        <p:blipFill rotWithShape="1">
          <a:blip r:embed="rId3">
            <a:alphaModFix/>
          </a:blip>
          <a:srcRect b="34498"/>
          <a:stretch/>
        </p:blipFill>
        <p:spPr>
          <a:xfrm>
            <a:off x="0" y="27630"/>
            <a:ext cx="12192000" cy="4474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1" name="Google Shape;1221;p119"/>
          <p:cNvPicPr preferRelativeResize="0"/>
          <p:nvPr/>
        </p:nvPicPr>
        <p:blipFill rotWithShape="1">
          <a:blip r:embed="rId3">
            <a:alphaModFix/>
          </a:blip>
          <a:srcRect r="52692" b="25230"/>
          <a:stretch/>
        </p:blipFill>
        <p:spPr>
          <a:xfrm>
            <a:off x="0" y="-28136"/>
            <a:ext cx="5767754" cy="5107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2" name="Google Shape;1222;p119"/>
          <p:cNvPicPr preferRelativeResize="0"/>
          <p:nvPr/>
        </p:nvPicPr>
        <p:blipFill rotWithShape="1">
          <a:blip r:embed="rId3">
            <a:alphaModFix/>
          </a:blip>
          <a:srcRect b="26046"/>
          <a:stretch/>
        </p:blipFill>
        <p:spPr>
          <a:xfrm>
            <a:off x="0" y="27630"/>
            <a:ext cx="12192000" cy="50513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3" name="Google Shape;1223;p1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7629"/>
            <a:ext cx="12192000" cy="68303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1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Read data by identifier 22Hex Service</a:t>
            </a:r>
            <a:endParaRPr/>
          </a:p>
        </p:txBody>
      </p:sp>
      <p:sp>
        <p:nvSpPr>
          <p:cNvPr id="1229" name="Google Shape;1229;p120"/>
          <p:cNvSpPr txBox="1">
            <a:spLocks noGrp="1"/>
          </p:cNvSpPr>
          <p:nvPr>
            <p:ph type="body" idx="1"/>
          </p:nvPr>
        </p:nvSpPr>
        <p:spPr>
          <a:xfrm>
            <a:off x="1026942" y="1825625"/>
            <a:ext cx="103268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The Read Data By Identifier service allows the client to request data record values from the server identified by one or more data Identifiers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No subfunction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Google Shape;1234;p121"/>
          <p:cNvSpPr txBox="1">
            <a:spLocks noGrp="1"/>
          </p:cNvSpPr>
          <p:nvPr>
            <p:ph type="title"/>
          </p:nvPr>
        </p:nvSpPr>
        <p:spPr>
          <a:xfrm>
            <a:off x="439028" y="435464"/>
            <a:ext cx="10700240" cy="8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Read data by identifier 22H Request frame</a:t>
            </a:r>
            <a:endParaRPr/>
          </a:p>
        </p:txBody>
      </p:sp>
      <p:graphicFrame>
        <p:nvGraphicFramePr>
          <p:cNvPr id="1235" name="Google Shape;1235;p121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36" name="Google Shape;1236;p121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237" name="Google Shape;1237;p121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238" name="Google Shape;1238;p121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1239" name="Google Shape;1239;p121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240" name="Google Shape;1240;p121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41</a:t>
            </a:r>
            <a:endParaRPr/>
          </a:p>
        </p:txBody>
      </p:sp>
      <p:sp>
        <p:nvSpPr>
          <p:cNvPr id="1241" name="Google Shape;1241;p121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242" name="Google Shape;1242;p121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243" name="Google Shape;1243;p121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244" name="Google Shape;1244;p121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45" name="Google Shape;1245;p121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246" name="Google Shape;1246;p121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247" name="Google Shape;1247;p121"/>
          <p:cNvSpPr txBox="1">
            <a:spLocks noGrp="1"/>
          </p:cNvSpPr>
          <p:nvPr>
            <p:ph type="body" idx="1"/>
          </p:nvPr>
        </p:nvSpPr>
        <p:spPr>
          <a:xfrm>
            <a:off x="439028" y="1657548"/>
            <a:ext cx="10515600" cy="411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Read RPM lets take RPM as 5000 and Data identifier as 0141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122"/>
          <p:cNvSpPr txBox="1">
            <a:spLocks noGrp="1"/>
          </p:cNvSpPr>
          <p:nvPr>
            <p:ph type="title"/>
          </p:nvPr>
        </p:nvSpPr>
        <p:spPr>
          <a:xfrm>
            <a:off x="439027" y="435463"/>
            <a:ext cx="11420037" cy="1168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Read data by identifier 22H Positive Response frame</a:t>
            </a:r>
            <a:endParaRPr/>
          </a:p>
        </p:txBody>
      </p:sp>
      <p:graphicFrame>
        <p:nvGraphicFramePr>
          <p:cNvPr id="1253" name="Google Shape;1253;p122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54" name="Google Shape;1254;p122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359</a:t>
            </a:r>
            <a:endParaRPr/>
          </a:p>
        </p:txBody>
      </p:sp>
      <p:sp>
        <p:nvSpPr>
          <p:cNvPr id="1255" name="Google Shape;1255;p122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256" name="Google Shape;1256;p122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62</a:t>
            </a:r>
            <a:endParaRPr/>
          </a:p>
        </p:txBody>
      </p:sp>
      <p:sp>
        <p:nvSpPr>
          <p:cNvPr id="1257" name="Google Shape;1257;p122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258" name="Google Shape;1258;p122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41</a:t>
            </a:r>
            <a:endParaRPr/>
          </a:p>
        </p:txBody>
      </p:sp>
      <p:sp>
        <p:nvSpPr>
          <p:cNvPr id="1259" name="Google Shape;1259;p122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1260" name="Google Shape;1260;p122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88</a:t>
            </a:r>
            <a:endParaRPr/>
          </a:p>
        </p:txBody>
      </p:sp>
      <p:sp>
        <p:nvSpPr>
          <p:cNvPr id="1261" name="Google Shape;1261;p122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262" name="Google Shape;1262;p122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 </a:t>
            </a:r>
            <a:endParaRPr/>
          </a:p>
        </p:txBody>
      </p:sp>
      <p:sp>
        <p:nvSpPr>
          <p:cNvPr id="1263" name="Google Shape;1263;p122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264" name="Google Shape;1264;p122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9" name="Google Shape;1269;p1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8245" y="816119"/>
            <a:ext cx="10355510" cy="5225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p1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Read data by identifier 22Hex Negative Response</a:t>
            </a:r>
            <a:endParaRPr/>
          </a:p>
        </p:txBody>
      </p:sp>
      <p:graphicFrame>
        <p:nvGraphicFramePr>
          <p:cNvPr id="1275" name="Google Shape;1275;p124"/>
          <p:cNvGraphicFramePr/>
          <p:nvPr/>
        </p:nvGraphicFramePr>
        <p:xfrm>
          <a:off x="1340534" y="292454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2102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9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NR_SERVICE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SERVICE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NRC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CODE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76" name="Google Shape;1276;p124"/>
          <p:cNvSpPr/>
          <p:nvPr/>
        </p:nvSpPr>
        <p:spPr>
          <a:xfrm>
            <a:off x="1340534" y="3564626"/>
            <a:ext cx="2120118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421</a:t>
            </a:r>
            <a:endParaRPr/>
          </a:p>
        </p:txBody>
      </p:sp>
      <p:sp>
        <p:nvSpPr>
          <p:cNvPr id="1277" name="Google Shape;1277;p124"/>
          <p:cNvSpPr/>
          <p:nvPr/>
        </p:nvSpPr>
        <p:spPr>
          <a:xfrm>
            <a:off x="3460652" y="3564626"/>
            <a:ext cx="1322363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278" name="Google Shape;1278;p124"/>
          <p:cNvSpPr/>
          <p:nvPr/>
        </p:nvSpPr>
        <p:spPr>
          <a:xfrm>
            <a:off x="4783016" y="3550784"/>
            <a:ext cx="2120118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7F</a:t>
            </a:r>
            <a:endParaRPr/>
          </a:p>
        </p:txBody>
      </p:sp>
      <p:sp>
        <p:nvSpPr>
          <p:cNvPr id="1279" name="Google Shape;1279;p124"/>
          <p:cNvSpPr/>
          <p:nvPr/>
        </p:nvSpPr>
        <p:spPr>
          <a:xfrm>
            <a:off x="6903134" y="3550784"/>
            <a:ext cx="1533379" cy="87758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1280" name="Google Shape;1280;p124"/>
          <p:cNvSpPr/>
          <p:nvPr/>
        </p:nvSpPr>
        <p:spPr>
          <a:xfrm>
            <a:off x="8436513" y="3549250"/>
            <a:ext cx="145307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31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1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Read Memory by Address 23Hex Service</a:t>
            </a:r>
            <a:endParaRPr/>
          </a:p>
        </p:txBody>
      </p:sp>
      <p:sp>
        <p:nvSpPr>
          <p:cNvPr id="1286" name="Google Shape;1286;p125"/>
          <p:cNvSpPr txBox="1">
            <a:spLocks noGrp="1"/>
          </p:cNvSpPr>
          <p:nvPr>
            <p:ph type="body" idx="1"/>
          </p:nvPr>
        </p:nvSpPr>
        <p:spPr>
          <a:xfrm>
            <a:off x="932571" y="2388333"/>
            <a:ext cx="10326858" cy="2479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The Read Memory By Address service allows the client to request memory data from the server via a provided starting address and to specify the size of memory to be read.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No subfunction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p1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</a:t>
            </a:r>
            <a:endParaRPr/>
          </a:p>
        </p:txBody>
      </p:sp>
      <p:pic>
        <p:nvPicPr>
          <p:cNvPr id="1292" name="Google Shape;1292;p1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311" y="1690688"/>
            <a:ext cx="11493378" cy="48744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Google Shape;1297;p1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 </a:t>
            </a:r>
            <a:endParaRPr/>
          </a:p>
        </p:txBody>
      </p:sp>
      <p:pic>
        <p:nvPicPr>
          <p:cNvPr id="1298" name="Google Shape;1298;p12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54036" y="2254482"/>
            <a:ext cx="11283927" cy="321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p128"/>
          <p:cNvSpPr txBox="1">
            <a:spLocks noGrp="1"/>
          </p:cNvSpPr>
          <p:nvPr>
            <p:ph type="title"/>
          </p:nvPr>
        </p:nvSpPr>
        <p:spPr>
          <a:xfrm>
            <a:off x="731520" y="365125"/>
            <a:ext cx="10622280" cy="802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Negative response</a:t>
            </a:r>
            <a:endParaRPr/>
          </a:p>
        </p:txBody>
      </p:sp>
      <p:pic>
        <p:nvPicPr>
          <p:cNvPr id="1304" name="Google Shape;1304;p1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24222" y="1451097"/>
            <a:ext cx="8314006" cy="51408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p129"/>
          <p:cNvSpPr txBox="1">
            <a:spLocks noGrp="1"/>
          </p:cNvSpPr>
          <p:nvPr>
            <p:ph type="title"/>
          </p:nvPr>
        </p:nvSpPr>
        <p:spPr>
          <a:xfrm>
            <a:off x="439028" y="435464"/>
            <a:ext cx="10700240" cy="8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Read data by Memory address 23H Request frame</a:t>
            </a:r>
            <a:endParaRPr/>
          </a:p>
        </p:txBody>
      </p:sp>
      <p:graphicFrame>
        <p:nvGraphicFramePr>
          <p:cNvPr id="1310" name="Google Shape;1310;p129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FIRST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NUMBER OF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ADDRESS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LENGTH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1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3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11" name="Google Shape;1311;p129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350</a:t>
            </a:r>
            <a:endParaRPr/>
          </a:p>
        </p:txBody>
      </p:sp>
      <p:sp>
        <p:nvSpPr>
          <p:cNvPr id="1312" name="Google Shape;1312;p129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1313" name="Google Shape;1313;p129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0F</a:t>
            </a:r>
            <a:endParaRPr/>
          </a:p>
        </p:txBody>
      </p:sp>
      <p:sp>
        <p:nvSpPr>
          <p:cNvPr id="1314" name="Google Shape;1314;p129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/>
          </a:p>
        </p:txBody>
      </p:sp>
      <p:sp>
        <p:nvSpPr>
          <p:cNvPr id="1315" name="Google Shape;1315;p129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66</a:t>
            </a:r>
            <a:endParaRPr/>
          </a:p>
        </p:txBody>
      </p:sp>
      <p:sp>
        <p:nvSpPr>
          <p:cNvPr id="1316" name="Google Shape;1316;p129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317" name="Google Shape;1317;p129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1318" name="Google Shape;1318;p129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33</a:t>
            </a:r>
            <a:endParaRPr/>
          </a:p>
        </p:txBody>
      </p:sp>
      <p:sp>
        <p:nvSpPr>
          <p:cNvPr id="1319" name="Google Shape;1319;p129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20" name="Google Shape;1320;p129"/>
          <p:cNvSpPr/>
          <p:nvPr/>
        </p:nvSpPr>
        <p:spPr>
          <a:xfrm>
            <a:off x="10939975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Add 4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1" name="Google Shape;1321;p129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44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130"/>
          <p:cNvSpPr txBox="1">
            <a:spLocks noGrp="1"/>
          </p:cNvSpPr>
          <p:nvPr>
            <p:ph type="title"/>
          </p:nvPr>
        </p:nvSpPr>
        <p:spPr>
          <a:xfrm>
            <a:off x="439028" y="435464"/>
            <a:ext cx="10700240" cy="8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Read data by Memory address 23H Request flow control frame</a:t>
            </a:r>
            <a:endParaRPr/>
          </a:p>
        </p:txBody>
      </p:sp>
      <p:graphicFrame>
        <p:nvGraphicFramePr>
          <p:cNvPr id="1327" name="Google Shape;1327;p130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FLOW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CONTROL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28" name="Google Shape;1328;p130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329" name="Google Shape;1329;p130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1330" name="Google Shape;1330;p130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31" name="Google Shape;1331;p130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32" name="Google Shape;1332;p130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33" name="Google Shape;1333;p130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34" name="Google Shape;1334;p130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35" name="Google Shape;1335;p130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36" name="Google Shape;1336;p130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7" name="Google Shape;1337;p130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338" name="Google Shape;1338;p130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p131"/>
          <p:cNvSpPr txBox="1">
            <a:spLocks noGrp="1"/>
          </p:cNvSpPr>
          <p:nvPr>
            <p:ph type="title"/>
          </p:nvPr>
        </p:nvSpPr>
        <p:spPr>
          <a:xfrm>
            <a:off x="439028" y="435464"/>
            <a:ext cx="10700240" cy="8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Read data by Memory address 23H Request flow control frame</a:t>
            </a:r>
            <a:endParaRPr/>
          </a:p>
        </p:txBody>
      </p:sp>
      <p:graphicFrame>
        <p:nvGraphicFramePr>
          <p:cNvPr id="1344" name="Google Shape;1344;p131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Consecutive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5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6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1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3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45" name="Google Shape;1345;p131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346" name="Google Shape;1346;p131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1347" name="Google Shape;1347;p131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348" name="Google Shape;1348;p131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1349" name="Google Shape;1349;p131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350" name="Google Shape;1350;p131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351" name="Google Shape;1351;p131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352" name="Google Shape;1352;p131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353" name="Google Shape;1353;p131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54" name="Google Shape;1354;p131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Size 5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5" name="Google Shape;1355;p131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" name="Google Shape;1360;p132"/>
          <p:cNvSpPr txBox="1">
            <a:spLocks noGrp="1"/>
          </p:cNvSpPr>
          <p:nvPr>
            <p:ph type="title"/>
          </p:nvPr>
        </p:nvSpPr>
        <p:spPr>
          <a:xfrm>
            <a:off x="439028" y="435464"/>
            <a:ext cx="10700240" cy="8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Read data by Memory address 23H Request flow control frame</a:t>
            </a:r>
            <a:endParaRPr/>
          </a:p>
        </p:txBody>
      </p:sp>
      <p:graphicFrame>
        <p:nvGraphicFramePr>
          <p:cNvPr id="1361" name="Google Shape;1361;p132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Consecutive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6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62" name="Google Shape;1362;p132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363" name="Google Shape;1363;p132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1364" name="Google Shape;1364;p132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1365" name="Google Shape;1365;p132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1366" name="Google Shape;1366;p132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67" name="Google Shape;1367;p132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68" name="Google Shape;1368;p132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69" name="Google Shape;1369;p132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70" name="Google Shape;1370;p132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71" name="Google Shape;1371;p132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372" name="Google Shape;1372;p132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Google Shape;1377;p133"/>
          <p:cNvSpPr txBox="1">
            <a:spLocks noGrp="1"/>
          </p:cNvSpPr>
          <p:nvPr>
            <p:ph type="title"/>
          </p:nvPr>
        </p:nvSpPr>
        <p:spPr>
          <a:xfrm>
            <a:off x="439028" y="435464"/>
            <a:ext cx="10700240" cy="8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Read data by Memory address 23H Request frame</a:t>
            </a:r>
            <a:endParaRPr/>
          </a:p>
        </p:txBody>
      </p:sp>
      <p:graphicFrame>
        <p:nvGraphicFramePr>
          <p:cNvPr id="1378" name="Google Shape;1378;p133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FIRST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NUMBER OF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1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4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79" name="Google Shape;1379;p133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350</a:t>
            </a:r>
            <a:endParaRPr/>
          </a:p>
        </p:txBody>
      </p:sp>
      <p:sp>
        <p:nvSpPr>
          <p:cNvPr id="1380" name="Google Shape;1380;p133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1381" name="Google Shape;1381;p133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0E</a:t>
            </a:r>
            <a:endParaRPr/>
          </a:p>
        </p:txBody>
      </p:sp>
      <p:sp>
        <p:nvSpPr>
          <p:cNvPr id="1382" name="Google Shape;1382;p133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63</a:t>
            </a:r>
            <a:endParaRPr/>
          </a:p>
        </p:txBody>
      </p:sp>
      <p:sp>
        <p:nvSpPr>
          <p:cNvPr id="1383" name="Google Shape;1383;p133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1384" name="Google Shape;1384;p133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1385" name="Google Shape;1385;p133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/>
          </a:p>
        </p:txBody>
      </p:sp>
      <p:sp>
        <p:nvSpPr>
          <p:cNvPr id="1386" name="Google Shape;1386;p133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/>
          </a:p>
        </p:txBody>
      </p:sp>
      <p:sp>
        <p:nvSpPr>
          <p:cNvPr id="1387" name="Google Shape;1387;p133"/>
          <p:cNvSpPr txBox="1"/>
          <p:nvPr/>
        </p:nvSpPr>
        <p:spPr>
          <a:xfrm>
            <a:off x="439028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8" name="Google Shape;1388;p133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 5</a:t>
            </a:r>
            <a:endParaRPr/>
          </a:p>
        </p:txBody>
      </p:sp>
      <p:sp>
        <p:nvSpPr>
          <p:cNvPr id="1389" name="Google Shape;1389;p133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Google Shape;1394;p134"/>
          <p:cNvSpPr txBox="1">
            <a:spLocks noGrp="1"/>
          </p:cNvSpPr>
          <p:nvPr>
            <p:ph type="title"/>
          </p:nvPr>
        </p:nvSpPr>
        <p:spPr>
          <a:xfrm>
            <a:off x="439028" y="435464"/>
            <a:ext cx="10700240" cy="8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Read data by Memory address 23H Request flow control frame</a:t>
            </a:r>
            <a:endParaRPr/>
          </a:p>
        </p:txBody>
      </p:sp>
      <p:graphicFrame>
        <p:nvGraphicFramePr>
          <p:cNvPr id="1395" name="Google Shape;1395;p134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FLOW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CONTROL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96" name="Google Shape;1396;p134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397" name="Google Shape;1397;p134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1398" name="Google Shape;1398;p134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399" name="Google Shape;1399;p134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00" name="Google Shape;1400;p134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01" name="Google Shape;1401;p134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02" name="Google Shape;1402;p134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03" name="Google Shape;1403;p134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04" name="Google Shape;1404;p134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05" name="Google Shape;1405;p134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406" name="Google Shape;1406;p134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p135"/>
          <p:cNvSpPr txBox="1">
            <a:spLocks noGrp="1"/>
          </p:cNvSpPr>
          <p:nvPr>
            <p:ph type="title"/>
          </p:nvPr>
        </p:nvSpPr>
        <p:spPr>
          <a:xfrm>
            <a:off x="439028" y="435464"/>
            <a:ext cx="10700240" cy="8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Read data by Memory address 23H Request flow control frame</a:t>
            </a:r>
            <a:endParaRPr/>
          </a:p>
        </p:txBody>
      </p:sp>
      <p:graphicFrame>
        <p:nvGraphicFramePr>
          <p:cNvPr id="1412" name="Google Shape;1412;p135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Consecutive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 1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6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7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8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10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11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12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13" name="Google Shape;1413;p135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414" name="Google Shape;1414;p135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1415" name="Google Shape;1415;p135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1416" name="Google Shape;1416;p135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27</a:t>
            </a:r>
            <a:endParaRPr/>
          </a:p>
        </p:txBody>
      </p:sp>
      <p:sp>
        <p:nvSpPr>
          <p:cNvPr id="1417" name="Google Shape;1417;p135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28</a:t>
            </a:r>
            <a:endParaRPr/>
          </a:p>
        </p:txBody>
      </p:sp>
      <p:sp>
        <p:nvSpPr>
          <p:cNvPr id="1418" name="Google Shape;1418;p135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29</a:t>
            </a:r>
            <a:endParaRPr/>
          </a:p>
        </p:txBody>
      </p:sp>
      <p:sp>
        <p:nvSpPr>
          <p:cNvPr id="1419" name="Google Shape;1419;p135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1420" name="Google Shape;1420;p135"/>
          <p:cNvSpPr/>
          <p:nvPr/>
        </p:nvSpPr>
        <p:spPr>
          <a:xfrm>
            <a:off x="9700563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31</a:t>
            </a:r>
            <a:endParaRPr/>
          </a:p>
        </p:txBody>
      </p:sp>
      <p:sp>
        <p:nvSpPr>
          <p:cNvPr id="1421" name="Google Shape;1421;p135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22" name="Google Shape;1422;p135"/>
          <p:cNvSpPr/>
          <p:nvPr/>
        </p:nvSpPr>
        <p:spPr>
          <a:xfrm>
            <a:off x="10939975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 13</a:t>
            </a:r>
            <a:endParaRPr/>
          </a:p>
        </p:txBody>
      </p:sp>
      <p:sp>
        <p:nvSpPr>
          <p:cNvPr id="1423" name="Google Shape;1423;p135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32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p136"/>
          <p:cNvSpPr txBox="1">
            <a:spLocks noGrp="1"/>
          </p:cNvSpPr>
          <p:nvPr>
            <p:ph type="title"/>
          </p:nvPr>
        </p:nvSpPr>
        <p:spPr>
          <a:xfrm>
            <a:off x="439028" y="435464"/>
            <a:ext cx="10700240" cy="8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Read data by Memory address 23H Request flow control frame</a:t>
            </a:r>
            <a:endParaRPr/>
          </a:p>
        </p:txBody>
      </p:sp>
      <p:graphicFrame>
        <p:nvGraphicFramePr>
          <p:cNvPr id="1429" name="Google Shape;1429;p136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Consecutive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 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14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30" name="Google Shape;1430;p136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431" name="Google Shape;1431;p136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1432" name="Google Shape;1432;p136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33</a:t>
            </a:r>
            <a:endParaRPr/>
          </a:p>
        </p:txBody>
      </p:sp>
      <p:sp>
        <p:nvSpPr>
          <p:cNvPr id="1433" name="Google Shape;1433;p136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34" name="Google Shape;1434;p136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35" name="Google Shape;1435;p136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36" name="Google Shape;1436;p136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37" name="Google Shape;1437;p136"/>
          <p:cNvSpPr/>
          <p:nvPr/>
        </p:nvSpPr>
        <p:spPr>
          <a:xfrm>
            <a:off x="9700563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38" name="Google Shape;1438;p136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39" name="Google Shape;1439;p136"/>
          <p:cNvSpPr/>
          <p:nvPr/>
        </p:nvSpPr>
        <p:spPr>
          <a:xfrm>
            <a:off x="10939975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440" name="Google Shape;1440;p136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Google Shape;1445;p13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Write data by identifier 2EHex Service</a:t>
            </a:r>
            <a:endParaRPr/>
          </a:p>
        </p:txBody>
      </p:sp>
      <p:sp>
        <p:nvSpPr>
          <p:cNvPr id="1446" name="Google Shape;1446;p137"/>
          <p:cNvSpPr txBox="1">
            <a:spLocks noGrp="1"/>
          </p:cNvSpPr>
          <p:nvPr>
            <p:ph type="body" idx="1"/>
          </p:nvPr>
        </p:nvSpPr>
        <p:spPr>
          <a:xfrm>
            <a:off x="1026942" y="1825625"/>
            <a:ext cx="103268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The Write Data By Identifier service allows the client to write information into the server at an internal location specified by the provided data identifiers.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The data may or may not be secured.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p13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 message definition</a:t>
            </a:r>
            <a:endParaRPr/>
          </a:p>
        </p:txBody>
      </p:sp>
      <p:pic>
        <p:nvPicPr>
          <p:cNvPr id="1452" name="Google Shape;1452;p1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501" y="1929984"/>
            <a:ext cx="10607461" cy="36126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p13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 </a:t>
            </a:r>
            <a:endParaRPr/>
          </a:p>
        </p:txBody>
      </p:sp>
      <p:pic>
        <p:nvPicPr>
          <p:cNvPr id="1458" name="Google Shape;1458;p1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0845" y="2137062"/>
            <a:ext cx="11490309" cy="2583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p140"/>
          <p:cNvSpPr txBox="1">
            <a:spLocks noGrp="1"/>
          </p:cNvSpPr>
          <p:nvPr>
            <p:ph type="title"/>
          </p:nvPr>
        </p:nvSpPr>
        <p:spPr>
          <a:xfrm>
            <a:off x="731520" y="365125"/>
            <a:ext cx="10622280" cy="802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Negative response</a:t>
            </a:r>
            <a:endParaRPr/>
          </a:p>
        </p:txBody>
      </p:sp>
      <p:pic>
        <p:nvPicPr>
          <p:cNvPr id="1464" name="Google Shape;1464;p1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51012" y="1319065"/>
            <a:ext cx="8889976" cy="48875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Google Shape;1469;p141"/>
          <p:cNvSpPr txBox="1">
            <a:spLocks noGrp="1"/>
          </p:cNvSpPr>
          <p:nvPr>
            <p:ph type="title"/>
          </p:nvPr>
        </p:nvSpPr>
        <p:spPr>
          <a:xfrm>
            <a:off x="439028" y="435464"/>
            <a:ext cx="10700240" cy="8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Write data by Identifier 2EH Request frame</a:t>
            </a:r>
            <a:endParaRPr/>
          </a:p>
        </p:txBody>
      </p:sp>
      <p:graphicFrame>
        <p:nvGraphicFramePr>
          <p:cNvPr id="1470" name="Google Shape;1470;p141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0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NUMBER OF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71" name="Google Shape;1471;p141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350</a:t>
            </a:r>
            <a:endParaRPr/>
          </a:p>
        </p:txBody>
      </p:sp>
      <p:sp>
        <p:nvSpPr>
          <p:cNvPr id="1472" name="Google Shape;1472;p141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473" name="Google Shape;1473;p141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2E</a:t>
            </a:r>
            <a:endParaRPr/>
          </a:p>
        </p:txBody>
      </p:sp>
      <p:sp>
        <p:nvSpPr>
          <p:cNvPr id="1474" name="Google Shape;1474;p141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475" name="Google Shape;1475;p141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1476" name="Google Shape;1476;p141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55</a:t>
            </a:r>
            <a:endParaRPr/>
          </a:p>
        </p:txBody>
      </p:sp>
      <p:sp>
        <p:nvSpPr>
          <p:cNvPr id="1477" name="Google Shape;1477;p141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78" name="Google Shape;1478;p141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79" name="Google Shape;1479;p141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80" name="Google Shape;1480;p141"/>
          <p:cNvSpPr/>
          <p:nvPr/>
        </p:nvSpPr>
        <p:spPr>
          <a:xfrm>
            <a:off x="10939975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1" name="Google Shape;1481;p141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p142"/>
          <p:cNvSpPr txBox="1">
            <a:spLocks noGrp="1"/>
          </p:cNvSpPr>
          <p:nvPr>
            <p:ph type="title"/>
          </p:nvPr>
        </p:nvSpPr>
        <p:spPr>
          <a:xfrm>
            <a:off x="439027" y="435463"/>
            <a:ext cx="11420037" cy="1168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Write data by Identifier 2EH Positive Response frame</a:t>
            </a:r>
            <a:endParaRPr/>
          </a:p>
        </p:txBody>
      </p:sp>
      <p:graphicFrame>
        <p:nvGraphicFramePr>
          <p:cNvPr id="1487" name="Google Shape;1487;p142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88" name="Google Shape;1488;p142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359</a:t>
            </a:r>
            <a:endParaRPr/>
          </a:p>
        </p:txBody>
      </p:sp>
      <p:sp>
        <p:nvSpPr>
          <p:cNvPr id="1489" name="Google Shape;1489;p142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490" name="Google Shape;1490;p142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6E</a:t>
            </a:r>
            <a:endParaRPr/>
          </a:p>
        </p:txBody>
      </p:sp>
      <p:sp>
        <p:nvSpPr>
          <p:cNvPr id="1491" name="Google Shape;1491;p142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492" name="Google Shape;1492;p142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/>
          </a:p>
        </p:txBody>
      </p:sp>
      <p:sp>
        <p:nvSpPr>
          <p:cNvPr id="1493" name="Google Shape;1493;p142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94" name="Google Shape;1494;p142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95" name="Google Shape;1495;p142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496" name="Google Shape;1496;p142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 </a:t>
            </a:r>
            <a:endParaRPr/>
          </a:p>
        </p:txBody>
      </p:sp>
      <p:sp>
        <p:nvSpPr>
          <p:cNvPr id="1497" name="Google Shape;1497;p142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498" name="Google Shape;1498;p142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Google Shape;1503;p1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Write Memory by Address 3DHex Service</a:t>
            </a:r>
            <a:endParaRPr/>
          </a:p>
        </p:txBody>
      </p:sp>
      <p:sp>
        <p:nvSpPr>
          <p:cNvPr id="1504" name="Google Shape;1504;p143"/>
          <p:cNvSpPr txBox="1">
            <a:spLocks noGrp="1"/>
          </p:cNvSpPr>
          <p:nvPr>
            <p:ph type="body" idx="1"/>
          </p:nvPr>
        </p:nvSpPr>
        <p:spPr>
          <a:xfrm>
            <a:off x="932571" y="2388333"/>
            <a:ext cx="10326858" cy="2479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The Write Memory By Address service allows the client to write information into the server at one or more contiguous memory locations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No subfunction </a:t>
            </a:r>
            <a:endParaRPr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Google Shape;1509;p14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</a:t>
            </a:r>
            <a:endParaRPr/>
          </a:p>
        </p:txBody>
      </p:sp>
      <p:pic>
        <p:nvPicPr>
          <p:cNvPr id="1510" name="Google Shape;1510;p1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07001" y="1395535"/>
            <a:ext cx="9177997" cy="5097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Google Shape;1515;p14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 </a:t>
            </a:r>
            <a:endParaRPr/>
          </a:p>
        </p:txBody>
      </p:sp>
      <p:pic>
        <p:nvPicPr>
          <p:cNvPr id="1516" name="Google Shape;1516;p1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6841" y="1571697"/>
            <a:ext cx="10958318" cy="4786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146"/>
          <p:cNvSpPr txBox="1">
            <a:spLocks noGrp="1"/>
          </p:cNvSpPr>
          <p:nvPr>
            <p:ph type="title"/>
          </p:nvPr>
        </p:nvSpPr>
        <p:spPr>
          <a:xfrm>
            <a:off x="731520" y="365125"/>
            <a:ext cx="10622280" cy="802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Negative response</a:t>
            </a:r>
            <a:endParaRPr/>
          </a:p>
        </p:txBody>
      </p:sp>
      <p:pic>
        <p:nvPicPr>
          <p:cNvPr id="1522" name="Google Shape;1522;p1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37946" y="1085301"/>
            <a:ext cx="8609427" cy="5407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p147"/>
          <p:cNvSpPr txBox="1">
            <a:spLocks noGrp="1"/>
          </p:cNvSpPr>
          <p:nvPr>
            <p:ph type="body" idx="1"/>
          </p:nvPr>
        </p:nvSpPr>
        <p:spPr>
          <a:xfrm>
            <a:off x="770792" y="1825625"/>
            <a:ext cx="10650415" cy="20289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Let address and length format identifier as 42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4(bytes of)	-	Memory Size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2(bytes of)	-	Memory Address </a:t>
            </a:r>
            <a:endParaRPr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Google Shape;1532;p148"/>
          <p:cNvSpPr txBox="1">
            <a:spLocks noGrp="1"/>
          </p:cNvSpPr>
          <p:nvPr>
            <p:ph type="title"/>
          </p:nvPr>
        </p:nvSpPr>
        <p:spPr>
          <a:xfrm>
            <a:off x="439028" y="322921"/>
            <a:ext cx="10700240" cy="1182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Write data by identifier 3DH send Memory address Request frame</a:t>
            </a:r>
            <a:endParaRPr/>
          </a:p>
        </p:txBody>
      </p:sp>
      <p:graphicFrame>
        <p:nvGraphicFramePr>
          <p:cNvPr id="1533" name="Google Shape;1533;p148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FIRST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NUMBER OF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ADDRESS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LENGTH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1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3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34" name="Google Shape;1534;p148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350</a:t>
            </a:r>
            <a:endParaRPr/>
          </a:p>
        </p:txBody>
      </p:sp>
      <p:sp>
        <p:nvSpPr>
          <p:cNvPr id="1535" name="Google Shape;1535;p148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1536" name="Google Shape;1536;p148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0D</a:t>
            </a:r>
            <a:endParaRPr/>
          </a:p>
        </p:txBody>
      </p:sp>
      <p:sp>
        <p:nvSpPr>
          <p:cNvPr id="1537" name="Google Shape;1537;p148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3D</a:t>
            </a:r>
            <a:endParaRPr/>
          </a:p>
        </p:txBody>
      </p:sp>
      <p:sp>
        <p:nvSpPr>
          <p:cNvPr id="1538" name="Google Shape;1538;p148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44</a:t>
            </a:r>
            <a:endParaRPr/>
          </a:p>
        </p:txBody>
      </p:sp>
      <p:sp>
        <p:nvSpPr>
          <p:cNvPr id="1539" name="Google Shape;1539;p148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540" name="Google Shape;1540;p148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541" name="Google Shape;1541;p148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542" name="Google Shape;1542;p148"/>
          <p:cNvSpPr txBox="1"/>
          <p:nvPr/>
        </p:nvSpPr>
        <p:spPr>
          <a:xfrm>
            <a:off x="439028" y="2254379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3" name="Google Shape;1543;p148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Add 4</a:t>
            </a:r>
            <a:endParaRPr/>
          </a:p>
        </p:txBody>
      </p:sp>
      <p:sp>
        <p:nvSpPr>
          <p:cNvPr id="1544" name="Google Shape;1544;p148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Google Shape;1549;p149"/>
          <p:cNvSpPr txBox="1">
            <a:spLocks noGrp="1"/>
          </p:cNvSpPr>
          <p:nvPr>
            <p:ph type="title"/>
          </p:nvPr>
        </p:nvSpPr>
        <p:spPr>
          <a:xfrm>
            <a:off x="439028" y="379192"/>
            <a:ext cx="10700240" cy="1182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Write data by identifier 3DH flow control response frame</a:t>
            </a:r>
            <a:endParaRPr/>
          </a:p>
        </p:txBody>
      </p:sp>
      <p:graphicFrame>
        <p:nvGraphicFramePr>
          <p:cNvPr id="1550" name="Google Shape;1550;p149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FLOW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CONTROL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51" name="Google Shape;1551;p149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350</a:t>
            </a:r>
            <a:endParaRPr/>
          </a:p>
        </p:txBody>
      </p:sp>
      <p:sp>
        <p:nvSpPr>
          <p:cNvPr id="1552" name="Google Shape;1552;p149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1553" name="Google Shape;1553;p149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554" name="Google Shape;1554;p149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555" name="Google Shape;1555;p149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556" name="Google Shape;1556;p149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557" name="Google Shape;1557;p149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558" name="Google Shape;1558;p149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559" name="Google Shape;1559;p149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60" name="Google Shape;1560;p149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561" name="Google Shape;1561;p149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Google Shape;1566;p150"/>
          <p:cNvSpPr txBox="1">
            <a:spLocks noGrp="1"/>
          </p:cNvSpPr>
          <p:nvPr>
            <p:ph type="title"/>
          </p:nvPr>
        </p:nvSpPr>
        <p:spPr>
          <a:xfrm>
            <a:off x="420859" y="435464"/>
            <a:ext cx="10786990" cy="1358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Write data by identifier 3DH Memory size Request frame</a:t>
            </a:r>
            <a:endParaRPr/>
          </a:p>
        </p:txBody>
      </p:sp>
      <p:graphicFrame>
        <p:nvGraphicFramePr>
          <p:cNvPr id="1567" name="Google Shape;1567;p150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Consecutive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1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4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68" name="Google Shape;1568;p150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569" name="Google Shape;1569;p150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1570" name="Google Shape;1570;p150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571" name="Google Shape;1571;p150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1572" name="Google Shape;1572;p150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1573" name="Google Shape;1573;p150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  <p:sp>
        <p:nvSpPr>
          <p:cNvPr id="1574" name="Google Shape;1574;p150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55</a:t>
            </a:r>
            <a:endParaRPr/>
          </a:p>
        </p:txBody>
      </p:sp>
      <p:sp>
        <p:nvSpPr>
          <p:cNvPr id="1575" name="Google Shape;1575;p150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66</a:t>
            </a:r>
            <a:endParaRPr/>
          </a:p>
        </p:txBody>
      </p:sp>
      <p:sp>
        <p:nvSpPr>
          <p:cNvPr id="1576" name="Google Shape;1576;p150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77" name="Google Shape;1577;p150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1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8" name="Google Shape;1578;p150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77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151"/>
          <p:cNvSpPr txBox="1">
            <a:spLocks noGrp="1"/>
          </p:cNvSpPr>
          <p:nvPr>
            <p:ph type="title"/>
          </p:nvPr>
        </p:nvSpPr>
        <p:spPr>
          <a:xfrm>
            <a:off x="439028" y="322921"/>
            <a:ext cx="10700240" cy="1182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Write data by identifier 3DH send Memory address Positive Response frame (Memory Address)</a:t>
            </a:r>
            <a:endParaRPr/>
          </a:p>
        </p:txBody>
      </p:sp>
      <p:graphicFrame>
        <p:nvGraphicFramePr>
          <p:cNvPr id="1584" name="Google Shape;1584;p151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FIRST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NUMBER OF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ADDRESS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LENGTH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1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Add 3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85" name="Google Shape;1585;p151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350</a:t>
            </a:r>
            <a:endParaRPr/>
          </a:p>
        </p:txBody>
      </p:sp>
      <p:sp>
        <p:nvSpPr>
          <p:cNvPr id="1586" name="Google Shape;1586;p151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1587" name="Google Shape;1587;p151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0A</a:t>
            </a:r>
            <a:endParaRPr/>
          </a:p>
        </p:txBody>
      </p:sp>
      <p:sp>
        <p:nvSpPr>
          <p:cNvPr id="1588" name="Google Shape;1588;p151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7D</a:t>
            </a:r>
            <a:endParaRPr/>
          </a:p>
        </p:txBody>
      </p:sp>
      <p:sp>
        <p:nvSpPr>
          <p:cNvPr id="1589" name="Google Shape;1589;p151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44</a:t>
            </a:r>
            <a:endParaRPr/>
          </a:p>
        </p:txBody>
      </p:sp>
      <p:sp>
        <p:nvSpPr>
          <p:cNvPr id="1590" name="Google Shape;1590;p151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591" name="Google Shape;1591;p151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592" name="Google Shape;1592;p151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593" name="Google Shape;1593;p151"/>
          <p:cNvSpPr txBox="1"/>
          <p:nvPr/>
        </p:nvSpPr>
        <p:spPr>
          <a:xfrm>
            <a:off x="370741" y="2067315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94" name="Google Shape;1594;p151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Add 4</a:t>
            </a:r>
            <a:endParaRPr/>
          </a:p>
        </p:txBody>
      </p:sp>
      <p:sp>
        <p:nvSpPr>
          <p:cNvPr id="1595" name="Google Shape;1595;p151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Google Shape;1600;p152"/>
          <p:cNvSpPr txBox="1">
            <a:spLocks noGrp="1"/>
          </p:cNvSpPr>
          <p:nvPr>
            <p:ph type="title"/>
          </p:nvPr>
        </p:nvSpPr>
        <p:spPr>
          <a:xfrm>
            <a:off x="439028" y="379192"/>
            <a:ext cx="10700240" cy="1182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Write data by identifier 3DH flow control request frame</a:t>
            </a:r>
            <a:endParaRPr/>
          </a:p>
        </p:txBody>
      </p:sp>
      <p:graphicFrame>
        <p:nvGraphicFramePr>
          <p:cNvPr id="1601" name="Google Shape;1601;p152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3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FLOW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CONTROL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02" name="Google Shape;1602;p152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350</a:t>
            </a:r>
            <a:endParaRPr/>
          </a:p>
        </p:txBody>
      </p:sp>
      <p:sp>
        <p:nvSpPr>
          <p:cNvPr id="1603" name="Google Shape;1603;p152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1604" name="Google Shape;1604;p152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605" name="Google Shape;1605;p152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606" name="Google Shape;1606;p152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607" name="Google Shape;1607;p152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608" name="Google Shape;1608;p152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609" name="Google Shape;1609;p152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610" name="Google Shape;1610;p152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11" name="Google Shape;1611;p152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/>
          </a:p>
        </p:txBody>
      </p:sp>
      <p:sp>
        <p:nvSpPr>
          <p:cNvPr id="1612" name="Google Shape;1612;p152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Google Shape;1617;p153"/>
          <p:cNvSpPr txBox="1">
            <a:spLocks noGrp="1"/>
          </p:cNvSpPr>
          <p:nvPr>
            <p:ph type="title"/>
          </p:nvPr>
        </p:nvSpPr>
        <p:spPr>
          <a:xfrm>
            <a:off x="420859" y="435464"/>
            <a:ext cx="10786990" cy="1358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Write data by identifier 3DH Memory size Positive Response frame (Memory Size)</a:t>
            </a:r>
            <a:endParaRPr/>
          </a:p>
        </p:txBody>
      </p:sp>
      <p:graphicFrame>
        <p:nvGraphicFramePr>
          <p:cNvPr id="1618" name="Google Shape;1618;p153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Consecutive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1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Size 4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19" name="Google Shape;1619;p153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620" name="Google Shape;1620;p153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1621" name="Google Shape;1621;p153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622" name="Google Shape;1622;p153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1623" name="Google Shape;1623;p153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1624" name="Google Shape;1624;p153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  <p:sp>
        <p:nvSpPr>
          <p:cNvPr id="1625" name="Google Shape;1625;p153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626" name="Google Shape;1626;p153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627" name="Google Shape;1627;p153"/>
          <p:cNvSpPr txBox="1"/>
          <p:nvPr/>
        </p:nvSpPr>
        <p:spPr>
          <a:xfrm>
            <a:off x="353745" y="2210402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28" name="Google Shape;1628;p153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1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9" name="Google Shape;1629;p153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Google Shape;1634;p15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Read Scaling data by identifier 24H Service</a:t>
            </a:r>
            <a:endParaRPr/>
          </a:p>
        </p:txBody>
      </p:sp>
      <p:sp>
        <p:nvSpPr>
          <p:cNvPr id="1635" name="Google Shape;1635;p154"/>
          <p:cNvSpPr txBox="1">
            <a:spLocks noGrp="1"/>
          </p:cNvSpPr>
          <p:nvPr>
            <p:ph type="body" idx="1"/>
          </p:nvPr>
        </p:nvSpPr>
        <p:spPr>
          <a:xfrm>
            <a:off x="932571" y="2388333"/>
            <a:ext cx="10326858" cy="2479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The Read Scaling Data By Identifier service allows the client to request scaling data record information from the server identified by a data Identifier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No subfunctions</a:t>
            </a:r>
            <a:endParaRPr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15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</a:t>
            </a:r>
            <a:endParaRPr/>
          </a:p>
        </p:txBody>
      </p:sp>
      <p:pic>
        <p:nvPicPr>
          <p:cNvPr id="1641" name="Google Shape;1641;p1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7184" y="2082019"/>
            <a:ext cx="11526179" cy="29366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Google Shape;1646;p156"/>
          <p:cNvSpPr txBox="1">
            <a:spLocks noGrp="1"/>
          </p:cNvSpPr>
          <p:nvPr>
            <p:ph type="title"/>
          </p:nvPr>
        </p:nvSpPr>
        <p:spPr>
          <a:xfrm>
            <a:off x="717452" y="365126"/>
            <a:ext cx="10636348" cy="774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</a:t>
            </a:r>
            <a:endParaRPr/>
          </a:p>
        </p:txBody>
      </p:sp>
      <p:pic>
        <p:nvPicPr>
          <p:cNvPr id="1647" name="Google Shape;1647;p1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39483" y="1139484"/>
            <a:ext cx="9579293" cy="51559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p15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Example</a:t>
            </a:r>
            <a:endParaRPr/>
          </a:p>
        </p:txBody>
      </p:sp>
      <p:sp>
        <p:nvSpPr>
          <p:cNvPr id="1653" name="Google Shape;1653;p15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Lets get the VIN of vehicle using Scaling data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Use Format identifier as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0XF1 0X90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VIN will be 17bytes value</a:t>
            </a:r>
            <a:endParaRPr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9" name="Google Shape;1659;p158"/>
          <p:cNvSpPr txBox="1">
            <a:spLocks noGrp="1"/>
          </p:cNvSpPr>
          <p:nvPr>
            <p:ph type="title"/>
          </p:nvPr>
        </p:nvSpPr>
        <p:spPr>
          <a:xfrm>
            <a:off x="439028" y="322921"/>
            <a:ext cx="10700240" cy="1182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Read Scaling data by identifier 24H Service Request frame</a:t>
            </a:r>
            <a:endParaRPr/>
          </a:p>
        </p:txBody>
      </p:sp>
      <p:sp>
        <p:nvSpPr>
          <p:cNvPr id="1660" name="Google Shape;1660;p158"/>
          <p:cNvSpPr txBox="1"/>
          <p:nvPr/>
        </p:nvSpPr>
        <p:spPr>
          <a:xfrm>
            <a:off x="439028" y="205773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661" name="Google Shape;1661;p158"/>
          <p:cNvGraphicFramePr/>
          <p:nvPr/>
        </p:nvGraphicFramePr>
        <p:xfrm>
          <a:off x="1514621" y="34290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2102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9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NO.OF 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SERVICE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SERVICE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NRC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CODE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62" name="Google Shape;1662;p158"/>
          <p:cNvSpPr/>
          <p:nvPr/>
        </p:nvSpPr>
        <p:spPr>
          <a:xfrm>
            <a:off x="1514621" y="4069080"/>
            <a:ext cx="2120118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421</a:t>
            </a:r>
            <a:endParaRPr/>
          </a:p>
        </p:txBody>
      </p:sp>
      <p:sp>
        <p:nvSpPr>
          <p:cNvPr id="1663" name="Google Shape;1663;p158"/>
          <p:cNvSpPr/>
          <p:nvPr/>
        </p:nvSpPr>
        <p:spPr>
          <a:xfrm>
            <a:off x="3634739" y="4069080"/>
            <a:ext cx="1322363" cy="86374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664" name="Google Shape;1664;p158"/>
          <p:cNvSpPr/>
          <p:nvPr/>
        </p:nvSpPr>
        <p:spPr>
          <a:xfrm>
            <a:off x="4957103" y="4055238"/>
            <a:ext cx="2120118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/>
          </a:p>
        </p:txBody>
      </p:sp>
      <p:sp>
        <p:nvSpPr>
          <p:cNvPr id="1665" name="Google Shape;1665;p158"/>
          <p:cNvSpPr/>
          <p:nvPr/>
        </p:nvSpPr>
        <p:spPr>
          <a:xfrm>
            <a:off x="7077221" y="4055238"/>
            <a:ext cx="1533379" cy="877584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F1</a:t>
            </a:r>
            <a:endParaRPr/>
          </a:p>
        </p:txBody>
      </p:sp>
      <p:sp>
        <p:nvSpPr>
          <p:cNvPr id="1666" name="Google Shape;1666;p158"/>
          <p:cNvSpPr/>
          <p:nvPr/>
        </p:nvSpPr>
        <p:spPr>
          <a:xfrm>
            <a:off x="8610600" y="4053704"/>
            <a:ext cx="145307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p15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Read Scaling data by identifier 24H Service Response frame</a:t>
            </a:r>
            <a:endParaRPr/>
          </a:p>
        </p:txBody>
      </p:sp>
      <p:graphicFrame>
        <p:nvGraphicFramePr>
          <p:cNvPr id="1672" name="Google Shape;1672;p159"/>
          <p:cNvGraphicFramePr/>
          <p:nvPr/>
        </p:nvGraphicFramePr>
        <p:xfrm>
          <a:off x="838200" y="307698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Number of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SID+40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Scaling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Scaling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Scaling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extension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73" name="Google Shape;1673;p159"/>
          <p:cNvSpPr/>
          <p:nvPr/>
        </p:nvSpPr>
        <p:spPr>
          <a:xfrm>
            <a:off x="838200" y="3991386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674" name="Google Shape;1674;p159"/>
          <p:cNvSpPr/>
          <p:nvPr/>
        </p:nvSpPr>
        <p:spPr>
          <a:xfrm>
            <a:off x="2453640" y="3991386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675" name="Google Shape;1675;p159"/>
          <p:cNvSpPr/>
          <p:nvPr/>
        </p:nvSpPr>
        <p:spPr>
          <a:xfrm>
            <a:off x="3637670" y="3991386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64</a:t>
            </a:r>
            <a:endParaRPr/>
          </a:p>
        </p:txBody>
      </p:sp>
      <p:sp>
        <p:nvSpPr>
          <p:cNvPr id="1676" name="Google Shape;1676;p159"/>
          <p:cNvSpPr/>
          <p:nvPr/>
        </p:nvSpPr>
        <p:spPr>
          <a:xfrm>
            <a:off x="5002236" y="3991386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F1</a:t>
            </a:r>
            <a:endParaRPr/>
          </a:p>
        </p:txBody>
      </p:sp>
      <p:sp>
        <p:nvSpPr>
          <p:cNvPr id="1677" name="Google Shape;1677;p159"/>
          <p:cNvSpPr/>
          <p:nvPr/>
        </p:nvSpPr>
        <p:spPr>
          <a:xfrm>
            <a:off x="6617676" y="3991386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90</a:t>
            </a:r>
            <a:endParaRPr/>
          </a:p>
        </p:txBody>
      </p:sp>
      <p:sp>
        <p:nvSpPr>
          <p:cNvPr id="1678" name="Google Shape;1678;p159"/>
          <p:cNvSpPr/>
          <p:nvPr/>
        </p:nvSpPr>
        <p:spPr>
          <a:xfrm>
            <a:off x="7801706" y="3991386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6F</a:t>
            </a:r>
            <a:endParaRPr/>
          </a:p>
        </p:txBody>
      </p:sp>
      <p:sp>
        <p:nvSpPr>
          <p:cNvPr id="1679" name="Google Shape;1679;p159"/>
          <p:cNvSpPr/>
          <p:nvPr/>
        </p:nvSpPr>
        <p:spPr>
          <a:xfrm>
            <a:off x="9166272" y="3991386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62</a:t>
            </a:r>
            <a:endParaRPr/>
          </a:p>
        </p:txBody>
      </p:sp>
      <p:sp>
        <p:nvSpPr>
          <p:cNvPr id="1680" name="Google Shape;1680;p159"/>
          <p:cNvSpPr/>
          <p:nvPr/>
        </p:nvSpPr>
        <p:spPr>
          <a:xfrm>
            <a:off x="10550767" y="3991386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681" name="Google Shape;1681;p159"/>
          <p:cNvSpPr txBox="1"/>
          <p:nvPr/>
        </p:nvSpPr>
        <p:spPr>
          <a:xfrm>
            <a:off x="439028" y="2057736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Google Shape;1686;p1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Explanation</a:t>
            </a:r>
            <a:endParaRPr/>
          </a:p>
        </p:txBody>
      </p:sp>
      <p:sp>
        <p:nvSpPr>
          <p:cNvPr id="1687" name="Google Shape;1687;p16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19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 b="0" i="0">
                <a:solidFill>
                  <a:srgbClr val="002060"/>
                </a:solidFill>
              </a:rPr>
              <a:t>0x6F -&gt;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>
                <a:solidFill>
                  <a:srgbClr val="002060"/>
                </a:solidFill>
              </a:rPr>
              <a:t>Higher nibble – 6 represents that the value is an ASCII value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>
                <a:solidFill>
                  <a:srgbClr val="002060"/>
                </a:solidFill>
              </a:rPr>
              <a:t>Lower nibble – F represents the total number of bytes, in this case, 15 bytes of VIN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 b="0" i="0">
                <a:solidFill>
                  <a:srgbClr val="002060"/>
                </a:solidFill>
              </a:rPr>
              <a:t>0x62 -&gt;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>
                <a:solidFill>
                  <a:srgbClr val="002060"/>
                </a:solidFill>
              </a:rPr>
              <a:t>Higher nibble – 6 represent an ASCII value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>
                <a:solidFill>
                  <a:srgbClr val="002060"/>
                </a:solidFill>
              </a:rPr>
              <a:t>Lower nibble – 2 represents the 2 leftover bytes of the VIN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2" name="Google Shape;1692;p161"/>
          <p:cNvSpPr txBox="1">
            <a:spLocks noGrp="1"/>
          </p:cNvSpPr>
          <p:nvPr>
            <p:ph type="title"/>
          </p:nvPr>
        </p:nvSpPr>
        <p:spPr>
          <a:xfrm>
            <a:off x="829994" y="365126"/>
            <a:ext cx="10523806" cy="929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Negative Response</a:t>
            </a:r>
            <a:endParaRPr/>
          </a:p>
        </p:txBody>
      </p:sp>
      <p:pic>
        <p:nvPicPr>
          <p:cNvPr id="1693" name="Google Shape;1693;p16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84381" y="1294228"/>
            <a:ext cx="9223237" cy="54320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p16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Stored data Transmission Functional unit</a:t>
            </a:r>
            <a:endParaRPr/>
          </a:p>
        </p:txBody>
      </p:sp>
      <p:sp>
        <p:nvSpPr>
          <p:cNvPr id="1699" name="Google Shape;1699;p162"/>
          <p:cNvSpPr txBox="1">
            <a:spLocks noGrp="1"/>
          </p:cNvSpPr>
          <p:nvPr>
            <p:ph type="body" idx="1"/>
          </p:nvPr>
        </p:nvSpPr>
        <p:spPr>
          <a:xfrm>
            <a:off x="838200" y="2899874"/>
            <a:ext cx="10515600" cy="1058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</a:rPr>
              <a:t>Clear diagnostic information 14Hex services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Calibri"/>
              <a:buAutoNum type="arabicPeriod"/>
            </a:pPr>
            <a:r>
              <a:rPr lang="en-US">
                <a:solidFill>
                  <a:srgbClr val="002060"/>
                </a:solidFill>
              </a:rPr>
              <a:t>Read DTC information (19Hex) Services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16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Clear diagnostic Information 14H</a:t>
            </a:r>
            <a:endParaRPr/>
          </a:p>
        </p:txBody>
      </p:sp>
      <p:sp>
        <p:nvSpPr>
          <p:cNvPr id="1705" name="Google Shape;1705;p163"/>
          <p:cNvSpPr txBox="1">
            <a:spLocks noGrp="1"/>
          </p:cNvSpPr>
          <p:nvPr>
            <p:ph type="body" idx="1"/>
          </p:nvPr>
        </p:nvSpPr>
        <p:spPr>
          <a:xfrm>
            <a:off x="1026942" y="1825625"/>
            <a:ext cx="10326858" cy="2239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Allows the client to clear diagnostic information from the server (including DTC, captured data, etc) 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Permanent DTCs shall be stored in non-volatile memory and cannot be cleared by any test equipment</a:t>
            </a: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p16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64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Request</a:t>
            </a:r>
            <a:endParaRPr/>
          </a:p>
        </p:txBody>
      </p:sp>
      <p:pic>
        <p:nvPicPr>
          <p:cNvPr id="1711" name="Google Shape;1711;p16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3743" y="1690688"/>
            <a:ext cx="10515600" cy="2734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2" name="Google Shape;1712;p16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046" y="4494738"/>
            <a:ext cx="10521613" cy="16271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7" name="Google Shape;1717;p165"/>
          <p:cNvSpPr txBox="1">
            <a:spLocks noGrp="1"/>
          </p:cNvSpPr>
          <p:nvPr>
            <p:ph type="title"/>
          </p:nvPr>
        </p:nvSpPr>
        <p:spPr>
          <a:xfrm>
            <a:off x="956945" y="286882"/>
            <a:ext cx="10278109" cy="913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</a:t>
            </a:r>
            <a:endParaRPr/>
          </a:p>
        </p:txBody>
      </p:sp>
      <p:pic>
        <p:nvPicPr>
          <p:cNvPr id="1718" name="Google Shape;1718;p1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422" y="1366979"/>
            <a:ext cx="10278108" cy="1172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9" name="Google Shape;1719;p16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12156" y="3429000"/>
            <a:ext cx="8767688" cy="3362607"/>
          </a:xfrm>
          <a:prstGeom prst="rect">
            <a:avLst/>
          </a:prstGeom>
          <a:noFill/>
          <a:ln>
            <a:noFill/>
          </a:ln>
        </p:spPr>
      </p:pic>
      <p:sp>
        <p:nvSpPr>
          <p:cNvPr id="1720" name="Google Shape;1720;p165"/>
          <p:cNvSpPr txBox="1"/>
          <p:nvPr/>
        </p:nvSpPr>
        <p:spPr>
          <a:xfrm>
            <a:off x="638421" y="2696386"/>
            <a:ext cx="10278109" cy="913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 sz="44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Supported Negative Response</a:t>
            </a:r>
            <a:endParaRPr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5" name="Google Shape;1725;p166"/>
          <p:cNvSpPr txBox="1">
            <a:spLocks noGrp="1"/>
          </p:cNvSpPr>
          <p:nvPr>
            <p:ph type="title"/>
          </p:nvPr>
        </p:nvSpPr>
        <p:spPr>
          <a:xfrm>
            <a:off x="420859" y="435464"/>
            <a:ext cx="10786990" cy="1358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Clear diagnostic Information 14H Request frame</a:t>
            </a:r>
            <a:endParaRPr/>
          </a:p>
        </p:txBody>
      </p:sp>
      <p:graphicFrame>
        <p:nvGraphicFramePr>
          <p:cNvPr id="1726" name="Google Shape;1726;p166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High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Mid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Low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27" name="Google Shape;1727;p166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728" name="Google Shape;1728;p166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729" name="Google Shape;1729;p166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sp>
        <p:nvSpPr>
          <p:cNvPr id="1730" name="Google Shape;1730;p166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731" name="Google Shape;1731;p166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732" name="Google Shape;1732;p166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733" name="Google Shape;1733;p166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734" name="Google Shape;1734;p166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735" name="Google Shape;1735;p166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36" name="Google Shape;1736;p166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1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7" name="Google Shape;1737;p166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Google Shape;1742;p167"/>
          <p:cNvSpPr txBox="1">
            <a:spLocks noGrp="1"/>
          </p:cNvSpPr>
          <p:nvPr>
            <p:ph type="title"/>
          </p:nvPr>
        </p:nvSpPr>
        <p:spPr>
          <a:xfrm>
            <a:off x="420859" y="435464"/>
            <a:ext cx="10786990" cy="1358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Clear diagnostic Information 14H Positive Response frame</a:t>
            </a:r>
            <a:endParaRPr/>
          </a:p>
        </p:txBody>
      </p:sp>
      <p:graphicFrame>
        <p:nvGraphicFramePr>
          <p:cNvPr id="1743" name="Google Shape;1743;p167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High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Mid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Low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44" name="Google Shape;1744;p167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745" name="Google Shape;1745;p167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746" name="Google Shape;1746;p167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54</a:t>
            </a:r>
            <a:endParaRPr/>
          </a:p>
        </p:txBody>
      </p:sp>
      <p:sp>
        <p:nvSpPr>
          <p:cNvPr id="1747" name="Google Shape;1747;p167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748" name="Google Shape;1748;p167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749" name="Google Shape;1749;p167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750" name="Google Shape;1750;p167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751" name="Google Shape;1751;p167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752" name="Google Shape;1752;p167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3" name="Google Shape;1753;p167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1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4" name="Google Shape;1754;p167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p16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Read DTC Information 19H Services</a:t>
            </a:r>
            <a:endParaRPr/>
          </a:p>
        </p:txBody>
      </p:sp>
      <p:sp>
        <p:nvSpPr>
          <p:cNvPr id="1760" name="Google Shape;1760;p168"/>
          <p:cNvSpPr txBox="1">
            <a:spLocks noGrp="1"/>
          </p:cNvSpPr>
          <p:nvPr>
            <p:ph type="body" idx="1"/>
          </p:nvPr>
        </p:nvSpPr>
        <p:spPr>
          <a:xfrm>
            <a:off x="1026942" y="1825625"/>
            <a:ext cx="10326858" cy="2239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This service allows a client to read the status of server-resident Diagnostic Trouble Code (DTC) information from any server or group of servers within a vehicle.</a:t>
            </a: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p16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DTC (Diagnostics Trouble code)</a:t>
            </a:r>
            <a:endParaRPr/>
          </a:p>
        </p:txBody>
      </p:sp>
      <p:sp>
        <p:nvSpPr>
          <p:cNvPr id="1766" name="Google Shape;1766;p16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>
                <a:solidFill>
                  <a:srgbClr val="002060"/>
                </a:solidFill>
              </a:rPr>
              <a:t>DTC code may contain 2 or 3 bytes. Basically, DTC code has DTC high bytes and DTC middle bytes while the last byte is optional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</p:txBody>
      </p:sp>
      <p:pic>
        <p:nvPicPr>
          <p:cNvPr id="1767" name="Google Shape;1767;p16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2880" y="2881093"/>
            <a:ext cx="9664291" cy="17331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2" name="Google Shape;1772;p170"/>
          <p:cNvSpPr txBox="1">
            <a:spLocks noGrp="1"/>
          </p:cNvSpPr>
          <p:nvPr>
            <p:ph type="title"/>
          </p:nvPr>
        </p:nvSpPr>
        <p:spPr>
          <a:xfrm>
            <a:off x="717452" y="373550"/>
            <a:ext cx="10636348" cy="695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DTC Bytes</a:t>
            </a:r>
            <a:endParaRPr/>
          </a:p>
        </p:txBody>
      </p:sp>
      <p:pic>
        <p:nvPicPr>
          <p:cNvPr id="1773" name="Google Shape;1773;p1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39816" y="1559974"/>
            <a:ext cx="8571767" cy="4796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Google Shape;1778;p17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</a:t>
            </a:r>
            <a:endParaRPr/>
          </a:p>
        </p:txBody>
      </p:sp>
      <p:pic>
        <p:nvPicPr>
          <p:cNvPr id="1779" name="Google Shape;1779;p1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9779" y="2367681"/>
            <a:ext cx="10807890" cy="30483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4" name="Google Shape;1784;p172"/>
          <p:cNvSpPr txBox="1">
            <a:spLocks noGrp="1"/>
          </p:cNvSpPr>
          <p:nvPr>
            <p:ph type="title"/>
          </p:nvPr>
        </p:nvSpPr>
        <p:spPr>
          <a:xfrm>
            <a:off x="450167" y="365125"/>
            <a:ext cx="10903633" cy="816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</a:t>
            </a:r>
            <a:endParaRPr/>
          </a:p>
        </p:txBody>
      </p:sp>
      <p:pic>
        <p:nvPicPr>
          <p:cNvPr id="1785" name="Google Shape;1785;p1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0167" y="1585546"/>
            <a:ext cx="11440404" cy="50032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0" name="Google Shape;1790;p173"/>
          <p:cNvSpPr txBox="1">
            <a:spLocks noGrp="1"/>
          </p:cNvSpPr>
          <p:nvPr>
            <p:ph type="title"/>
          </p:nvPr>
        </p:nvSpPr>
        <p:spPr>
          <a:xfrm>
            <a:off x="420859" y="435464"/>
            <a:ext cx="10786990" cy="1358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Read Number of DTC Present in ECU (19H Services Request frame)</a:t>
            </a:r>
            <a:endParaRPr/>
          </a:p>
        </p:txBody>
      </p:sp>
      <p:graphicFrame>
        <p:nvGraphicFramePr>
          <p:cNvPr id="1791" name="Google Shape;1791;p173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1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5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DTC status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mask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92" name="Google Shape;1792;p173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793" name="Google Shape;1793;p173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794" name="Google Shape;1794;p173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  <p:sp>
        <p:nvSpPr>
          <p:cNvPr id="1795" name="Google Shape;1795;p173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796" name="Google Shape;1796;p173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55</a:t>
            </a:r>
            <a:endParaRPr/>
          </a:p>
        </p:txBody>
      </p:sp>
      <p:sp>
        <p:nvSpPr>
          <p:cNvPr id="1797" name="Google Shape;1797;p173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798" name="Google Shape;1798;p173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799" name="Google Shape;1799;p173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800" name="Google Shape;1800;p173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01" name="Google Shape;1801;p173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1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2" name="Google Shape;1802;p173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7" name="Google Shape;1807;p174"/>
          <p:cNvSpPr txBox="1">
            <a:spLocks noGrp="1"/>
          </p:cNvSpPr>
          <p:nvPr>
            <p:ph type="title"/>
          </p:nvPr>
        </p:nvSpPr>
        <p:spPr>
          <a:xfrm>
            <a:off x="420859" y="435464"/>
            <a:ext cx="10786990" cy="1358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Read Number of DTC Present in ECU (19H Services Response frame)</a:t>
            </a:r>
            <a:endParaRPr/>
          </a:p>
        </p:txBody>
      </p:sp>
      <p:graphicFrame>
        <p:nvGraphicFramePr>
          <p:cNvPr id="1808" name="Google Shape;1808;p174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1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5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DTC status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mask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DTC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Format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09" name="Google Shape;1809;p174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810" name="Google Shape;1810;p174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811" name="Google Shape;1811;p174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59</a:t>
            </a:r>
            <a:endParaRPr/>
          </a:p>
        </p:txBody>
      </p:sp>
      <p:sp>
        <p:nvSpPr>
          <p:cNvPr id="1812" name="Google Shape;1812;p174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813" name="Google Shape;1813;p174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  <p:sp>
        <p:nvSpPr>
          <p:cNvPr id="1814" name="Google Shape;1814;p174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815" name="Google Shape;1815;p174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816" name="Google Shape;1816;p174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817" name="Google Shape;1817;p174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🡪 Client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18" name="Google Shape;1818;p174"/>
          <p:cNvSpPr/>
          <p:nvPr/>
        </p:nvSpPr>
        <p:spPr>
          <a:xfrm>
            <a:off x="10944663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1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9" name="Google Shape;1819;p174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Google Shape;1824;p17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Input output control by identifier 2Fhex Service</a:t>
            </a:r>
            <a:endParaRPr/>
          </a:p>
        </p:txBody>
      </p:sp>
      <p:sp>
        <p:nvSpPr>
          <p:cNvPr id="1825" name="Google Shape;1825;p175"/>
          <p:cNvSpPr txBox="1">
            <a:spLocks noGrp="1"/>
          </p:cNvSpPr>
          <p:nvPr>
            <p:ph type="body" idx="1"/>
          </p:nvPr>
        </p:nvSpPr>
        <p:spPr>
          <a:xfrm>
            <a:off x="1083212" y="1825625"/>
            <a:ext cx="10270588" cy="2127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The client requests the control of an input / output specific to the server.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The Input Output Control By Identifier service is used by the client to substitute a value for an input signal, internal server function and/or control an output (actuator) of an electronic system</a:t>
            </a: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p176"/>
          <p:cNvSpPr txBox="1">
            <a:spLocks noGrp="1"/>
          </p:cNvSpPr>
          <p:nvPr>
            <p:ph type="title"/>
          </p:nvPr>
        </p:nvSpPr>
        <p:spPr>
          <a:xfrm>
            <a:off x="647114" y="365126"/>
            <a:ext cx="10706686" cy="521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Request</a:t>
            </a:r>
            <a:endParaRPr/>
          </a:p>
        </p:txBody>
      </p:sp>
      <p:pic>
        <p:nvPicPr>
          <p:cNvPr id="1831" name="Google Shape;1831;p17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7114" y="1237409"/>
            <a:ext cx="10043966" cy="537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6" name="Google Shape;1836;p177"/>
          <p:cNvSpPr txBox="1">
            <a:spLocks noGrp="1"/>
          </p:cNvSpPr>
          <p:nvPr>
            <p:ph type="title"/>
          </p:nvPr>
        </p:nvSpPr>
        <p:spPr>
          <a:xfrm>
            <a:off x="647114" y="365125"/>
            <a:ext cx="10706686" cy="661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Positive response</a:t>
            </a:r>
            <a:endParaRPr/>
          </a:p>
        </p:txBody>
      </p:sp>
      <p:pic>
        <p:nvPicPr>
          <p:cNvPr id="1837" name="Google Shape;1837;p1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5424" y="1318991"/>
            <a:ext cx="10848376" cy="49270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2" name="Google Shape;1842;p17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7985" y="277973"/>
            <a:ext cx="11876030" cy="6302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7" name="Google Shape;1847;p179"/>
          <p:cNvSpPr txBox="1">
            <a:spLocks noGrp="1"/>
          </p:cNvSpPr>
          <p:nvPr>
            <p:ph type="title"/>
          </p:nvPr>
        </p:nvSpPr>
        <p:spPr>
          <a:xfrm>
            <a:off x="838200" y="308854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Engine ideal speed identifier</a:t>
            </a:r>
            <a:endParaRPr/>
          </a:p>
        </p:txBody>
      </p:sp>
      <p:sp>
        <p:nvSpPr>
          <p:cNvPr id="1848" name="Google Shape;1848;p17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2141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400"/>
              <a:buNone/>
            </a:pPr>
            <a:r>
              <a:rPr lang="en-US">
                <a:solidFill>
                  <a:srgbClr val="833C0B"/>
                </a:solidFill>
              </a:rPr>
              <a:t>Example :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Desired ideal speed adjustment identifier – 01 32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Control option record – 0x01 (reset to default 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Return ideal speed as 750/min</a:t>
            </a:r>
            <a:endParaRPr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Google Shape;1853;p180"/>
          <p:cNvSpPr txBox="1">
            <a:spLocks noGrp="1"/>
          </p:cNvSpPr>
          <p:nvPr>
            <p:ph type="title"/>
          </p:nvPr>
        </p:nvSpPr>
        <p:spPr>
          <a:xfrm>
            <a:off x="420859" y="435464"/>
            <a:ext cx="10786990" cy="1358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 frame to set ideal engine speed as default</a:t>
            </a:r>
            <a:endParaRPr/>
          </a:p>
        </p:txBody>
      </p:sp>
      <p:graphicFrame>
        <p:nvGraphicFramePr>
          <p:cNvPr id="1854" name="Google Shape;1854;p180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1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5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Control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Record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5" name="Google Shape;1855;p180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352</a:t>
            </a:r>
            <a:endParaRPr/>
          </a:p>
        </p:txBody>
      </p:sp>
      <p:sp>
        <p:nvSpPr>
          <p:cNvPr id="1856" name="Google Shape;1856;p180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857" name="Google Shape;1857;p180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2F</a:t>
            </a:r>
            <a:endParaRPr/>
          </a:p>
        </p:txBody>
      </p:sp>
      <p:sp>
        <p:nvSpPr>
          <p:cNvPr id="1858" name="Google Shape;1858;p180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859" name="Google Shape;1859;p180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32</a:t>
            </a:r>
            <a:endParaRPr/>
          </a:p>
        </p:txBody>
      </p:sp>
      <p:sp>
        <p:nvSpPr>
          <p:cNvPr id="1860" name="Google Shape;1860;p180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861" name="Google Shape;1861;p180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862" name="Google Shape;1862;p180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863" name="Google Shape;1863;p180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64" name="Google Shape;1864;p180"/>
          <p:cNvSpPr/>
          <p:nvPr/>
        </p:nvSpPr>
        <p:spPr>
          <a:xfrm>
            <a:off x="10947606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1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5" name="Google Shape;1865;p180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Google Shape;1870;p181"/>
          <p:cNvSpPr txBox="1">
            <a:spLocks noGrp="1"/>
          </p:cNvSpPr>
          <p:nvPr>
            <p:ph type="title"/>
          </p:nvPr>
        </p:nvSpPr>
        <p:spPr>
          <a:xfrm>
            <a:off x="420859" y="435464"/>
            <a:ext cx="10786990" cy="1358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Response frame for set ideal engine speed as default</a:t>
            </a:r>
            <a:endParaRPr/>
          </a:p>
        </p:txBody>
      </p:sp>
      <p:graphicFrame>
        <p:nvGraphicFramePr>
          <p:cNvPr id="1871" name="Google Shape;1871;p181"/>
          <p:cNvGraphicFramePr/>
          <p:nvPr/>
        </p:nvGraphicFramePr>
        <p:xfrm>
          <a:off x="0" y="309105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{B48E19C2-BC45-440E-A4E8-4A3046B8FA71}</a:tableStyleId>
              </a:tblPr>
              <a:tblGrid>
                <a:gridCol w="155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1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5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58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No.of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bytes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Control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Record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Control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#1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72" name="Google Shape;1872;p181"/>
          <p:cNvSpPr/>
          <p:nvPr/>
        </p:nvSpPr>
        <p:spPr>
          <a:xfrm>
            <a:off x="0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354</a:t>
            </a:r>
            <a:endParaRPr/>
          </a:p>
        </p:txBody>
      </p:sp>
      <p:sp>
        <p:nvSpPr>
          <p:cNvPr id="1873" name="Google Shape;1873;p181"/>
          <p:cNvSpPr/>
          <p:nvPr/>
        </p:nvSpPr>
        <p:spPr>
          <a:xfrm>
            <a:off x="1615440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874" name="Google Shape;1874;p181"/>
          <p:cNvSpPr/>
          <p:nvPr/>
        </p:nvSpPr>
        <p:spPr>
          <a:xfrm>
            <a:off x="2799470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6F</a:t>
            </a:r>
            <a:endParaRPr/>
          </a:p>
        </p:txBody>
      </p:sp>
      <p:sp>
        <p:nvSpPr>
          <p:cNvPr id="1875" name="Google Shape;1875;p181"/>
          <p:cNvSpPr/>
          <p:nvPr/>
        </p:nvSpPr>
        <p:spPr>
          <a:xfrm>
            <a:off x="4164036" y="4005454"/>
            <a:ext cx="161544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876" name="Google Shape;1876;p181"/>
          <p:cNvSpPr/>
          <p:nvPr/>
        </p:nvSpPr>
        <p:spPr>
          <a:xfrm>
            <a:off x="5779476" y="4005454"/>
            <a:ext cx="1184030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32</a:t>
            </a:r>
            <a:endParaRPr/>
          </a:p>
        </p:txBody>
      </p:sp>
      <p:sp>
        <p:nvSpPr>
          <p:cNvPr id="1877" name="Google Shape;1877;p181"/>
          <p:cNvSpPr/>
          <p:nvPr/>
        </p:nvSpPr>
        <p:spPr>
          <a:xfrm>
            <a:off x="6963506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878" name="Google Shape;1878;p181"/>
          <p:cNvSpPr/>
          <p:nvPr/>
        </p:nvSpPr>
        <p:spPr>
          <a:xfrm>
            <a:off x="8328072" y="4005454"/>
            <a:ext cx="1364566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4B</a:t>
            </a:r>
            <a:endParaRPr/>
          </a:p>
        </p:txBody>
      </p:sp>
      <p:sp>
        <p:nvSpPr>
          <p:cNvPr id="1879" name="Google Shape;1879;p181"/>
          <p:cNvSpPr/>
          <p:nvPr/>
        </p:nvSpPr>
        <p:spPr>
          <a:xfrm>
            <a:off x="9712567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1880" name="Google Shape;1880;p181"/>
          <p:cNvSpPr txBox="1"/>
          <p:nvPr/>
        </p:nvSpPr>
        <p:spPr>
          <a:xfrm>
            <a:off x="420859" y="2211840"/>
            <a:ext cx="546060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 🡪 Server</a:t>
            </a:r>
            <a:endParaRPr sz="24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81" name="Google Shape;1881;p181"/>
          <p:cNvSpPr/>
          <p:nvPr/>
        </p:nvSpPr>
        <p:spPr>
          <a:xfrm>
            <a:off x="10947606" y="3091054"/>
            <a:ext cx="1252025" cy="914400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1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2" name="Google Shape;1882;p181"/>
          <p:cNvSpPr/>
          <p:nvPr/>
        </p:nvSpPr>
        <p:spPr>
          <a:xfrm>
            <a:off x="10954628" y="4005454"/>
            <a:ext cx="1252025" cy="880652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Google Shape;1887;p182"/>
          <p:cNvSpPr txBox="1">
            <a:spLocks noGrp="1"/>
          </p:cNvSpPr>
          <p:nvPr>
            <p:ph type="title"/>
          </p:nvPr>
        </p:nvSpPr>
        <p:spPr>
          <a:xfrm>
            <a:off x="838200" y="229239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6200"/>
              <a:buFont typeface="Times New Roman"/>
              <a:buNone/>
            </a:pPr>
            <a:r>
              <a:rPr lang="en-US" sz="6200"/>
              <a:t>Routine control </a:t>
            </a:r>
            <a:r>
              <a:rPr lang="en-US" sz="6200">
                <a:solidFill>
                  <a:srgbClr val="833C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(31H) Services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Google Shape;1892;p18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Routine control 31H Services</a:t>
            </a:r>
            <a:endParaRPr/>
          </a:p>
        </p:txBody>
      </p:sp>
      <p:sp>
        <p:nvSpPr>
          <p:cNvPr id="1893" name="Google Shape;1893;p183"/>
          <p:cNvSpPr txBox="1">
            <a:spLocks noGrp="1"/>
          </p:cNvSpPr>
          <p:nvPr>
            <p:ph type="body" idx="1"/>
          </p:nvPr>
        </p:nvSpPr>
        <p:spPr>
          <a:xfrm>
            <a:off x="1041010" y="2529009"/>
            <a:ext cx="10312790" cy="122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The client requests to start, stop a routine in the server(s) or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 b="0" i="0" u="none" strike="noStrike">
                <a:solidFill>
                  <a:srgbClr val="002060"/>
                </a:solidFill>
              </a:rPr>
              <a:t>requests the routine results.</a:t>
            </a:r>
            <a:endParaRPr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8" name="Google Shape;1898;p18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Routine Control 31H</a:t>
            </a:r>
            <a:endParaRPr/>
          </a:p>
        </p:txBody>
      </p:sp>
      <p:sp>
        <p:nvSpPr>
          <p:cNvPr id="1899" name="Google Shape;1899;p184"/>
          <p:cNvSpPr txBox="1">
            <a:spLocks noGrp="1"/>
          </p:cNvSpPr>
          <p:nvPr>
            <p:ph type="body" idx="1"/>
          </p:nvPr>
        </p:nvSpPr>
        <p:spPr>
          <a:xfrm>
            <a:off x="1195754" y="1825625"/>
            <a:ext cx="10158046" cy="2619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If the client starts routine on server’s memory its responsible for stopping the routine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Routine shall be started after request made by client and its sends positive response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Client may request routine results after the routine has been stopped.</a:t>
            </a:r>
            <a:endParaRPr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" name="Google Shape;1904;p18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Services</a:t>
            </a:r>
            <a:endParaRPr/>
          </a:p>
        </p:txBody>
      </p:sp>
      <p:sp>
        <p:nvSpPr>
          <p:cNvPr id="1905" name="Google Shape;1905;p18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 Start a routine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 Stop a routine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 Request routine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None/>
            </a:pPr>
            <a:r>
              <a:rPr lang="en-US" sz="2800" b="0" i="0" u="none" strike="noStrike">
                <a:solidFill>
                  <a:srgbClr val="002060"/>
                </a:solidFill>
              </a:rPr>
              <a:t>Results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>
                <a:solidFill>
                  <a:srgbClr val="002060"/>
                </a:solidFill>
              </a:rPr>
              <a:t>R</a:t>
            </a:r>
            <a:r>
              <a:rPr lang="en-US" sz="2800" b="0" i="0" u="none" strike="noStrike">
                <a:solidFill>
                  <a:srgbClr val="002060"/>
                </a:solidFill>
              </a:rPr>
              <a:t>outine is referenced by a two-byte routine Identifier.</a:t>
            </a:r>
            <a:endParaRPr sz="280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0" name="Google Shape;1910;p18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</a:t>
            </a:r>
            <a:endParaRPr/>
          </a:p>
        </p:txBody>
      </p:sp>
      <p:pic>
        <p:nvPicPr>
          <p:cNvPr id="1911" name="Google Shape;1911;p18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1648" y="1690688"/>
            <a:ext cx="10842152" cy="41912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6" name="Google Shape;1916;p187"/>
          <p:cNvSpPr txBox="1">
            <a:spLocks noGrp="1"/>
          </p:cNvSpPr>
          <p:nvPr>
            <p:ph type="title"/>
          </p:nvPr>
        </p:nvSpPr>
        <p:spPr>
          <a:xfrm>
            <a:off x="492369" y="308854"/>
            <a:ext cx="10861431" cy="633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Sub functions</a:t>
            </a:r>
            <a:endParaRPr/>
          </a:p>
        </p:txBody>
      </p:sp>
      <p:pic>
        <p:nvPicPr>
          <p:cNvPr id="1917" name="Google Shape;1917;p1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6341" y="1473389"/>
            <a:ext cx="10515600" cy="50194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2" name="Google Shape;1922;p18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</a:t>
            </a:r>
            <a:endParaRPr/>
          </a:p>
        </p:txBody>
      </p:sp>
      <p:pic>
        <p:nvPicPr>
          <p:cNvPr id="1923" name="Google Shape;1923;p18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1893435"/>
            <a:ext cx="10916529" cy="32793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Google Shape;1928;p189"/>
          <p:cNvSpPr txBox="1">
            <a:spLocks noGrp="1"/>
          </p:cNvSpPr>
          <p:nvPr>
            <p:ph type="title"/>
          </p:nvPr>
        </p:nvSpPr>
        <p:spPr>
          <a:xfrm>
            <a:off x="436098" y="365125"/>
            <a:ext cx="10917702" cy="535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ct val="100000"/>
              <a:buFont typeface="Times New Roman"/>
              <a:buNone/>
            </a:pPr>
            <a:r>
              <a:rPr lang="en-US"/>
              <a:t>Supported negative response</a:t>
            </a:r>
            <a:endParaRPr/>
          </a:p>
        </p:txBody>
      </p:sp>
      <p:pic>
        <p:nvPicPr>
          <p:cNvPr id="1929" name="Google Shape;1929;p18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72185" y="900332"/>
            <a:ext cx="9045527" cy="5871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4" name="Google Shape;1934;p19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Upload and download functional unit</a:t>
            </a:r>
            <a:endParaRPr/>
          </a:p>
        </p:txBody>
      </p:sp>
      <p:pic>
        <p:nvPicPr>
          <p:cNvPr id="1935" name="Google Shape;1935;p19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65284" y="2591589"/>
            <a:ext cx="10861431" cy="2093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0" name="Google Shape;1940;p19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 download 34Hex</a:t>
            </a:r>
            <a:endParaRPr/>
          </a:p>
        </p:txBody>
      </p:sp>
      <p:sp>
        <p:nvSpPr>
          <p:cNvPr id="1941" name="Google Shape;1941;p191"/>
          <p:cNvSpPr txBox="1">
            <a:spLocks noGrp="1"/>
          </p:cNvSpPr>
          <p:nvPr>
            <p:ph type="body" idx="1"/>
          </p:nvPr>
        </p:nvSpPr>
        <p:spPr>
          <a:xfrm>
            <a:off x="1097280" y="2087489"/>
            <a:ext cx="10256520" cy="2127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The request Download service is used by the client to initiate a data transfer from the client to the server (download)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After the server has received the request Download request message, the server shall take all necessary actions to receive data before it sends a positive response message</a:t>
            </a: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19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</a:t>
            </a:r>
            <a:endParaRPr/>
          </a:p>
        </p:txBody>
      </p:sp>
      <p:pic>
        <p:nvPicPr>
          <p:cNvPr id="1947" name="Google Shape;1947;p19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4846" y="1578147"/>
            <a:ext cx="10515600" cy="46606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2" name="Google Shape;1952;p193"/>
          <p:cNvSpPr txBox="1">
            <a:spLocks noGrp="1"/>
          </p:cNvSpPr>
          <p:nvPr>
            <p:ph type="body" idx="1"/>
          </p:nvPr>
        </p:nvSpPr>
        <p:spPr>
          <a:xfrm>
            <a:off x="758190" y="981565"/>
            <a:ext cx="8666029" cy="515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400"/>
              <a:buNone/>
            </a:pPr>
            <a:r>
              <a:rPr lang="en-US">
                <a:solidFill>
                  <a:srgbClr val="833C0B"/>
                </a:solidFill>
              </a:rPr>
              <a:t>Data format identifier: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   </a:t>
            </a:r>
            <a:r>
              <a:rPr lang="en-US">
                <a:solidFill>
                  <a:srgbClr val="833C0B"/>
                </a:solidFill>
              </a:rPr>
              <a:t>      </a:t>
            </a:r>
            <a:r>
              <a:rPr lang="en-US">
                <a:solidFill>
                  <a:srgbClr val="002060"/>
                </a:solidFill>
              </a:rPr>
              <a:t>Each nibble encode separately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	High nibble specifies the compression method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	Low nibble specifies the encryption mode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>
                <a:solidFill>
                  <a:srgbClr val="002060"/>
                </a:solidFill>
              </a:rPr>
              <a:t>If the data identifier is 0X00 🡪 No compression and encryption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33C0B"/>
              </a:buClr>
              <a:buSzPts val="2400"/>
              <a:buNone/>
            </a:pPr>
            <a:r>
              <a:rPr lang="en-US">
                <a:solidFill>
                  <a:srgbClr val="833C0B"/>
                </a:solidFill>
              </a:rPr>
              <a:t>Address and length format identifier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        Each nibble encoded separately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	High nibbles indicates Memory Size (7-4)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	Low nibble indicates Memory Address(3-0)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7" name="Google Shape;1957;p19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</a:t>
            </a:r>
            <a:endParaRPr/>
          </a:p>
        </p:txBody>
      </p:sp>
      <p:pic>
        <p:nvPicPr>
          <p:cNvPr id="1958" name="Google Shape;1958;p1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7135" y="2109262"/>
            <a:ext cx="11437730" cy="2639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" name="Google Shape;1963;p195"/>
          <p:cNvSpPr txBox="1">
            <a:spLocks noGrp="1"/>
          </p:cNvSpPr>
          <p:nvPr>
            <p:ph type="title"/>
          </p:nvPr>
        </p:nvSpPr>
        <p:spPr>
          <a:xfrm>
            <a:off x="759655" y="365125"/>
            <a:ext cx="10594145" cy="915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Supported negative response codes</a:t>
            </a:r>
            <a:endParaRPr/>
          </a:p>
        </p:txBody>
      </p:sp>
      <p:pic>
        <p:nvPicPr>
          <p:cNvPr id="1964" name="Google Shape;1964;p1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2035" y="1528251"/>
            <a:ext cx="8590304" cy="4964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Google Shape;1969;p196"/>
          <p:cNvSpPr txBox="1">
            <a:spLocks noGrp="1"/>
          </p:cNvSpPr>
          <p:nvPr>
            <p:ph type="body" idx="1"/>
          </p:nvPr>
        </p:nvSpPr>
        <p:spPr>
          <a:xfrm>
            <a:off x="838200" y="615803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400"/>
              <a:buNone/>
            </a:pPr>
            <a:r>
              <a:rPr lang="en-US">
                <a:solidFill>
                  <a:srgbClr val="833C0B"/>
                </a:solidFill>
              </a:rPr>
              <a:t>Length format identifier</a:t>
            </a:r>
            <a:endParaRPr>
              <a:solidFill>
                <a:srgbClr val="00206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	Each nibble encode separately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	High nibble specifies the length of maximum number of blocks (7-4)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	Low nibble depends on vehicle manufacturers.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33C0B"/>
              </a:buClr>
              <a:buSzPts val="2400"/>
              <a:buNone/>
            </a:pPr>
            <a:r>
              <a:rPr lang="en-US">
                <a:solidFill>
                  <a:srgbClr val="833C0B"/>
                </a:solidFill>
              </a:rPr>
              <a:t>Maximum Number of block length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>
                <a:solidFill>
                  <a:srgbClr val="002060"/>
                </a:solidFill>
              </a:rPr>
              <a:t>It return the number , that number indicate how many data bytes been transmitted in a single transfer, which </a:t>
            </a:r>
            <a:r>
              <a:rPr lang="en-US" b="0" i="0" u="none" strike="noStrike">
                <a:solidFill>
                  <a:srgbClr val="002060"/>
                </a:solidFill>
              </a:rPr>
              <a:t>reflects the complete message length, including the service identifier</a:t>
            </a: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Google Shape;1974;p19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 upload 35Hex</a:t>
            </a:r>
            <a:endParaRPr/>
          </a:p>
        </p:txBody>
      </p:sp>
      <p:sp>
        <p:nvSpPr>
          <p:cNvPr id="1975" name="Google Shape;1975;p197"/>
          <p:cNvSpPr txBox="1">
            <a:spLocks noGrp="1"/>
          </p:cNvSpPr>
          <p:nvPr>
            <p:ph type="body" idx="1"/>
          </p:nvPr>
        </p:nvSpPr>
        <p:spPr>
          <a:xfrm>
            <a:off x="1097280" y="2087489"/>
            <a:ext cx="10256520" cy="2127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The request Download service is used by the client to initiate a data transfer from the </a:t>
            </a:r>
            <a:r>
              <a:rPr lang="en-US">
                <a:solidFill>
                  <a:srgbClr val="002060"/>
                </a:solidFill>
              </a:rPr>
              <a:t>Server</a:t>
            </a:r>
            <a:r>
              <a:rPr lang="en-US" b="0" i="0" u="none" strike="noStrike">
                <a:solidFill>
                  <a:srgbClr val="002060"/>
                </a:solidFill>
              </a:rPr>
              <a:t> to the Client(Upload)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</a:pPr>
            <a:r>
              <a:rPr lang="en-US" b="0" i="0" u="none" strike="noStrike">
                <a:solidFill>
                  <a:srgbClr val="002060"/>
                </a:solidFill>
              </a:rPr>
              <a:t>After the server has received the request Upload request message, the server shall take all necessary actions to Send data before it sends a positive response message</a:t>
            </a:r>
            <a:endParaRPr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0" name="Google Shape;1980;p198"/>
          <p:cNvSpPr txBox="1">
            <a:spLocks noGrp="1"/>
          </p:cNvSpPr>
          <p:nvPr>
            <p:ph type="title"/>
          </p:nvPr>
        </p:nvSpPr>
        <p:spPr>
          <a:xfrm>
            <a:off x="829994" y="402019"/>
            <a:ext cx="10523806" cy="807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</a:t>
            </a:r>
            <a:endParaRPr/>
          </a:p>
        </p:txBody>
      </p:sp>
      <p:pic>
        <p:nvPicPr>
          <p:cNvPr id="1981" name="Google Shape;1981;p19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608" y="1727582"/>
            <a:ext cx="10198784" cy="4314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Google Shape;1986;p19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</a:t>
            </a:r>
            <a:endParaRPr/>
          </a:p>
        </p:txBody>
      </p:sp>
      <p:pic>
        <p:nvPicPr>
          <p:cNvPr id="1987" name="Google Shape;1987;p19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6816" y="2315350"/>
            <a:ext cx="11016984" cy="24248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200"/>
          <p:cNvSpPr txBox="1">
            <a:spLocks noGrp="1"/>
          </p:cNvSpPr>
          <p:nvPr>
            <p:ph type="title"/>
          </p:nvPr>
        </p:nvSpPr>
        <p:spPr>
          <a:xfrm>
            <a:off x="703385" y="365126"/>
            <a:ext cx="10650415" cy="774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Supported negative response</a:t>
            </a:r>
            <a:endParaRPr/>
          </a:p>
        </p:txBody>
      </p:sp>
      <p:pic>
        <p:nvPicPr>
          <p:cNvPr id="1993" name="Google Shape;1993;p20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5416" y="1408606"/>
            <a:ext cx="9350180" cy="53755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" name="Google Shape;1998;p20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Service Transfer data (36 Hex)</a:t>
            </a:r>
            <a:endParaRPr/>
          </a:p>
        </p:txBody>
      </p:sp>
      <p:sp>
        <p:nvSpPr>
          <p:cNvPr id="1999" name="Google Shape;1999;p20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The Transfer Data service is used by the client to transfer data either from the client to the server (download) or from the server to the client (upload).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Combination of Request Download or Request Upload service.</a:t>
            </a:r>
            <a:endParaRPr sz="2800">
              <a:solidFill>
                <a:srgbClr val="00206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The Transfer Data service request includes a block Sequence Counter</a:t>
            </a:r>
            <a:r>
              <a:rPr lang="en-US" sz="2800">
                <a:solidFill>
                  <a:srgbClr val="002060"/>
                </a:solidFill>
              </a:rPr>
              <a:t> </a:t>
            </a:r>
            <a:r>
              <a:rPr lang="en-US" sz="2800" b="0" i="0" u="none" strike="noStrike">
                <a:solidFill>
                  <a:srgbClr val="002060"/>
                </a:solidFill>
              </a:rPr>
              <a:t>to allow for improved error handling in case a Transfer Data service fails during a sequence of multiple Transfer Data requests</a:t>
            </a:r>
            <a:endParaRPr sz="280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4" name="Google Shape;2004;p20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</a:t>
            </a:r>
            <a:endParaRPr/>
          </a:p>
        </p:txBody>
      </p:sp>
      <p:pic>
        <p:nvPicPr>
          <p:cNvPr id="2005" name="Google Shape;2005;p20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7638" y="2261881"/>
            <a:ext cx="10296723" cy="2728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Google Shape;2010;p20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</a:t>
            </a:r>
            <a:endParaRPr/>
          </a:p>
        </p:txBody>
      </p:sp>
      <p:pic>
        <p:nvPicPr>
          <p:cNvPr id="2011" name="Google Shape;2011;p20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8223" y="2753530"/>
            <a:ext cx="10635577" cy="27469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6" name="Google Shape;2016;p20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Request Transfer exit</a:t>
            </a:r>
            <a:endParaRPr/>
          </a:p>
        </p:txBody>
      </p:sp>
      <p:sp>
        <p:nvSpPr>
          <p:cNvPr id="2017" name="Google Shape;2017;p204"/>
          <p:cNvSpPr txBox="1">
            <a:spLocks noGrp="1"/>
          </p:cNvSpPr>
          <p:nvPr>
            <p:ph type="body" idx="1"/>
          </p:nvPr>
        </p:nvSpPr>
        <p:spPr>
          <a:xfrm>
            <a:off x="1181686" y="2149182"/>
            <a:ext cx="10172114" cy="149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US" sz="2800" b="0" i="0" u="none" strike="noStrike">
                <a:solidFill>
                  <a:srgbClr val="002060"/>
                </a:solidFill>
              </a:rPr>
              <a:t>This service is used by the client to terminate a data transfer between client and server (upload or download).</a:t>
            </a:r>
            <a:endParaRPr sz="2800">
              <a:solidFill>
                <a:srgbClr val="002060"/>
              </a:solidFill>
            </a:endParaRPr>
          </a:p>
        </p:txBody>
      </p:sp>
      <p:pic>
        <p:nvPicPr>
          <p:cNvPr id="2018" name="Google Shape;2018;p20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81686" y="3643532"/>
            <a:ext cx="9514889" cy="2235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3" name="Google Shape;2023;p20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Positive response</a:t>
            </a:r>
            <a:endParaRPr/>
          </a:p>
        </p:txBody>
      </p:sp>
      <p:pic>
        <p:nvPicPr>
          <p:cNvPr id="2024" name="Google Shape;2024;p2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9016" y="2091323"/>
            <a:ext cx="11155282" cy="23822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9" name="Google Shape;2029;p20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4400"/>
              <a:buFont typeface="Times New Roman"/>
              <a:buNone/>
            </a:pPr>
            <a:r>
              <a:rPr lang="en-US"/>
              <a:t>Negative response</a:t>
            </a:r>
            <a:endParaRPr/>
          </a:p>
        </p:txBody>
      </p:sp>
      <p:pic>
        <p:nvPicPr>
          <p:cNvPr id="2030" name="Google Shape;2030;p20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66591" y="2045824"/>
            <a:ext cx="9858817" cy="32576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</TotalTime>
  <Words>6134</Words>
  <Application>Microsoft Office PowerPoint</Application>
  <PresentationFormat>Widescreen</PresentationFormat>
  <Paragraphs>2200</Paragraphs>
  <Slides>214</Slides>
  <Notes>214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214</vt:i4>
      </vt:variant>
    </vt:vector>
  </HeadingPairs>
  <TitlesOfParts>
    <vt:vector size="218" baseType="lpstr">
      <vt:lpstr>Arial</vt:lpstr>
      <vt:lpstr>Calibri</vt:lpstr>
      <vt:lpstr>Times New Roman</vt:lpstr>
      <vt:lpstr>Office Theme</vt:lpstr>
      <vt:lpstr>Automotive Embedded System</vt:lpstr>
      <vt:lpstr>Embedded systems</vt:lpstr>
      <vt:lpstr>Real time examples</vt:lpstr>
      <vt:lpstr>Embedded System in Automobile</vt:lpstr>
      <vt:lpstr>ECU (Electronics control unit)</vt:lpstr>
      <vt:lpstr>ABS vs without ABS</vt:lpstr>
      <vt:lpstr>Anti-Lock breaking System</vt:lpstr>
      <vt:lpstr>Front and Rear Sensor</vt:lpstr>
      <vt:lpstr>PowerPoint Presentation</vt:lpstr>
      <vt:lpstr>PowerPoint Presentation</vt:lpstr>
      <vt:lpstr>INTRODUCTION</vt:lpstr>
      <vt:lpstr>HISTORY</vt:lpstr>
      <vt:lpstr>Before and After CAN</vt:lpstr>
      <vt:lpstr>CAN STRUCTURE </vt:lpstr>
      <vt:lpstr>PowerPoint Presentation</vt:lpstr>
      <vt:lpstr>CAN with different layers in OSI model</vt:lpstr>
      <vt:lpstr>CAN FRAME FORMATS</vt:lpstr>
      <vt:lpstr>TYPES OF FRAMES</vt:lpstr>
      <vt:lpstr>CAN 2.0A Message (or) Data frame</vt:lpstr>
      <vt:lpstr>CAN 2.0 B Message Extened Message Frame</vt:lpstr>
      <vt:lpstr>Message Arbitration</vt:lpstr>
      <vt:lpstr>Multi master  arbitration Data frame</vt:lpstr>
      <vt:lpstr>Fault Confinement</vt:lpstr>
      <vt:lpstr>Fault Confinement</vt:lpstr>
      <vt:lpstr>CAN ISOTP</vt:lpstr>
      <vt:lpstr>CAN ISOTP - Single Frame (SF)</vt:lpstr>
      <vt:lpstr>CAN ISOTP - First Frame (FF)</vt:lpstr>
      <vt:lpstr>CAN ISOTP - Flow Control (FC)</vt:lpstr>
      <vt:lpstr>CAN ISOTP - Flow Control (FC)</vt:lpstr>
      <vt:lpstr>CAN ISOTP - Flow Control (FC)</vt:lpstr>
      <vt:lpstr>CAN ISOTP - Consecutive Frame (CF)</vt:lpstr>
      <vt:lpstr>Example: Transmitting 40 bytes of application data using CAN ISO-TP</vt:lpstr>
      <vt:lpstr>Diagnostics</vt:lpstr>
      <vt:lpstr>Why Diagnostics?</vt:lpstr>
      <vt:lpstr>Diagnostic tester</vt:lpstr>
      <vt:lpstr>Goal of diagnostic communication</vt:lpstr>
      <vt:lpstr>Protocols</vt:lpstr>
      <vt:lpstr>KWP (Keyword Protocol)</vt:lpstr>
      <vt:lpstr>Standard Protocol Tester Communication (SAE)</vt:lpstr>
      <vt:lpstr>UDS (Unified Diagnostic Services) </vt:lpstr>
      <vt:lpstr>UDS Workings</vt:lpstr>
      <vt:lpstr>SID (Service Identifiers)</vt:lpstr>
      <vt:lpstr>PowerPoint Presentation</vt:lpstr>
      <vt:lpstr>CAPL Script</vt:lpstr>
      <vt:lpstr>CAPL Script Basic Structure</vt:lpstr>
      <vt:lpstr>Timer</vt:lpstr>
      <vt:lpstr>PowerPoint Presentation</vt:lpstr>
      <vt:lpstr>Diagnostics session 10H Services</vt:lpstr>
      <vt:lpstr>Diagnostics Session 10Hex Service</vt:lpstr>
      <vt:lpstr>PowerPoint Presentation</vt:lpstr>
      <vt:lpstr>10H Request Frame Format</vt:lpstr>
      <vt:lpstr>PowerPoint Presentation</vt:lpstr>
      <vt:lpstr>PowerPoint Presentation</vt:lpstr>
      <vt:lpstr>PowerPoint Presentation</vt:lpstr>
      <vt:lpstr>10H Positive Response frame format</vt:lpstr>
      <vt:lpstr>PowerPoint Presentation</vt:lpstr>
      <vt:lpstr>10H Negative Response frame format</vt:lpstr>
      <vt:lpstr>Example</vt:lpstr>
      <vt:lpstr>Session Response time calculation </vt:lpstr>
      <vt:lpstr>Response time calculation </vt:lpstr>
      <vt:lpstr>Client to Server Request</vt:lpstr>
      <vt:lpstr>Server to Client Response</vt:lpstr>
      <vt:lpstr>Server to Client Negative Response</vt:lpstr>
      <vt:lpstr>Client to Server Request code</vt:lpstr>
      <vt:lpstr>Server to client Response</vt:lpstr>
      <vt:lpstr>ECU Reset (11H) Services</vt:lpstr>
      <vt:lpstr>ECU Reset Session 11Hex Service</vt:lpstr>
      <vt:lpstr>11H Request Frame Format</vt:lpstr>
      <vt:lpstr>PowerPoint Presentation</vt:lpstr>
      <vt:lpstr>11H Positive Response frame format</vt:lpstr>
      <vt:lpstr>11H Negative Response frame format</vt:lpstr>
      <vt:lpstr>Example</vt:lpstr>
      <vt:lpstr>Client to Server Request</vt:lpstr>
      <vt:lpstr>Server to Client Response</vt:lpstr>
      <vt:lpstr>Server to Client Negative Response</vt:lpstr>
      <vt:lpstr>Security Access (27H) Services</vt:lpstr>
      <vt:lpstr>Security Access 27Hex Service</vt:lpstr>
      <vt:lpstr>Security Access 27H Procedure</vt:lpstr>
      <vt:lpstr>PowerPoint Presentation</vt:lpstr>
      <vt:lpstr>PowerPoint Presentation</vt:lpstr>
      <vt:lpstr>27Hex Request for seed Frame Format</vt:lpstr>
      <vt:lpstr>27Hex Positive Response seed Frame Format</vt:lpstr>
      <vt:lpstr>27Hex Request (Send) for Key Frame Format</vt:lpstr>
      <vt:lpstr>27Hex Positive Response seed Frame Format</vt:lpstr>
      <vt:lpstr>Task</vt:lpstr>
      <vt:lpstr>Communication Control (28H) Services</vt:lpstr>
      <vt:lpstr>Communication Control 28Hex Service</vt:lpstr>
      <vt:lpstr>PowerPoint Presentation</vt:lpstr>
      <vt:lpstr>PowerPoint Presentation</vt:lpstr>
      <vt:lpstr>28Hex disable Tx and Rx</vt:lpstr>
      <vt:lpstr>28Hex disable Tx and Rx Negative response</vt:lpstr>
      <vt:lpstr>10Hex Extended Diagnostic session request</vt:lpstr>
      <vt:lpstr>10Hex Extended Diagnostic session Positive response</vt:lpstr>
      <vt:lpstr>27Hex Request for seed Frame Format</vt:lpstr>
      <vt:lpstr>27Hex Positive Response seed Frame Format</vt:lpstr>
      <vt:lpstr>27Hex Request (Send) for Key Frame Format</vt:lpstr>
      <vt:lpstr>27Hex Positive Response seed Frame Format</vt:lpstr>
      <vt:lpstr>28Hex disable Tx and Rx</vt:lpstr>
      <vt:lpstr>28Hex disable Tx and Rx Positive response</vt:lpstr>
      <vt:lpstr>Tester present (3EH) Services</vt:lpstr>
      <vt:lpstr>Tester Present 3EHex Service</vt:lpstr>
      <vt:lpstr>Subfunction</vt:lpstr>
      <vt:lpstr>Negative response</vt:lpstr>
      <vt:lpstr>3EHex Request with zero subfunction Frame Format</vt:lpstr>
      <vt:lpstr>3EHex Positive Response Frame Format</vt:lpstr>
      <vt:lpstr>3EHex Request with 80 subfunction Frame Format</vt:lpstr>
      <vt:lpstr>3EHex Positive Response Frame Format</vt:lpstr>
      <vt:lpstr>Secured data transmission (84H) Services</vt:lpstr>
      <vt:lpstr>Secured Data Transmission 84Hex Services</vt:lpstr>
      <vt:lpstr>Secured Data Transmission 84Hex Request frame Services</vt:lpstr>
      <vt:lpstr>84Hex Positive Response Frame Format</vt:lpstr>
      <vt:lpstr>84Hex Supported Negative  Response</vt:lpstr>
      <vt:lpstr>84Hex Negative Response</vt:lpstr>
      <vt:lpstr>Control DTC Setting (85H) Services</vt:lpstr>
      <vt:lpstr>Control DTC Setting 85H</vt:lpstr>
      <vt:lpstr>PowerPoint Presentation</vt:lpstr>
      <vt:lpstr>PowerPoint Presentation</vt:lpstr>
      <vt:lpstr>Control DTC Setting 85H Request frame Services</vt:lpstr>
      <vt:lpstr>Control DTC Setting 85H Positive Response Frame Format</vt:lpstr>
      <vt:lpstr>Link control 87hex service</vt:lpstr>
      <vt:lpstr>Request message subfunction</vt:lpstr>
      <vt:lpstr>Baud rate</vt:lpstr>
      <vt:lpstr>Link control 87H Request frame Services</vt:lpstr>
      <vt:lpstr>Link control 87H Positive Response Frame Format</vt:lpstr>
      <vt:lpstr>Data Transmission functional unit</vt:lpstr>
      <vt:lpstr>Flow control</vt:lpstr>
      <vt:lpstr>PowerPoint Presentation</vt:lpstr>
      <vt:lpstr>Read data by identifier 22Hex Service</vt:lpstr>
      <vt:lpstr>Read data by identifier 22H Request frame</vt:lpstr>
      <vt:lpstr>Read data by identifier 22H Positive Response frame</vt:lpstr>
      <vt:lpstr>PowerPoint Presentation</vt:lpstr>
      <vt:lpstr>Read data by identifier 22Hex Negative Response</vt:lpstr>
      <vt:lpstr>Read Memory by Address 23Hex Service</vt:lpstr>
      <vt:lpstr>Request</vt:lpstr>
      <vt:lpstr>Positive response </vt:lpstr>
      <vt:lpstr>Negative response</vt:lpstr>
      <vt:lpstr>Read data by Memory address 23H Request frame</vt:lpstr>
      <vt:lpstr>Read data by Memory address 23H Request flow control frame</vt:lpstr>
      <vt:lpstr>Read data by Memory address 23H Request flow control frame</vt:lpstr>
      <vt:lpstr>Read data by Memory address 23H Request flow control frame</vt:lpstr>
      <vt:lpstr>Read data by Memory address 23H Request frame</vt:lpstr>
      <vt:lpstr>Read data by Memory address 23H Request flow control frame</vt:lpstr>
      <vt:lpstr>Read data by Memory address 23H Request flow control frame</vt:lpstr>
      <vt:lpstr>Read data by Memory address 23H Request flow control frame</vt:lpstr>
      <vt:lpstr>Write data by identifier 2EHex Service</vt:lpstr>
      <vt:lpstr>Request message definition</vt:lpstr>
      <vt:lpstr>Positive response </vt:lpstr>
      <vt:lpstr>Negative response</vt:lpstr>
      <vt:lpstr>Write data by Identifier 2EH Request frame</vt:lpstr>
      <vt:lpstr>Write data by Identifier 2EH Positive Response frame</vt:lpstr>
      <vt:lpstr>Write Memory by Address 3DHex Service</vt:lpstr>
      <vt:lpstr>Request</vt:lpstr>
      <vt:lpstr>Positive response </vt:lpstr>
      <vt:lpstr>Negative response</vt:lpstr>
      <vt:lpstr>PowerPoint Presentation</vt:lpstr>
      <vt:lpstr>Write data by identifier 3DH send Memory address Request frame</vt:lpstr>
      <vt:lpstr>Write data by identifier 3DH flow control response frame</vt:lpstr>
      <vt:lpstr>Write data by identifier 3DH Memory size Request frame</vt:lpstr>
      <vt:lpstr>Write data by identifier 3DH send Memory address Positive Response frame (Memory Address)</vt:lpstr>
      <vt:lpstr>Write data by identifier 3DH flow control request frame</vt:lpstr>
      <vt:lpstr>Write data by identifier 3DH Memory size Positive Response frame (Memory Size)</vt:lpstr>
      <vt:lpstr>Read Scaling data by identifier 24H Service</vt:lpstr>
      <vt:lpstr>Request</vt:lpstr>
      <vt:lpstr>Positive Response</vt:lpstr>
      <vt:lpstr>Example</vt:lpstr>
      <vt:lpstr>Read Scaling data by identifier 24H Service Request frame</vt:lpstr>
      <vt:lpstr>Read Scaling data by identifier 24H Service Response frame</vt:lpstr>
      <vt:lpstr>Explanation</vt:lpstr>
      <vt:lpstr>Negative Response</vt:lpstr>
      <vt:lpstr>Stored data Transmission Functional unit</vt:lpstr>
      <vt:lpstr>Clear diagnostic Information 14H</vt:lpstr>
      <vt:lpstr>Request</vt:lpstr>
      <vt:lpstr>Positive Response</vt:lpstr>
      <vt:lpstr>Clear diagnostic Information 14H Request frame</vt:lpstr>
      <vt:lpstr>Clear diagnostic Information 14H Positive Response frame</vt:lpstr>
      <vt:lpstr>Read DTC Information 19H Services</vt:lpstr>
      <vt:lpstr>DTC (Diagnostics Trouble code)</vt:lpstr>
      <vt:lpstr>DTC Bytes</vt:lpstr>
      <vt:lpstr>Request</vt:lpstr>
      <vt:lpstr>Positive response</vt:lpstr>
      <vt:lpstr>Read Number of DTC Present in ECU (19H Services Request frame)</vt:lpstr>
      <vt:lpstr>Read Number of DTC Present in ECU (19H Services Response frame)</vt:lpstr>
      <vt:lpstr>Input output control by identifier 2Fhex Service</vt:lpstr>
      <vt:lpstr>Request</vt:lpstr>
      <vt:lpstr>Positive response</vt:lpstr>
      <vt:lpstr>PowerPoint Presentation</vt:lpstr>
      <vt:lpstr>Engine ideal speed identifier</vt:lpstr>
      <vt:lpstr>Request frame to set ideal engine speed as default</vt:lpstr>
      <vt:lpstr>Response frame for set ideal engine speed as default</vt:lpstr>
      <vt:lpstr>Routine control (31H) Services</vt:lpstr>
      <vt:lpstr>Routine control 31H Services</vt:lpstr>
      <vt:lpstr>Routine Control 31H</vt:lpstr>
      <vt:lpstr>Services</vt:lpstr>
      <vt:lpstr>Request</vt:lpstr>
      <vt:lpstr>Sub functions</vt:lpstr>
      <vt:lpstr>Positive response</vt:lpstr>
      <vt:lpstr>Supported negative response</vt:lpstr>
      <vt:lpstr>Upload and download functional unit</vt:lpstr>
      <vt:lpstr>Request download 34Hex</vt:lpstr>
      <vt:lpstr>Request</vt:lpstr>
      <vt:lpstr>PowerPoint Presentation</vt:lpstr>
      <vt:lpstr>Positive response</vt:lpstr>
      <vt:lpstr>Supported negative response codes</vt:lpstr>
      <vt:lpstr>PowerPoint Presentation</vt:lpstr>
      <vt:lpstr>Request upload 35Hex</vt:lpstr>
      <vt:lpstr>Request</vt:lpstr>
      <vt:lpstr>Positive response</vt:lpstr>
      <vt:lpstr>Supported negative response</vt:lpstr>
      <vt:lpstr>Service Transfer data (36 Hex)</vt:lpstr>
      <vt:lpstr>Request</vt:lpstr>
      <vt:lpstr>Positive response</vt:lpstr>
      <vt:lpstr>Request Transfer exit</vt:lpstr>
      <vt:lpstr>Positive response</vt:lpstr>
      <vt:lpstr>Negative response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Aravinth Kalai</dc:creator>
  <cp:lastModifiedBy>Aravinth K (SDS/BSV-ENG3)</cp:lastModifiedBy>
  <cp:revision>138</cp:revision>
  <cp:lastPrinted>2026-07-08T11:54:51Z</cp:lastPrinted>
  <dcterms:created xsi:type="dcterms:W3CDTF">2020-03-02T05:19:40Z</dcterms:created>
  <dcterms:modified xsi:type="dcterms:W3CDTF">2026-07-08T12:04:05Z</dcterms:modified>
</cp:coreProperties>
</file>