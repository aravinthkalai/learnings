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12" roundtripDataSignature="AMtx7mhDy26xgIlG+/V2r4iqFcZpzaCi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E30F34-3500-48CC-B1A7-52E360DDCD2A}">
  <a:tblStyle styleId="{8DE30F34-3500-48CC-B1A7-52E360DDCD2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B48E19C2-BC45-440E-A4E8-4A3046B8FA7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8EBF5"/>
          </a:solidFill>
        </a:fill>
      </a:tcStyle>
    </a:band1H>
    <a:band2H>
      <a:tcTxStyle/>
    </a:band2H>
    <a:band1V>
      <a:tcTxStyle/>
      <a:tcStyle>
        <a:fill>
          <a:solidFill>
            <a:srgbClr val="E8EBF5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212" Type="http://customschemas.google.com/relationships/presentationmetadata" Target="metadata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1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1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1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1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7" name="Google Shape;1547;p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1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1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p1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1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6" name="Google Shape;1656;p1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1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0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p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p1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1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8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p1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5" name="Google Shape;1845;p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1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1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1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1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1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7" name="Google Shape;1967;p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1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1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1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1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2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2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2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2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2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2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2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  <a:defRPr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28.png"/><Relationship Id="rId10" Type="http://schemas.openxmlformats.org/officeDocument/2006/relationships/image" Target="../media/image35.png"/><Relationship Id="rId9" Type="http://schemas.openxmlformats.org/officeDocument/2006/relationships/image" Target="../media/image33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jpg"/><Relationship Id="rId4" Type="http://schemas.openxmlformats.org/officeDocument/2006/relationships/image" Target="../media/image3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39.jpg"/><Relationship Id="rId5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jpg"/><Relationship Id="rId4" Type="http://schemas.openxmlformats.org/officeDocument/2006/relationships/image" Target="../media/image4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6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7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61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55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62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60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72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8.png"/><Relationship Id="rId10" Type="http://schemas.openxmlformats.org/officeDocument/2006/relationships/image" Target="../media/image70.png"/><Relationship Id="rId13" Type="http://schemas.openxmlformats.org/officeDocument/2006/relationships/image" Target="../media/image75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63.png"/><Relationship Id="rId4" Type="http://schemas.openxmlformats.org/officeDocument/2006/relationships/image" Target="../media/image115.png"/><Relationship Id="rId9" Type="http://schemas.openxmlformats.org/officeDocument/2006/relationships/image" Target="../media/image71.png"/><Relationship Id="rId14" Type="http://schemas.openxmlformats.org/officeDocument/2006/relationships/image" Target="../media/image73.png"/><Relationship Id="rId5" Type="http://schemas.openxmlformats.org/officeDocument/2006/relationships/image" Target="../media/image68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Relationship Id="rId8" Type="http://schemas.openxmlformats.org/officeDocument/2006/relationships/image" Target="../media/image65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76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69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81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82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80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87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79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84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83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77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92.pn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85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88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91.png"/><Relationship Id="rId4" Type="http://schemas.openxmlformats.org/officeDocument/2006/relationships/image" Target="../media/image89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97.png"/><Relationship Id="rId4" Type="http://schemas.openxmlformats.org/officeDocument/2006/relationships/image" Target="../media/image94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86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96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90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93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99.pn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98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100.pn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03.pn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95.png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01.pn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05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06.pn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02.pn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04.pn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08.pn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16.png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13.pn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09.png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110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11.png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107.png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114.png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Automotive Embedded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838200" y="35105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systems</a:t>
            </a:r>
            <a:endParaRPr>
              <a:solidFill>
                <a:srgbClr val="833C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936674" y="2006600"/>
            <a:ext cx="10515600" cy="4500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Char char="•"/>
            </a:pPr>
            <a:r>
              <a:rPr lang="en-US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embedded system is a system that has embedded software and hardware, which makes it a system dedicated for an application(s), or a part of larger systems.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F5496"/>
              </a:buClr>
              <a:buSzPts val="2400"/>
              <a:buChar char="•"/>
            </a:pPr>
            <a:r>
              <a:rPr lang="en-US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 Bluetooth control home appliances.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088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Real time examples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4"/>
            <a:ext cx="10753578" cy="48705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electronics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sector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Char char="•"/>
            </a:pPr>
            <a:r>
              <a:rPr lang="en-US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2400"/>
              <a:buChar char="•"/>
            </a:pPr>
            <a:r>
              <a:rPr lang="en-US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3C0B"/>
              </a:buClr>
              <a:buSzPts val="2400"/>
              <a:buChar char="•"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Transportations,(AES) etc..,</a:t>
            </a:r>
            <a:endParaRPr>
              <a:solidFill>
                <a:srgbClr val="833C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675249" y="154109"/>
            <a:ext cx="10439400" cy="844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Embedded System in Automobile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675249" y="1448972"/>
            <a:ext cx="11516751" cy="4727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system are extensively used in Automobile Industry. Embedded system have taken control on automobiles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Airbags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Anti-lock breaking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Automatic parking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</a:t>
            </a:r>
            <a:r>
              <a:rPr lang="en-US">
                <a:solidFill>
                  <a:srgbClr val="002060"/>
                </a:solidFill>
              </a:rPr>
              <a:t>Radio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Tyre Pressure Monitor (TPM)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In-vehicle entertainment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Navigation systems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Night vision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Heads up display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0480" y="3558115"/>
            <a:ext cx="5036233" cy="33016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 txBox="1"/>
          <p:nvPr>
            <p:ph type="title"/>
          </p:nvPr>
        </p:nvSpPr>
        <p:spPr>
          <a:xfrm>
            <a:off x="773723" y="350141"/>
            <a:ext cx="10580077" cy="859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ECU (Electronics control unit)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610378" y="1493739"/>
            <a:ext cx="1178747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i="0" lang="en-US">
                <a:solidFill>
                  <a:srgbClr val="002060"/>
                </a:solidFill>
              </a:rPr>
              <a:t>An electronic control unit (ECU) is an </a:t>
            </a:r>
            <a:r>
              <a:rPr i="0" lang="en-US" strike="noStrike">
                <a:solidFill>
                  <a:srgbClr val="002060"/>
                </a:solidFill>
              </a:rPr>
              <a:t>embedded system</a:t>
            </a:r>
            <a:r>
              <a:rPr i="0" lang="en-US">
                <a:solidFill>
                  <a:srgbClr val="002060"/>
                </a:solidFill>
              </a:rPr>
              <a:t> in </a:t>
            </a:r>
            <a:r>
              <a:rPr i="0" lang="en-US" strike="noStrike">
                <a:solidFill>
                  <a:srgbClr val="002060"/>
                </a:solidFill>
              </a:rPr>
              <a:t>automotive electronics</a:t>
            </a:r>
            <a:r>
              <a:rPr i="0" lang="en-US">
                <a:solidFill>
                  <a:srgbClr val="002060"/>
                </a:solidFill>
              </a:rPr>
              <a:t> that </a:t>
            </a:r>
            <a:r>
              <a:rPr i="0" lang="en-US">
                <a:solidFill>
                  <a:srgbClr val="FF0000"/>
                </a:solidFill>
              </a:rPr>
              <a:t>controls one or more of the </a:t>
            </a:r>
            <a:r>
              <a:rPr i="0" lang="en-US" strike="noStrike">
                <a:solidFill>
                  <a:srgbClr val="FF0000"/>
                </a:solidFill>
              </a:rPr>
              <a:t>electrical systems</a:t>
            </a:r>
            <a:r>
              <a:rPr i="0" lang="en-US">
                <a:solidFill>
                  <a:srgbClr val="FF0000"/>
                </a:solidFill>
              </a:rPr>
              <a:t> or subsystems in a vehicle</a:t>
            </a:r>
            <a:r>
              <a:rPr i="0" lang="en-US">
                <a:solidFill>
                  <a:srgbClr val="002060"/>
                </a:solidFill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i="0" lang="en-US">
                <a:solidFill>
                  <a:srgbClr val="002060"/>
                </a:solidFill>
              </a:rPr>
              <a:t>An electronic control unit (ECU) is a small device in a vehicle’s body that is responsible for </a:t>
            </a:r>
            <a:r>
              <a:rPr i="0" lang="en-US">
                <a:solidFill>
                  <a:srgbClr val="FF0000"/>
                </a:solidFill>
              </a:rPr>
              <a:t>controlling a specific function. 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i="0" lang="en-US">
                <a:solidFill>
                  <a:srgbClr val="002060"/>
                </a:solidFill>
              </a:rPr>
              <a:t>ECU receives inputs from different parts of </a:t>
            </a:r>
            <a:r>
              <a:rPr i="0" lang="en-US">
                <a:solidFill>
                  <a:srgbClr val="FF0000"/>
                </a:solidFill>
              </a:rPr>
              <a:t>the vehicle,</a:t>
            </a:r>
            <a:r>
              <a:rPr i="0" lang="en-US">
                <a:solidFill>
                  <a:srgbClr val="002060"/>
                </a:solidFill>
              </a:rPr>
              <a:t> depending on its function.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27063" y="154110"/>
            <a:ext cx="10537874" cy="81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ABS vs without ABS</a:t>
            </a:r>
            <a:endParaRPr/>
          </a:p>
        </p:txBody>
      </p:sp>
      <p:pic>
        <p:nvPicPr>
          <p:cNvPr id="119" name="Google Shape;11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7092" y="1325563"/>
            <a:ext cx="9197816" cy="516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2103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Anti-Lock breaking System</a:t>
            </a:r>
            <a:endParaRPr/>
          </a:p>
        </p:txBody>
      </p:sp>
      <p:pic>
        <p:nvPicPr>
          <p:cNvPr descr="What is the Traction Control System (TCS) in cars? - CarBikeTech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3993" y="1301896"/>
            <a:ext cx="7484013" cy="534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Front and Rear Sensor</a:t>
            </a:r>
            <a:endParaRPr/>
          </a:p>
        </p:txBody>
      </p:sp>
      <p:pic>
        <p:nvPicPr>
          <p:cNvPr id="131" name="Google Shape;13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702" y="1682623"/>
            <a:ext cx="9003321" cy="5161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 rot="-839016">
            <a:off x="7005099" y="4212417"/>
            <a:ext cx="1131202" cy="1182892"/>
          </a:xfrm>
          <a:prstGeom prst="lightningBol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 rot="5160888">
            <a:off x="3874096" y="4107163"/>
            <a:ext cx="1131202" cy="1182892"/>
          </a:xfrm>
          <a:prstGeom prst="lightningBol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 rot="10049369">
            <a:off x="3874096" y="2353418"/>
            <a:ext cx="1131202" cy="1182892"/>
          </a:xfrm>
          <a:prstGeom prst="lightningBol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 rot="-5400000">
            <a:off x="7044414" y="2441622"/>
            <a:ext cx="1131202" cy="1182892"/>
          </a:xfrm>
          <a:prstGeom prst="lightningBol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8201461" y="1230922"/>
            <a:ext cx="2110153" cy="1259059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MICRO-CONTROLLER</a:t>
            </a: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4344572" y="2996420"/>
            <a:ext cx="3502855" cy="1702190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Automotive Embedded System</a:t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1761217" y="5236698"/>
            <a:ext cx="2110153" cy="1259059"/>
          </a:xfrm>
          <a:prstGeom prst="roundRect">
            <a:avLst>
              <a:gd fmla="val 16667" name="adj"/>
            </a:avLst>
          </a:prstGeom>
          <a:solidFill>
            <a:srgbClr val="7F7F7F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DEVICES</a:t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8201461" y="5236699"/>
            <a:ext cx="2110153" cy="1259059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TRANS-RECEIVER</a:t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1711572" y="1230922"/>
            <a:ext cx="2110153" cy="1259059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715617" y="2491911"/>
            <a:ext cx="10721009" cy="2928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6000"/>
              <a:buNone/>
            </a:pPr>
            <a:r>
              <a:rPr lang="en-US" sz="6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PROTOCOL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3C0B"/>
              </a:buClr>
              <a:buSzPts val="3000"/>
              <a:buNone/>
            </a:pPr>
            <a:r>
              <a:rPr lang="en-US" sz="30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(Controller area network)</a:t>
            </a:r>
            <a:endParaRPr sz="3000">
              <a:solidFill>
                <a:srgbClr val="833C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bus is a vehicle bus standard designed to allow microcontroller and devices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communicate with each other in vehicle</a:t>
            </a: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based </a:t>
            </a: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send up to 8 bytes of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present in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physical and data link layer </a:t>
            </a: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OSI layers.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multi-master, multicast </a:t>
            </a: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serial bus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by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 11898-1, 11898-2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E4E79"/>
              </a:buClr>
              <a:buSzPts val="2400"/>
              <a:buChar char="•"/>
            </a:pPr>
            <a:r>
              <a:rPr lang="en-US">
                <a:solidFill>
                  <a:srgbClr val="1E4E7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tolerance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Auto</a:t>
            </a:r>
            <a:r>
              <a:rPr lang="en-US">
                <a:solidFill>
                  <a:srgbClr val="833C0B"/>
                </a:solidFill>
              </a:rPr>
              <a:t> Re-transmit </a:t>
            </a:r>
            <a:r>
              <a:rPr lang="en-US">
                <a:solidFill>
                  <a:srgbClr val="002060"/>
                </a:solidFill>
              </a:rPr>
              <a:t>feature.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1E4E7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838200" y="365125"/>
            <a:ext cx="10515600" cy="802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HISTORY</a:t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reduce communication complexity on automobiles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BOSCH 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starts work on  CAN protocol in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1983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official CAN released in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1986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3C0B"/>
              </a:buClr>
              <a:buSzPts val="2400"/>
              <a:buChar char="•"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 and Philips 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the first manufacture of CAN based microcontroller in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1987.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1991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based first luxury car released by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Mercedes</a:t>
            </a: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Benz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and After CAN</a:t>
            </a:r>
            <a:endParaRPr/>
          </a:p>
        </p:txBody>
      </p:sp>
      <p:pic>
        <p:nvPicPr>
          <p:cNvPr id="167" name="Google Shape;167;p13"/>
          <p:cNvPicPr preferRelativeResize="0"/>
          <p:nvPr/>
        </p:nvPicPr>
        <p:blipFill rotWithShape="1">
          <a:blip r:embed="rId3">
            <a:alphaModFix/>
          </a:blip>
          <a:srcRect b="0" l="34424" r="49966" t="0"/>
          <a:stretch/>
        </p:blipFill>
        <p:spPr>
          <a:xfrm>
            <a:off x="2186608" y="2117849"/>
            <a:ext cx="874643" cy="329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3"/>
          <p:cNvPicPr preferRelativeResize="0"/>
          <p:nvPr/>
        </p:nvPicPr>
        <p:blipFill rotWithShape="1">
          <a:blip r:embed="rId4">
            <a:alphaModFix/>
          </a:blip>
          <a:srcRect b="0" l="0" r="65577" t="0"/>
          <a:stretch/>
        </p:blipFill>
        <p:spPr>
          <a:xfrm>
            <a:off x="257844" y="2117849"/>
            <a:ext cx="1928764" cy="331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3"/>
          <p:cNvPicPr preferRelativeResize="0"/>
          <p:nvPr/>
        </p:nvPicPr>
        <p:blipFill rotWithShape="1">
          <a:blip r:embed="rId5">
            <a:alphaModFix/>
          </a:blip>
          <a:srcRect b="0" l="50032" r="0" t="0"/>
          <a:stretch/>
        </p:blipFill>
        <p:spPr>
          <a:xfrm>
            <a:off x="3061250" y="2117848"/>
            <a:ext cx="2799677" cy="3311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3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36189" r="46792" t="0"/>
          <a:stretch/>
        </p:blipFill>
        <p:spPr>
          <a:xfrm>
            <a:off x="7977809" y="2117849"/>
            <a:ext cx="1020417" cy="3311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3"/>
          <p:cNvPicPr preferRelativeResize="0"/>
          <p:nvPr/>
        </p:nvPicPr>
        <p:blipFill rotWithShape="1">
          <a:blip r:embed="rId7">
            <a:alphaModFix/>
          </a:blip>
          <a:srcRect b="0" l="0" r="63810" t="0"/>
          <a:stretch/>
        </p:blipFill>
        <p:spPr>
          <a:xfrm>
            <a:off x="5807920" y="2117850"/>
            <a:ext cx="2169890" cy="3298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3"/>
          <p:cNvPicPr preferRelativeResize="0"/>
          <p:nvPr/>
        </p:nvPicPr>
        <p:blipFill rotWithShape="1">
          <a:blip r:embed="rId8">
            <a:alphaModFix/>
          </a:blip>
          <a:srcRect b="0" l="53208" r="-1" t="0"/>
          <a:stretch/>
        </p:blipFill>
        <p:spPr>
          <a:xfrm>
            <a:off x="8998226" y="2117849"/>
            <a:ext cx="2805730" cy="3311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 txBox="1"/>
          <p:nvPr>
            <p:ph type="title"/>
          </p:nvPr>
        </p:nvSpPr>
        <p:spPr>
          <a:xfrm>
            <a:off x="855198" y="294788"/>
            <a:ext cx="10481603" cy="957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STRUCTURE </a:t>
            </a:r>
            <a:endParaRPr/>
          </a:p>
        </p:txBody>
      </p:sp>
      <p:pic>
        <p:nvPicPr>
          <p:cNvPr id="178" name="Google Shape;17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0887" y="2653891"/>
            <a:ext cx="8412768" cy="403593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4"/>
          <p:cNvSpPr txBox="1"/>
          <p:nvPr/>
        </p:nvSpPr>
        <p:spPr>
          <a:xfrm>
            <a:off x="2053882" y="1252026"/>
            <a:ext cx="7514187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Dominant 			-	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Recessive			- 	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Dominant voltage level		 -	1.5v to 2.5v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Recessive voltage level		 -	Above 2.5v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169" l="3798" r="4246" t="22059"/>
          <a:stretch/>
        </p:blipFill>
        <p:spPr>
          <a:xfrm>
            <a:off x="2093843" y="1155268"/>
            <a:ext cx="7315201" cy="5322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5"/>
          <p:cNvSpPr txBox="1"/>
          <p:nvPr/>
        </p:nvSpPr>
        <p:spPr>
          <a:xfrm>
            <a:off x="556591" y="318052"/>
            <a:ext cx="108800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WIRED AND LOGIC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>
            <p:ph type="title"/>
          </p:nvPr>
        </p:nvSpPr>
        <p:spPr>
          <a:xfrm>
            <a:off x="998806" y="308854"/>
            <a:ext cx="10354994" cy="619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with different layers in OSI model</a:t>
            </a:r>
            <a:endParaRPr/>
          </a:p>
        </p:txBody>
      </p:sp>
      <p:pic>
        <p:nvPicPr>
          <p:cNvPr id="191" name="Google Shape;191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806" y="1125150"/>
            <a:ext cx="9854897" cy="5283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FRAME FORMATS</a:t>
            </a:r>
            <a:endParaRPr/>
          </a:p>
        </p:txBody>
      </p:sp>
      <p:pic>
        <p:nvPicPr>
          <p:cNvPr id="197" name="Google Shape;19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8909" l="0" r="0" t="0"/>
          <a:stretch/>
        </p:blipFill>
        <p:spPr>
          <a:xfrm>
            <a:off x="1744436" y="2112011"/>
            <a:ext cx="8175347" cy="114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/>
          <p:cNvPicPr preferRelativeResize="0"/>
          <p:nvPr/>
        </p:nvPicPr>
        <p:blipFill rotWithShape="1">
          <a:blip r:embed="rId4">
            <a:alphaModFix/>
          </a:blip>
          <a:srcRect b="0" l="0" r="48879" t="31091"/>
          <a:stretch/>
        </p:blipFill>
        <p:spPr>
          <a:xfrm>
            <a:off x="1744437" y="3220279"/>
            <a:ext cx="4179286" cy="2544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/>
          <p:cNvPicPr preferRelativeResize="0"/>
          <p:nvPr/>
        </p:nvPicPr>
        <p:blipFill rotWithShape="1">
          <a:blip r:embed="rId5">
            <a:alphaModFix/>
          </a:blip>
          <a:srcRect b="0" l="53228" r="0" t="0"/>
          <a:stretch/>
        </p:blipFill>
        <p:spPr>
          <a:xfrm>
            <a:off x="6096000" y="2112011"/>
            <a:ext cx="3823783" cy="36924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FRAMES</a:t>
            </a:r>
            <a:endParaRPr/>
          </a:p>
        </p:txBody>
      </p:sp>
      <p:sp>
        <p:nvSpPr>
          <p:cNvPr id="205" name="Google Shape;20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frame</a:t>
            </a:r>
            <a:endParaRPr/>
          </a:p>
          <a:p>
            <a:pPr indent="-514350" lvl="0" marL="51435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frame</a:t>
            </a:r>
            <a:endParaRPr/>
          </a:p>
          <a:p>
            <a:pPr indent="-514350" lvl="0" marL="51435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frame</a:t>
            </a:r>
            <a:endParaRPr/>
          </a:p>
          <a:p>
            <a:pPr indent="-514350" lvl="0" marL="51435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Overload  frame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2.0A Message (or) Data frame</a:t>
            </a:r>
            <a:endParaRPr/>
          </a:p>
        </p:txBody>
      </p:sp>
      <p:pic>
        <p:nvPicPr>
          <p:cNvPr id="211" name="Google Shape;21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95609" t="0"/>
          <a:stretch/>
        </p:blipFill>
        <p:spPr>
          <a:xfrm>
            <a:off x="374375" y="2202117"/>
            <a:ext cx="463826" cy="302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4564" r="66833" t="0"/>
          <a:stretch/>
        </p:blipFill>
        <p:spPr>
          <a:xfrm>
            <a:off x="838200" y="2202117"/>
            <a:ext cx="3021495" cy="302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32994" r="53614" t="0"/>
          <a:stretch/>
        </p:blipFill>
        <p:spPr>
          <a:xfrm>
            <a:off x="3859694" y="2202117"/>
            <a:ext cx="1414671" cy="302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 rotWithShape="1">
          <a:blip r:embed="rId6">
            <a:alphaModFix/>
          </a:blip>
          <a:srcRect b="0" l="46385" r="33794" t="0"/>
          <a:stretch/>
        </p:blipFill>
        <p:spPr>
          <a:xfrm>
            <a:off x="5274364" y="2202117"/>
            <a:ext cx="2093845" cy="302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 rotWithShape="1">
          <a:blip r:embed="rId7">
            <a:alphaModFix/>
          </a:blip>
          <a:srcRect b="0" l="66207" r="23004" t="0"/>
          <a:stretch/>
        </p:blipFill>
        <p:spPr>
          <a:xfrm>
            <a:off x="7368209" y="2202117"/>
            <a:ext cx="1139688" cy="302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 rotWithShape="1">
          <a:blip r:embed="rId7">
            <a:alphaModFix/>
          </a:blip>
          <a:srcRect b="0" l="76996" r="18738" t="0"/>
          <a:stretch/>
        </p:blipFill>
        <p:spPr>
          <a:xfrm>
            <a:off x="8507897" y="2202117"/>
            <a:ext cx="450574" cy="3020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/>
          <p:cNvPicPr preferRelativeResize="0"/>
          <p:nvPr/>
        </p:nvPicPr>
        <p:blipFill rotWithShape="1">
          <a:blip r:embed="rId7">
            <a:alphaModFix/>
          </a:blip>
          <a:srcRect b="0" l="81260" r="1678" t="0"/>
          <a:stretch/>
        </p:blipFill>
        <p:spPr>
          <a:xfrm>
            <a:off x="8958470" y="2202117"/>
            <a:ext cx="1802295" cy="302022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993914" y="5060625"/>
            <a:ext cx="773927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RTR	-	 	Remote Transfer 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 	-		Identifier Extension Bit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DLC 	-		Data Length Code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CRC	- 		Cyclic Redundancy Check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EOF	-		 End Of Frame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/>
          <p:nvPr>
            <p:ph type="title"/>
          </p:nvPr>
        </p:nvSpPr>
        <p:spPr>
          <a:xfrm>
            <a:off x="838199" y="365125"/>
            <a:ext cx="1109120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2.0 B </a:t>
            </a:r>
            <a:r>
              <a:rPr lang="en-US"/>
              <a:t>Message Extened Message Frame</a:t>
            </a:r>
            <a:endParaRPr>
              <a:solidFill>
                <a:srgbClr val="833C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96517" t="0"/>
          <a:stretch/>
        </p:blipFill>
        <p:spPr>
          <a:xfrm>
            <a:off x="801126" y="2226365"/>
            <a:ext cx="351814" cy="333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/>
          <p:cNvPicPr preferRelativeResize="0"/>
          <p:nvPr/>
        </p:nvPicPr>
        <p:blipFill rotWithShape="1">
          <a:blip r:embed="rId4">
            <a:alphaModFix/>
          </a:blip>
          <a:srcRect b="0" l="3482" r="70276" t="0"/>
          <a:stretch/>
        </p:blipFill>
        <p:spPr>
          <a:xfrm>
            <a:off x="1152940" y="2226365"/>
            <a:ext cx="2650434" cy="333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/>
          <p:cNvPicPr preferRelativeResize="0"/>
          <p:nvPr/>
        </p:nvPicPr>
        <p:blipFill rotWithShape="1">
          <a:blip r:embed="rId5">
            <a:alphaModFix/>
          </a:blip>
          <a:srcRect b="0" l="29724" r="66793" t="0"/>
          <a:stretch/>
        </p:blipFill>
        <p:spPr>
          <a:xfrm>
            <a:off x="3803374" y="2226365"/>
            <a:ext cx="351814" cy="333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/>
          <p:cNvPicPr preferRelativeResize="0"/>
          <p:nvPr/>
        </p:nvPicPr>
        <p:blipFill rotWithShape="1">
          <a:blip r:embed="rId6">
            <a:alphaModFix/>
          </a:blip>
          <a:srcRect b="0" l="33208" r="53219" t="0"/>
          <a:stretch/>
        </p:blipFill>
        <p:spPr>
          <a:xfrm>
            <a:off x="4155188" y="2226365"/>
            <a:ext cx="1370969" cy="333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/>
          <p:cNvPicPr preferRelativeResize="0"/>
          <p:nvPr/>
        </p:nvPicPr>
        <p:blipFill rotWithShape="1">
          <a:blip r:embed="rId6">
            <a:alphaModFix/>
          </a:blip>
          <a:srcRect b="0" l="46781" r="33144" t="0"/>
          <a:stretch/>
        </p:blipFill>
        <p:spPr>
          <a:xfrm>
            <a:off x="5526158" y="2226365"/>
            <a:ext cx="2027582" cy="333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/>
          <p:cNvPicPr preferRelativeResize="0"/>
          <p:nvPr/>
        </p:nvPicPr>
        <p:blipFill rotWithShape="1">
          <a:blip r:embed="rId6">
            <a:alphaModFix/>
          </a:blip>
          <a:srcRect b="0" l="66856" r="1130" t="0"/>
          <a:stretch/>
        </p:blipFill>
        <p:spPr>
          <a:xfrm>
            <a:off x="7553740" y="2226365"/>
            <a:ext cx="3233530" cy="3334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Message Arbitration</a:t>
            </a:r>
            <a:endParaRPr/>
          </a:p>
        </p:txBody>
      </p:sp>
      <p:pic>
        <p:nvPicPr>
          <p:cNvPr id="235" name="Google Shape;235;p21"/>
          <p:cNvPicPr preferRelativeResize="0"/>
          <p:nvPr/>
        </p:nvPicPr>
        <p:blipFill rotWithShape="1">
          <a:blip r:embed="rId3">
            <a:alphaModFix/>
          </a:blip>
          <a:srcRect b="16905" l="34262" r="35306" t="56876"/>
          <a:stretch/>
        </p:blipFill>
        <p:spPr>
          <a:xfrm>
            <a:off x="1965373" y="1798317"/>
            <a:ext cx="8746790" cy="423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1016000" y="351058"/>
            <a:ext cx="10337800" cy="941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 master  arbitration Data frame</a:t>
            </a:r>
            <a:endParaRPr/>
          </a:p>
        </p:txBody>
      </p:sp>
      <p:pic>
        <p:nvPicPr>
          <p:cNvPr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94684" t="0"/>
          <a:stretch/>
        </p:blipFill>
        <p:spPr>
          <a:xfrm>
            <a:off x="1527310" y="1484033"/>
            <a:ext cx="533719" cy="5136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5315" r="80325" t="0"/>
          <a:stretch/>
        </p:blipFill>
        <p:spPr>
          <a:xfrm>
            <a:off x="2061028" y="1484033"/>
            <a:ext cx="1441827" cy="5136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5">
            <a:alphaModFix/>
          </a:blip>
          <a:srcRect b="0" l="19676" r="76120" t="0"/>
          <a:stretch/>
        </p:blipFill>
        <p:spPr>
          <a:xfrm>
            <a:off x="3502855" y="1484033"/>
            <a:ext cx="422032" cy="5136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/>
          <p:cNvPicPr preferRelativeResize="0"/>
          <p:nvPr/>
        </p:nvPicPr>
        <p:blipFill rotWithShape="1">
          <a:blip r:embed="rId6">
            <a:alphaModFix/>
          </a:blip>
          <a:srcRect b="0" l="23879" r="70095" t="0"/>
          <a:stretch/>
        </p:blipFill>
        <p:spPr>
          <a:xfrm>
            <a:off x="3924886" y="1484033"/>
            <a:ext cx="604911" cy="5136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 rotWithShape="1">
          <a:blip r:embed="rId7">
            <a:alphaModFix/>
          </a:blip>
          <a:srcRect b="0" l="29903" r="9532" t="0"/>
          <a:stretch/>
        </p:blipFill>
        <p:spPr>
          <a:xfrm>
            <a:off x="4529796" y="1484033"/>
            <a:ext cx="6080899" cy="5136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8">
            <a:alphaModFix/>
          </a:blip>
          <a:srcRect b="67819" l="89730" r="2131" t="0"/>
          <a:stretch/>
        </p:blipFill>
        <p:spPr>
          <a:xfrm>
            <a:off x="10610697" y="3429000"/>
            <a:ext cx="817098" cy="1653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9">
            <a:alphaModFix/>
          </a:blip>
          <a:srcRect b="67819" l="90467" r="0" t="0"/>
          <a:stretch/>
        </p:blipFill>
        <p:spPr>
          <a:xfrm>
            <a:off x="10610696" y="1484033"/>
            <a:ext cx="957189" cy="1653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10">
            <a:alphaModFix/>
          </a:blip>
          <a:srcRect b="0" l="90467" r="0" t="67818"/>
          <a:stretch/>
        </p:blipFill>
        <p:spPr>
          <a:xfrm>
            <a:off x="10610696" y="4967723"/>
            <a:ext cx="957190" cy="165306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68812" y="2166425"/>
            <a:ext cx="14124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1 (11bit)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88949" y="3241915"/>
            <a:ext cx="14124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2 (11bit)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234944" y="4317406"/>
            <a:ext cx="14124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3 (29 bit)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218015" y="5356334"/>
            <a:ext cx="141249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 4 (29bit)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8" name="Google Shape;258;p23"/>
          <p:cNvCxnSpPr/>
          <p:nvPr/>
        </p:nvCxnSpPr>
        <p:spPr>
          <a:xfrm>
            <a:off x="2115403" y="2634018"/>
            <a:ext cx="847526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9" name="Google Shape;259;p23"/>
          <p:cNvCxnSpPr/>
          <p:nvPr/>
        </p:nvCxnSpPr>
        <p:spPr>
          <a:xfrm>
            <a:off x="2115403" y="4082955"/>
            <a:ext cx="847526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0" name="Google Shape;260;p23"/>
          <p:cNvSpPr/>
          <p:nvPr/>
        </p:nvSpPr>
        <p:spPr>
          <a:xfrm>
            <a:off x="3295369" y="4679214"/>
            <a:ext cx="1882250" cy="940040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857999" y="4675515"/>
            <a:ext cx="2033503" cy="940041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7192370" y="4882624"/>
            <a:ext cx="1091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3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3572296" y="4992791"/>
            <a:ext cx="1091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1</a:t>
            </a:r>
            <a:endParaRPr/>
          </a:p>
        </p:txBody>
      </p:sp>
      <p:cxnSp>
        <p:nvCxnSpPr>
          <p:cNvPr id="264" name="Google Shape;264;p23"/>
          <p:cNvCxnSpPr/>
          <p:nvPr/>
        </p:nvCxnSpPr>
        <p:spPr>
          <a:xfrm>
            <a:off x="4039737" y="2634018"/>
            <a:ext cx="0" cy="20326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" name="Google Shape;265;p23"/>
          <p:cNvCxnSpPr/>
          <p:nvPr/>
        </p:nvCxnSpPr>
        <p:spPr>
          <a:xfrm rot="10800000">
            <a:off x="4913195" y="4110160"/>
            <a:ext cx="0" cy="58369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6" name="Google Shape;266;p23"/>
          <p:cNvCxnSpPr/>
          <p:nvPr/>
        </p:nvCxnSpPr>
        <p:spPr>
          <a:xfrm rot="10800000">
            <a:off x="7192370" y="4082956"/>
            <a:ext cx="0" cy="58369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7" name="Google Shape;267;p23"/>
          <p:cNvCxnSpPr/>
          <p:nvPr/>
        </p:nvCxnSpPr>
        <p:spPr>
          <a:xfrm rot="10800000">
            <a:off x="8079475" y="2621526"/>
            <a:ext cx="0" cy="207233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8" name="Google Shape;268;p23"/>
          <p:cNvCxnSpPr/>
          <p:nvPr/>
        </p:nvCxnSpPr>
        <p:spPr>
          <a:xfrm>
            <a:off x="6857999" y="2224585"/>
            <a:ext cx="0" cy="185837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9" name="Google Shape;269;p23"/>
          <p:cNvCxnSpPr/>
          <p:nvPr/>
        </p:nvCxnSpPr>
        <p:spPr>
          <a:xfrm>
            <a:off x="7472144" y="2224585"/>
            <a:ext cx="0" cy="39694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0" name="Google Shape;270;p23"/>
          <p:cNvSpPr txBox="1"/>
          <p:nvPr/>
        </p:nvSpPr>
        <p:spPr>
          <a:xfrm>
            <a:off x="1678675" y="2167202"/>
            <a:ext cx="13101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CAN H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323835" y="3898289"/>
            <a:ext cx="13101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CAN L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6455392" y="1286656"/>
            <a:ext cx="2033503" cy="940041"/>
          </a:xfrm>
          <a:prstGeom prst="rect">
            <a:avLst/>
          </a:prstGeom>
          <a:solidFill>
            <a:srgbClr val="92D05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6936481" y="1621954"/>
            <a:ext cx="10918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2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2442950" y="4992791"/>
            <a:ext cx="69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606606" y="1572010"/>
            <a:ext cx="69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5639377" y="1605874"/>
            <a:ext cx="69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9074908" y="4980687"/>
            <a:ext cx="69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133526" y="4992791"/>
            <a:ext cx="69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162838" y="4992791"/>
            <a:ext cx="6983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2197298" y="2969862"/>
            <a:ext cx="518600" cy="83609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10101626" y="3010953"/>
            <a:ext cx="518600" cy="83609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3"/>
          <p:cNvCxnSpPr>
            <a:stCxn id="280" idx="0"/>
          </p:cNvCxnSpPr>
          <p:nvPr/>
        </p:nvCxnSpPr>
        <p:spPr>
          <a:xfrm rot="10800000">
            <a:off x="2456598" y="2640462"/>
            <a:ext cx="0" cy="32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3" name="Google Shape;283;p23"/>
          <p:cNvCxnSpPr/>
          <p:nvPr/>
        </p:nvCxnSpPr>
        <p:spPr>
          <a:xfrm>
            <a:off x="2450058" y="3791877"/>
            <a:ext cx="6540" cy="29107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4" name="Google Shape;284;p23"/>
          <p:cNvCxnSpPr>
            <a:stCxn id="281" idx="2"/>
          </p:cNvCxnSpPr>
          <p:nvPr/>
        </p:nvCxnSpPr>
        <p:spPr>
          <a:xfrm>
            <a:off x="10360926" y="3847047"/>
            <a:ext cx="9900" cy="24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5" name="Google Shape;285;p23"/>
          <p:cNvCxnSpPr>
            <a:stCxn id="281" idx="0"/>
            <a:endCxn id="281" idx="0"/>
          </p:cNvCxnSpPr>
          <p:nvPr/>
        </p:nvCxnSpPr>
        <p:spPr>
          <a:xfrm>
            <a:off x="10360926" y="3010953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6" name="Google Shape;286;p23"/>
          <p:cNvCxnSpPr>
            <a:endCxn id="281" idx="0"/>
          </p:cNvCxnSpPr>
          <p:nvPr/>
        </p:nvCxnSpPr>
        <p:spPr>
          <a:xfrm>
            <a:off x="10360926" y="2634153"/>
            <a:ext cx="0" cy="37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p23"/>
          <p:cNvSpPr txBox="1"/>
          <p:nvPr/>
        </p:nvSpPr>
        <p:spPr>
          <a:xfrm>
            <a:off x="2363056" y="3085301"/>
            <a:ext cx="200024" cy="660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10270808" y="3122177"/>
            <a:ext cx="200024" cy="660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</a:t>
            </a:r>
            <a:endParaRPr/>
          </a:p>
        </p:txBody>
      </p:sp>
      <p:sp>
        <p:nvSpPr>
          <p:cNvPr id="289" name="Google Shape;289;p23"/>
          <p:cNvSpPr/>
          <p:nvPr/>
        </p:nvSpPr>
        <p:spPr>
          <a:xfrm rot="10800000">
            <a:off x="4236494" y="3452382"/>
            <a:ext cx="205848" cy="12142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5738886" y="2044462"/>
            <a:ext cx="8086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6464636" y="2238112"/>
            <a:ext cx="205848" cy="12142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6893836" y="2306230"/>
            <a:ext cx="5356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7617146" y="2634721"/>
            <a:ext cx="51520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bit error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8488895" y="854118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2511406" y="5398445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5818751" y="824950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9215949" y="5323061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6209104" y="5421598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5331125" y="5306368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4840603" y="1975206"/>
            <a:ext cx="8222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1+8=9</a:t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 rot="10800000">
            <a:off x="7309150" y="3414970"/>
            <a:ext cx="205848" cy="121427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9256806" y="5790930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2503323" y="5910018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6316778" y="801234"/>
            <a:ext cx="6488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6395303" y="5851172"/>
            <a:ext cx="209359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REC or TEC &lt;=128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becomes a passive error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9674840" y="5975596"/>
            <a:ext cx="231662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REC or TEC &lt;=256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goes to bus off state</a:t>
            </a:r>
            <a:endParaRPr/>
          </a:p>
        </p:txBody>
      </p:sp>
      <p:sp>
        <p:nvSpPr>
          <p:cNvPr id="307" name="Google Shape;307;p23"/>
          <p:cNvSpPr txBox="1"/>
          <p:nvPr>
            <p:ph type="title"/>
          </p:nvPr>
        </p:nvSpPr>
        <p:spPr>
          <a:xfrm>
            <a:off x="875726" y="167683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Confinement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859" y="1698347"/>
            <a:ext cx="9994282" cy="393960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>
            <p:ph type="title"/>
          </p:nvPr>
        </p:nvSpPr>
        <p:spPr>
          <a:xfrm>
            <a:off x="838200" y="365125"/>
            <a:ext cx="10515600" cy="10131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Fault Confinement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Diagnostics</a:t>
            </a:r>
            <a:endParaRPr/>
          </a:p>
        </p:txBody>
      </p:sp>
      <p:pic>
        <p:nvPicPr>
          <p:cNvPr id="319" name="Google Shape;319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716896"/>
            <a:ext cx="6096000" cy="3434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20" y="2932027"/>
            <a:ext cx="5673543" cy="222086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1167618" y="1519311"/>
            <a:ext cx="110243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Root cause in defects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"/>
          <p:cNvSpPr txBox="1"/>
          <p:nvPr>
            <p:ph type="title"/>
          </p:nvPr>
        </p:nvSpPr>
        <p:spPr>
          <a:xfrm>
            <a:off x="838200" y="6826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Why Diagnostics?</a:t>
            </a:r>
            <a:endParaRPr/>
          </a:p>
        </p:txBody>
      </p:sp>
      <p:sp>
        <p:nvSpPr>
          <p:cNvPr id="327" name="Google Shape;327;p26"/>
          <p:cNvSpPr txBox="1"/>
          <p:nvPr>
            <p:ph idx="1" type="body"/>
          </p:nvPr>
        </p:nvSpPr>
        <p:spPr>
          <a:xfrm>
            <a:off x="1384300" y="2270125"/>
            <a:ext cx="6248400" cy="3025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Identify </a:t>
            </a:r>
            <a:r>
              <a:rPr lang="en-US" sz="2800">
                <a:solidFill>
                  <a:srgbClr val="FF0000"/>
                </a:solidFill>
              </a:rPr>
              <a:t>defective</a:t>
            </a:r>
            <a:r>
              <a:rPr lang="en-US" sz="2800">
                <a:solidFill>
                  <a:srgbClr val="002060"/>
                </a:solidFill>
              </a:rPr>
              <a:t> components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Provide backup values to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Maintain </a:t>
            </a:r>
            <a:r>
              <a:rPr lang="en-US" sz="2800">
                <a:solidFill>
                  <a:srgbClr val="FF0000"/>
                </a:solidFill>
              </a:rPr>
              <a:t>safe driving</a:t>
            </a:r>
            <a:endParaRPr sz="2800">
              <a:solidFill>
                <a:srgbClr val="002060"/>
              </a:solidFill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Minimize </a:t>
            </a:r>
            <a:r>
              <a:rPr lang="en-US" sz="2800">
                <a:solidFill>
                  <a:srgbClr val="FF0000"/>
                </a:solidFill>
              </a:rPr>
              <a:t>Emission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rgbClr val="FF0000"/>
                </a:solidFill>
              </a:rPr>
              <a:t>Report problem </a:t>
            </a:r>
            <a:r>
              <a:rPr lang="en-US" sz="2800">
                <a:solidFill>
                  <a:srgbClr val="002060"/>
                </a:solidFill>
              </a:rPr>
              <a:t>to driver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Diagnostic tester</a:t>
            </a:r>
            <a:endParaRPr/>
          </a:p>
        </p:txBody>
      </p:sp>
      <p:pic>
        <p:nvPicPr>
          <p:cNvPr id="333" name="Google Shape;3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8266" y="785275"/>
            <a:ext cx="5188707" cy="5850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XWELL NT510 for BMW OBD2 Scanners Car Code Reader All System Automotive  Diagnostic Scan Tool with EPB SAS TPS Oil Service Reset Battery  Registration, Battery Testers - Amazon Canada" id="334" name="Google Shape;3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747" y="2243772"/>
            <a:ext cx="1648966" cy="1919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10 Best OBD2 Scanners in 2020 - Buyer's Guide" id="335" name="Google Shape;33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47912" y="3710353"/>
            <a:ext cx="2614041" cy="249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Goal of diagnostic communication</a:t>
            </a:r>
            <a:endParaRPr/>
          </a:p>
        </p:txBody>
      </p:sp>
      <p:sp>
        <p:nvSpPr>
          <p:cNvPr id="341" name="Google Shape;341;p28"/>
          <p:cNvSpPr txBox="1"/>
          <p:nvPr>
            <p:ph idx="1" type="body"/>
          </p:nvPr>
        </p:nvSpPr>
        <p:spPr>
          <a:xfrm>
            <a:off x="838200" y="1825625"/>
            <a:ext cx="6705600" cy="269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Fulfilling its </a:t>
            </a:r>
            <a:r>
              <a:rPr lang="en-US" sz="2800">
                <a:solidFill>
                  <a:srgbClr val="FF0000"/>
                </a:solidFill>
              </a:rPr>
              <a:t>controlling</a:t>
            </a:r>
            <a:r>
              <a:rPr lang="en-US" sz="2800">
                <a:solidFill>
                  <a:srgbClr val="002060"/>
                </a:solidFill>
              </a:rPr>
              <a:t> functionality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Observation of control unit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Check </a:t>
            </a:r>
            <a:r>
              <a:rPr lang="en-US" sz="2800">
                <a:solidFill>
                  <a:srgbClr val="FF0000"/>
                </a:solidFill>
              </a:rPr>
              <a:t>reaction</a:t>
            </a:r>
            <a:r>
              <a:rPr lang="en-US" sz="2800">
                <a:solidFill>
                  <a:srgbClr val="002060"/>
                </a:solidFill>
              </a:rPr>
              <a:t> of control unit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Check and </a:t>
            </a:r>
            <a:r>
              <a:rPr lang="en-US" sz="2800">
                <a:solidFill>
                  <a:srgbClr val="FF0000"/>
                </a:solidFill>
              </a:rPr>
              <a:t>filter incoming </a:t>
            </a:r>
            <a:r>
              <a:rPr lang="en-US" sz="2800">
                <a:solidFill>
                  <a:srgbClr val="002060"/>
                </a:solidFill>
              </a:rPr>
              <a:t>signal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Read Error Memory (Source of error)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347" name="Google Shape;347;p29"/>
          <p:cNvSpPr txBox="1"/>
          <p:nvPr>
            <p:ph idx="1" type="body"/>
          </p:nvPr>
        </p:nvSpPr>
        <p:spPr>
          <a:xfrm>
            <a:off x="2849880" y="2544689"/>
            <a:ext cx="5970563" cy="1212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KWP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UDS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KWP (Keyword Protocol)</a:t>
            </a:r>
            <a:endParaRPr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KWP2000 or Keyword protocol 2000 is a </a:t>
            </a:r>
            <a:r>
              <a:rPr lang="en-US" sz="2800">
                <a:solidFill>
                  <a:srgbClr val="FF0000"/>
                </a:solidFill>
              </a:rPr>
              <a:t>on board diagnosis </a:t>
            </a:r>
            <a:r>
              <a:rPr lang="en-US" sz="2800">
                <a:solidFill>
                  <a:srgbClr val="002060"/>
                </a:solidFill>
              </a:rPr>
              <a:t>(OBD) protocol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ISO </a:t>
            </a:r>
            <a:r>
              <a:rPr lang="en-US" sz="2800">
                <a:solidFill>
                  <a:srgbClr val="FF0000"/>
                </a:solidFill>
              </a:rPr>
              <a:t>14230</a:t>
            </a:r>
            <a:r>
              <a:rPr lang="en-US" sz="2800">
                <a:solidFill>
                  <a:srgbClr val="002060"/>
                </a:solidFill>
              </a:rPr>
              <a:t> Standard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Compatible with </a:t>
            </a:r>
            <a:r>
              <a:rPr lang="en-US" sz="2800">
                <a:solidFill>
                  <a:srgbClr val="FF0000"/>
                </a:solidFill>
              </a:rPr>
              <a:t>K-LINE (ISO 9141)</a:t>
            </a:r>
            <a:r>
              <a:rPr lang="en-US" sz="2800">
                <a:solidFill>
                  <a:srgbClr val="002060"/>
                </a:solidFill>
              </a:rPr>
              <a:t> and </a:t>
            </a:r>
            <a:r>
              <a:rPr lang="en-US" sz="2800">
                <a:solidFill>
                  <a:srgbClr val="FF0000"/>
                </a:solidFill>
              </a:rPr>
              <a:t>CAN (ISO 11898)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Data rate of KWP is between </a:t>
            </a:r>
            <a:r>
              <a:rPr lang="en-US" sz="2800">
                <a:solidFill>
                  <a:srgbClr val="FF0000"/>
                </a:solidFill>
              </a:rPr>
              <a:t>1.2 and 10.4 kilo baud</a:t>
            </a:r>
            <a:r>
              <a:rPr lang="en-US" sz="2800">
                <a:solidFill>
                  <a:srgbClr val="002060"/>
                </a:solidFill>
              </a:rPr>
              <a:t> and data fields up to </a:t>
            </a:r>
            <a:r>
              <a:rPr lang="en-US" sz="2800">
                <a:solidFill>
                  <a:srgbClr val="FF0000"/>
                </a:solidFill>
              </a:rPr>
              <a:t>255 bytes.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>
            <p:ph type="title"/>
          </p:nvPr>
        </p:nvSpPr>
        <p:spPr>
          <a:xfrm>
            <a:off x="838199" y="365125"/>
            <a:ext cx="10894255" cy="1097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Standard Protocol Tester Communication (SAE)</a:t>
            </a:r>
            <a:endParaRPr/>
          </a:p>
        </p:txBody>
      </p:sp>
      <p:pic>
        <p:nvPicPr>
          <p:cNvPr id="359" name="Google Shape;359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139" l="1711" r="2199" t="2290"/>
          <a:stretch/>
        </p:blipFill>
        <p:spPr>
          <a:xfrm>
            <a:off x="1308295" y="1463040"/>
            <a:ext cx="9481626" cy="519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UDS (Unified Diagnostic Services) </a:t>
            </a:r>
            <a:endParaRPr/>
          </a:p>
        </p:txBody>
      </p:sp>
      <p:sp>
        <p:nvSpPr>
          <p:cNvPr id="365" name="Google Shape;365;p32"/>
          <p:cNvSpPr txBox="1"/>
          <p:nvPr>
            <p:ph idx="1" type="body"/>
          </p:nvPr>
        </p:nvSpPr>
        <p:spPr>
          <a:xfrm>
            <a:off x="407963" y="2346131"/>
            <a:ext cx="11676184" cy="2521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To unify all the diagnostics standards that existed previously.</a:t>
            </a:r>
            <a:endParaRPr sz="2800"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 sz="2800">
                <a:solidFill>
                  <a:srgbClr val="FF0000"/>
                </a:solidFill>
              </a:rPr>
              <a:t>Off board </a:t>
            </a:r>
            <a:r>
              <a:rPr lang="en-US" sz="2800">
                <a:solidFill>
                  <a:srgbClr val="002060"/>
                </a:solidFill>
              </a:rPr>
              <a:t>Diagnostic Service Protocol with ISO standard 14229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Designed with combo of </a:t>
            </a:r>
            <a:r>
              <a:rPr lang="en-US" sz="2800">
                <a:solidFill>
                  <a:srgbClr val="FF0000"/>
                </a:solidFill>
              </a:rPr>
              <a:t>IS014230-3</a:t>
            </a:r>
            <a:r>
              <a:rPr lang="en-US" sz="2800">
                <a:solidFill>
                  <a:srgbClr val="002060"/>
                </a:solidFill>
              </a:rPr>
              <a:t>(KWP2000) and </a:t>
            </a:r>
            <a:r>
              <a:rPr lang="en-US" sz="2800">
                <a:solidFill>
                  <a:srgbClr val="FF0000"/>
                </a:solidFill>
              </a:rPr>
              <a:t>ISO15765-3</a:t>
            </a:r>
            <a:r>
              <a:rPr lang="en-US" sz="2800">
                <a:solidFill>
                  <a:srgbClr val="002060"/>
                </a:solidFill>
              </a:rPr>
              <a:t> (DoCAN)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Message Size </a:t>
            </a:r>
            <a:r>
              <a:rPr lang="en-US" sz="2800">
                <a:solidFill>
                  <a:srgbClr val="FF0000"/>
                </a:solidFill>
              </a:rPr>
              <a:t>8 bytes </a:t>
            </a:r>
            <a:r>
              <a:rPr lang="en-US" sz="2800">
                <a:solidFill>
                  <a:srgbClr val="002060"/>
                </a:solidFill>
              </a:rPr>
              <a:t>(max)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Compatible with </a:t>
            </a:r>
            <a:r>
              <a:rPr lang="en-US" sz="2800">
                <a:solidFill>
                  <a:srgbClr val="FF0000"/>
                </a:solidFill>
              </a:rPr>
              <a:t>CAN</a:t>
            </a:r>
            <a:r>
              <a:rPr lang="en-US" sz="2800">
                <a:solidFill>
                  <a:srgbClr val="002060"/>
                </a:solidFill>
              </a:rPr>
              <a:t> and </a:t>
            </a:r>
            <a:r>
              <a:rPr lang="en-US" sz="2800">
                <a:solidFill>
                  <a:srgbClr val="FF0000"/>
                </a:solidFill>
              </a:rPr>
              <a:t>LIN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UDS Workings</a:t>
            </a:r>
            <a:endParaRPr/>
          </a:p>
        </p:txBody>
      </p:sp>
      <p:pic>
        <p:nvPicPr>
          <p:cNvPr descr="Electronic engine control unit" id="371" name="Google Shape;3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5595" y="2053387"/>
            <a:ext cx="2710621" cy="15258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10 Best OBD2 Scanners in 2020 - Buyer's Guide" id="372" name="Google Shape;37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174" y="1930751"/>
            <a:ext cx="1569781" cy="14978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p33"/>
          <p:cNvCxnSpPr/>
          <p:nvPr/>
        </p:nvCxnSpPr>
        <p:spPr>
          <a:xfrm>
            <a:off x="2824829" y="2440402"/>
            <a:ext cx="595038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4" name="Google Shape;374;p33"/>
          <p:cNvCxnSpPr/>
          <p:nvPr/>
        </p:nvCxnSpPr>
        <p:spPr>
          <a:xfrm rot="10800000">
            <a:off x="2913924" y="3377775"/>
            <a:ext cx="5950388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5" name="Google Shape;375;p33"/>
          <p:cNvSpPr txBox="1"/>
          <p:nvPr/>
        </p:nvSpPr>
        <p:spPr>
          <a:xfrm>
            <a:off x="4394610" y="1930751"/>
            <a:ext cx="133882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4394610" y="2840987"/>
            <a:ext cx="15584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1255048" y="3727449"/>
            <a:ext cx="10599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9482426" y="3731167"/>
            <a:ext cx="112242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</a:t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3905573" y="3941963"/>
            <a:ext cx="5255271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for Data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some Data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Test and get results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Flashing a Program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Clearing Memory and more..,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838200" y="3088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SID (Service Identifiers)</a:t>
            </a:r>
            <a:endParaRPr/>
          </a:p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1026942" y="1825624"/>
            <a:ext cx="10326858" cy="3477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Service Identifier describes a </a:t>
            </a:r>
            <a:r>
              <a:rPr lang="en-US" sz="2800">
                <a:solidFill>
                  <a:srgbClr val="FF0000"/>
                </a:solidFill>
              </a:rPr>
              <a:t>type of service </a:t>
            </a:r>
            <a:r>
              <a:rPr lang="en-US" sz="2800">
                <a:solidFill>
                  <a:srgbClr val="002060"/>
                </a:solidFill>
              </a:rPr>
              <a:t>required form client to server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Length :</a:t>
            </a:r>
            <a:r>
              <a:rPr lang="en-US" sz="2800">
                <a:solidFill>
                  <a:srgbClr val="FF0000"/>
                </a:solidFill>
              </a:rPr>
              <a:t>1 byte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Range :</a:t>
            </a:r>
            <a:r>
              <a:rPr lang="en-US" sz="2800">
                <a:solidFill>
                  <a:srgbClr val="FF0000"/>
                </a:solidFill>
              </a:rPr>
              <a:t>0X00 to 0X3E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It will be present always a </a:t>
            </a:r>
            <a:r>
              <a:rPr lang="en-US" sz="2800">
                <a:solidFill>
                  <a:srgbClr val="FF0000"/>
                </a:solidFill>
              </a:rPr>
              <a:t>1</a:t>
            </a:r>
            <a:r>
              <a:rPr baseline="30000" lang="en-US" sz="2800">
                <a:solidFill>
                  <a:srgbClr val="FF0000"/>
                </a:solidFill>
              </a:rPr>
              <a:t>st</a:t>
            </a:r>
            <a:r>
              <a:rPr lang="en-US" sz="2800">
                <a:solidFill>
                  <a:srgbClr val="FF0000"/>
                </a:solidFill>
              </a:rPr>
              <a:t> byte</a:t>
            </a:r>
            <a:r>
              <a:rPr lang="en-US" sz="2800">
                <a:solidFill>
                  <a:srgbClr val="002060"/>
                </a:solidFill>
              </a:rPr>
              <a:t> of Service request message and its </a:t>
            </a:r>
            <a:r>
              <a:rPr lang="en-US" sz="2800">
                <a:solidFill>
                  <a:srgbClr val="FF0000"/>
                </a:solidFill>
              </a:rPr>
              <a:t>mandatory.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services in UDS" id="390" name="Google Shape;3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5108" y="21690"/>
            <a:ext cx="8716849" cy="68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CAPL Script</a:t>
            </a:r>
            <a:endParaRPr/>
          </a:p>
        </p:txBody>
      </p:sp>
      <p:sp>
        <p:nvSpPr>
          <p:cNvPr id="396" name="Google Shape;396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CAPL  - CAN Access Programming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Similar to 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D</a:t>
            </a:r>
            <a:r>
              <a:rPr b="0" i="0" lang="en-US" sz="2800">
                <a:solidFill>
                  <a:srgbClr val="002060"/>
                </a:solidFill>
              </a:rPr>
              <a:t>eveloped by Vector Informatik.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>
                <a:solidFill>
                  <a:srgbClr val="002060"/>
                </a:solidFill>
              </a:rPr>
              <a:t>The execution of program blocks is controlled by events.</a:t>
            </a:r>
            <a:endParaRPr sz="2800">
              <a:solidFill>
                <a:srgbClr val="00206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>
                <a:solidFill>
                  <a:srgbClr val="002060"/>
                </a:solidFill>
              </a:rPr>
              <a:t>CAPL programs are developed and compiled in a dedicated browser.</a:t>
            </a:r>
            <a:endParaRPr sz="2800">
              <a:solidFill>
                <a:srgbClr val="002060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i="0" lang="en-US" sz="2800" u="none" cap="none" strike="noStrike">
                <a:solidFill>
                  <a:srgbClr val="002060"/>
                </a:solidFill>
              </a:rPr>
              <a:t>CAPL Program Organization</a:t>
            </a:r>
            <a:endParaRPr sz="2800">
              <a:solidFill>
                <a:srgbClr val="002060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i="0" lang="en-US" sz="2800" u="none" cap="none" strike="noStrike">
                <a:solidFill>
                  <a:srgbClr val="002060"/>
                </a:solidFill>
              </a:rPr>
              <a:t>            1. Global Variable Declarations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i="0" lang="en-US" sz="2800" u="none" cap="none" strike="noStrike">
                <a:solidFill>
                  <a:srgbClr val="002060"/>
                </a:solidFill>
              </a:rPr>
              <a:t>            2. Event Procedures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i="0" lang="en-US" sz="2800" u="none" cap="none" strike="noStrike">
                <a:solidFill>
                  <a:srgbClr val="002060"/>
                </a:solidFill>
              </a:rPr>
              <a:t>            3. User-Defined Functions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type="title"/>
          </p:nvPr>
        </p:nvSpPr>
        <p:spPr>
          <a:xfrm>
            <a:off x="838200" y="1681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CAPL Script Basic Structure</a:t>
            </a:r>
            <a:endParaRPr/>
          </a:p>
        </p:txBody>
      </p:sp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838200" y="1237957"/>
            <a:ext cx="10515600" cy="5620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include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variables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local and system variable declaration;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Event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User defined functions()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Timer</a:t>
            </a:r>
            <a:endParaRPr/>
          </a:p>
        </p:txBody>
      </p:sp>
      <p:sp>
        <p:nvSpPr>
          <p:cNvPr id="408" name="Google Shape;408;p38"/>
          <p:cNvSpPr txBox="1"/>
          <p:nvPr>
            <p:ph idx="1" type="body"/>
          </p:nvPr>
        </p:nvSpPr>
        <p:spPr>
          <a:xfrm>
            <a:off x="838200" y="1825625"/>
            <a:ext cx="10515600" cy="3379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>
                <a:solidFill>
                  <a:srgbClr val="002060"/>
                </a:solidFill>
              </a:rPr>
              <a:t>It is a built-in peripheral that counts down from a specified time interval and used to generate a time delay.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Steps to use Timer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</a:rPr>
              <a:t>Declaring a Timer variable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</a:rPr>
              <a:t>Preset Timer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</a:rPr>
              <a:t>Start timer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sz="2800" u="none" strike="noStrike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/>
          <p:nvPr>
            <p:ph idx="1" type="body"/>
          </p:nvPr>
        </p:nvSpPr>
        <p:spPr>
          <a:xfrm>
            <a:off x="731519" y="263146"/>
            <a:ext cx="10744493" cy="982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Example : </a:t>
            </a:r>
            <a:r>
              <a:rPr lang="en-US" sz="2800">
                <a:solidFill>
                  <a:srgbClr val="00B050"/>
                </a:solidFill>
              </a:rPr>
              <a:t>Send dummy ABS sensor data to CAN network node with 5000ms interval.</a:t>
            </a:r>
            <a:endParaRPr/>
          </a:p>
        </p:txBody>
      </p:sp>
      <p:sp>
        <p:nvSpPr>
          <p:cNvPr id="414" name="Google Shape;414;p39"/>
          <p:cNvSpPr txBox="1"/>
          <p:nvPr/>
        </p:nvSpPr>
        <p:spPr>
          <a:xfrm>
            <a:off x="928467" y="1595021"/>
            <a:ext cx="8102991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timercount;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msTimer abstimer; //Timer variable initialization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start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setTimer(abstimer,5000);//Preset timer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Times New Roman"/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6757182" y="1246015"/>
            <a:ext cx="5434818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timer abstimer //Start Timer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timercount++;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write(“ABS message is transmitting %d”,timercount);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setTimer(abstimer,5000);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Diagnostics session</a:t>
            </a:r>
            <a:b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10H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Diagnostics Session 10Hex Service</a:t>
            </a:r>
            <a:endParaRPr/>
          </a:p>
        </p:txBody>
      </p:sp>
      <p:sp>
        <p:nvSpPr>
          <p:cNvPr id="426" name="Google Shape;426;p41"/>
          <p:cNvSpPr txBox="1"/>
          <p:nvPr/>
        </p:nvSpPr>
        <p:spPr>
          <a:xfrm>
            <a:off x="1237957" y="2152357"/>
            <a:ext cx="969264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Diagnostic Session Control service is used to enable different diagnostic sessions in the server(s).</a:t>
            </a:r>
            <a:endParaRPr/>
          </a:p>
        </p:txBody>
      </p:sp>
      <p:sp>
        <p:nvSpPr>
          <p:cNvPr id="427" name="Google Shape;427;p41"/>
          <p:cNvSpPr txBox="1"/>
          <p:nvPr/>
        </p:nvSpPr>
        <p:spPr>
          <a:xfrm>
            <a:off x="1561512" y="3429000"/>
            <a:ext cx="535979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Message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Response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Response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function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698" y="1282211"/>
            <a:ext cx="10132604" cy="4682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10H Request Frame Format</a:t>
            </a:r>
            <a:endParaRPr/>
          </a:p>
        </p:txBody>
      </p:sp>
      <p:pic>
        <p:nvPicPr>
          <p:cNvPr id="439" name="Google Shape;439;p43"/>
          <p:cNvPicPr preferRelativeResize="0"/>
          <p:nvPr/>
        </p:nvPicPr>
        <p:blipFill rotWithShape="1">
          <a:blip r:embed="rId3">
            <a:alphaModFix/>
          </a:blip>
          <a:srcRect b="5049" l="0" r="0" t="0"/>
          <a:stretch/>
        </p:blipFill>
        <p:spPr>
          <a:xfrm>
            <a:off x="731520" y="4106877"/>
            <a:ext cx="11029139" cy="2139844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43"/>
          <p:cNvSpPr/>
          <p:nvPr/>
        </p:nvSpPr>
        <p:spPr>
          <a:xfrm>
            <a:off x="555156" y="2442864"/>
            <a:ext cx="1448972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ID</a:t>
            </a:r>
            <a:endParaRPr/>
          </a:p>
        </p:txBody>
      </p:sp>
      <p:sp>
        <p:nvSpPr>
          <p:cNvPr id="441" name="Google Shape;441;p43"/>
          <p:cNvSpPr/>
          <p:nvPr/>
        </p:nvSpPr>
        <p:spPr>
          <a:xfrm>
            <a:off x="2004128" y="2442864"/>
            <a:ext cx="1069145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NO.OF BYTES</a:t>
            </a:r>
            <a:endParaRPr/>
          </a:p>
        </p:txBody>
      </p:sp>
      <p:sp>
        <p:nvSpPr>
          <p:cNvPr id="442" name="Google Shape;442;p43"/>
          <p:cNvSpPr/>
          <p:nvPr/>
        </p:nvSpPr>
        <p:spPr>
          <a:xfrm>
            <a:off x="3073273" y="2442864"/>
            <a:ext cx="1237957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ID</a:t>
            </a:r>
            <a:endParaRPr/>
          </a:p>
        </p:txBody>
      </p:sp>
      <p:sp>
        <p:nvSpPr>
          <p:cNvPr id="443" name="Google Shape;443;p43"/>
          <p:cNvSpPr/>
          <p:nvPr/>
        </p:nvSpPr>
        <p:spPr>
          <a:xfrm>
            <a:off x="4322986" y="2442863"/>
            <a:ext cx="1448972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/>
          </a:p>
        </p:txBody>
      </p:sp>
      <p:sp>
        <p:nvSpPr>
          <p:cNvPr id="444" name="Google Shape;444;p43"/>
          <p:cNvSpPr/>
          <p:nvPr/>
        </p:nvSpPr>
        <p:spPr>
          <a:xfrm>
            <a:off x="5771958" y="2442862"/>
            <a:ext cx="1029253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DID</a:t>
            </a:r>
            <a:endParaRPr/>
          </a:p>
        </p:txBody>
      </p:sp>
      <p:sp>
        <p:nvSpPr>
          <p:cNvPr id="445" name="Google Shape;445;p43"/>
          <p:cNvSpPr/>
          <p:nvPr/>
        </p:nvSpPr>
        <p:spPr>
          <a:xfrm>
            <a:off x="6801211" y="2442861"/>
            <a:ext cx="1237957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/>
          </a:p>
        </p:txBody>
      </p:sp>
      <p:sp>
        <p:nvSpPr>
          <p:cNvPr id="446" name="Google Shape;446;p43"/>
          <p:cNvSpPr/>
          <p:nvPr/>
        </p:nvSpPr>
        <p:spPr>
          <a:xfrm>
            <a:off x="8046788" y="2442860"/>
            <a:ext cx="1237957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43"/>
          <p:cNvSpPr/>
          <p:nvPr/>
        </p:nvSpPr>
        <p:spPr>
          <a:xfrm>
            <a:off x="9284745" y="2442859"/>
            <a:ext cx="1237957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43"/>
          <p:cNvSpPr/>
          <p:nvPr/>
        </p:nvSpPr>
        <p:spPr>
          <a:xfrm>
            <a:off x="10522702" y="2442858"/>
            <a:ext cx="1237957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4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Message ID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It can be any value, it does not affect any process, don’t use same message ID for some other frame.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Number of bytes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Data Identifier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DID is used to specify the data element which is to be read.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Example : 0XFB02 – distance travelled.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/>
          <p:nvPr>
            <p:ph idx="1" type="body"/>
          </p:nvPr>
        </p:nvSpPr>
        <p:spPr>
          <a:xfrm>
            <a:off x="838200" y="1825625"/>
            <a:ext cx="10515600" cy="4130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Data Record field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Read data by identifier		-		No need of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Write Data by identifier		-		Needs data.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Eg : 0X9876 🡪 vehicle speed limit.</a:t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6"/>
          <p:cNvSpPr txBox="1"/>
          <p:nvPr>
            <p:ph idx="1" type="body"/>
          </p:nvPr>
        </p:nvSpPr>
        <p:spPr>
          <a:xfrm>
            <a:off x="2695721" y="225560"/>
            <a:ext cx="6800557" cy="495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None/>
            </a:pPr>
            <a:r>
              <a:rPr lang="en-US" sz="4000">
                <a:solidFill>
                  <a:srgbClr val="FF0000"/>
                </a:solidFill>
              </a:rPr>
              <a:t>Sub functions</a:t>
            </a:r>
            <a:endParaRPr/>
          </a:p>
        </p:txBody>
      </p:sp>
      <p:graphicFrame>
        <p:nvGraphicFramePr>
          <p:cNvPr id="465" name="Google Shape;465;p46"/>
          <p:cNvGraphicFramePr/>
          <p:nvPr/>
        </p:nvGraphicFramePr>
        <p:xfrm>
          <a:off x="0" y="11624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{8DE30F34-3500-48CC-B1A7-52E360DDCD2A}</a:tableStyleId>
              </a:tblPr>
              <a:tblGrid>
                <a:gridCol w="1284875"/>
                <a:gridCol w="10907125"/>
              </a:tblGrid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Subfunction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ISOSAE Reserved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 Session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Programming Session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upload software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Extended Diagnostic Session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 unlock additional diagnostic functions, such as the adjustment of sensors.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696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Safety System Diagnostic Session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To test all safety-critical diagnostic functions, such as airbag tests.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05-3F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ISOSAE Reserved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40-5F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 Manufacturer Specific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60-7E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 Supplier Specific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39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ISOSAE Reserved</a:t>
                      </a:r>
                      <a:endParaRPr b="0" sz="2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10H Positiv</a:t>
            </a:r>
            <a:r>
              <a:rPr lang="en-US"/>
              <a:t>e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frame format</a:t>
            </a:r>
            <a:endParaRPr/>
          </a:p>
        </p:txBody>
      </p:sp>
      <p:pic>
        <p:nvPicPr>
          <p:cNvPr id="472" name="Google Shape;472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841" y="3179299"/>
            <a:ext cx="11372318" cy="3692769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7"/>
          <p:cNvSpPr/>
          <p:nvPr/>
        </p:nvSpPr>
        <p:spPr>
          <a:xfrm>
            <a:off x="838200" y="1995532"/>
            <a:ext cx="1097819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ID</a:t>
            </a:r>
            <a:endParaRPr/>
          </a:p>
        </p:txBody>
      </p:sp>
      <p:sp>
        <p:nvSpPr>
          <p:cNvPr id="474" name="Google Shape;474;p47"/>
          <p:cNvSpPr/>
          <p:nvPr/>
        </p:nvSpPr>
        <p:spPr>
          <a:xfrm>
            <a:off x="1936019" y="1995532"/>
            <a:ext cx="928468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NO.OF BYTES</a:t>
            </a:r>
            <a:endParaRPr/>
          </a:p>
        </p:txBody>
      </p:sp>
      <p:sp>
        <p:nvSpPr>
          <p:cNvPr id="475" name="Google Shape;475;p47"/>
          <p:cNvSpPr/>
          <p:nvPr/>
        </p:nvSpPr>
        <p:spPr>
          <a:xfrm>
            <a:off x="2864486" y="1995532"/>
            <a:ext cx="1006299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ID+ 40</a:t>
            </a:r>
            <a:endParaRPr/>
          </a:p>
        </p:txBody>
      </p:sp>
      <p:sp>
        <p:nvSpPr>
          <p:cNvPr id="476" name="Google Shape;476;p47"/>
          <p:cNvSpPr/>
          <p:nvPr/>
        </p:nvSpPr>
        <p:spPr>
          <a:xfrm>
            <a:off x="3792955" y="1995532"/>
            <a:ext cx="1107905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sp>
        <p:nvSpPr>
          <p:cNvPr id="477" name="Google Shape;477;p47"/>
          <p:cNvSpPr/>
          <p:nvPr/>
        </p:nvSpPr>
        <p:spPr>
          <a:xfrm>
            <a:off x="4900859" y="1995532"/>
            <a:ext cx="2358959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Session Response time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bit Resolution</a:t>
            </a:r>
            <a:endParaRPr/>
          </a:p>
        </p:txBody>
      </p:sp>
      <p:sp>
        <p:nvSpPr>
          <p:cNvPr id="478" name="Google Shape;478;p47"/>
          <p:cNvSpPr/>
          <p:nvPr/>
        </p:nvSpPr>
        <p:spPr>
          <a:xfrm>
            <a:off x="7259818" y="1995532"/>
            <a:ext cx="1921212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bit  resolution</a:t>
            </a:r>
            <a:endParaRPr/>
          </a:p>
        </p:txBody>
      </p:sp>
      <p:sp>
        <p:nvSpPr>
          <p:cNvPr id="479" name="Google Shape;479;p47"/>
          <p:cNvSpPr/>
          <p:nvPr/>
        </p:nvSpPr>
        <p:spPr>
          <a:xfrm>
            <a:off x="9181030" y="1995532"/>
            <a:ext cx="1041251" cy="782038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Service ID </a:t>
            </a:r>
            <a:r>
              <a:rPr lang="en-US" sz="2800">
                <a:solidFill>
                  <a:srgbClr val="002060"/>
                </a:solidFill>
              </a:rPr>
              <a:t>				-		Actual Service ID + 40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Session Response time (1 bit)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It’s a minimum response time after request made by client.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Response time (10 bit resolution)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It’s a maximum response time after request made by client.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2174" y="3277772"/>
            <a:ext cx="9147651" cy="3362059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10H </a:t>
            </a:r>
            <a:r>
              <a:rPr lang="en-US"/>
              <a:t>Negative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frame format</a:t>
            </a:r>
            <a:endParaRPr/>
          </a:p>
        </p:txBody>
      </p:sp>
      <p:sp>
        <p:nvSpPr>
          <p:cNvPr id="491" name="Google Shape;491;p49"/>
          <p:cNvSpPr/>
          <p:nvPr/>
        </p:nvSpPr>
        <p:spPr>
          <a:xfrm>
            <a:off x="1522174" y="1690687"/>
            <a:ext cx="1959010" cy="102494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ID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9"/>
          <p:cNvSpPr/>
          <p:nvPr/>
        </p:nvSpPr>
        <p:spPr>
          <a:xfrm>
            <a:off x="3481184" y="1690687"/>
            <a:ext cx="1959010" cy="102494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NO.OF BYTES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9"/>
          <p:cNvSpPr/>
          <p:nvPr/>
        </p:nvSpPr>
        <p:spPr>
          <a:xfrm>
            <a:off x="5440194" y="1690689"/>
            <a:ext cx="1959010" cy="102494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NR_SERVICE ID</a:t>
            </a:r>
            <a:endParaRPr/>
          </a:p>
        </p:txBody>
      </p:sp>
      <p:sp>
        <p:nvSpPr>
          <p:cNvPr id="494" name="Google Shape;494;p49"/>
          <p:cNvSpPr/>
          <p:nvPr/>
        </p:nvSpPr>
        <p:spPr>
          <a:xfrm>
            <a:off x="7399204" y="1690687"/>
            <a:ext cx="1959010" cy="102494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ID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9"/>
          <p:cNvSpPr/>
          <p:nvPr/>
        </p:nvSpPr>
        <p:spPr>
          <a:xfrm>
            <a:off x="9358214" y="1690687"/>
            <a:ext cx="1959010" cy="102494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NRC CODE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0"/>
          <p:cNvSpPr txBox="1"/>
          <p:nvPr>
            <p:ph type="title"/>
          </p:nvPr>
        </p:nvSpPr>
        <p:spPr>
          <a:xfrm>
            <a:off x="838200" y="1124782"/>
            <a:ext cx="2186354" cy="5352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800"/>
              <a:buFont typeface="Times New Roman"/>
              <a:buNone/>
            </a:pPr>
            <a:r>
              <a:rPr lang="en-US" sz="3800"/>
              <a:t>Example</a:t>
            </a:r>
            <a:endParaRPr/>
          </a:p>
        </p:txBody>
      </p:sp>
      <p:sp>
        <p:nvSpPr>
          <p:cNvPr id="501" name="Google Shape;50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Frame the Diagnostic session service with positive response for the following statement: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Subfunction : default session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Session response time : 50ms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Response time : 5000ms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Message ID : 450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Data record field : none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Session Response time calculation </a:t>
            </a:r>
            <a:endParaRPr/>
          </a:p>
        </p:txBody>
      </p:sp>
      <p:sp>
        <p:nvSpPr>
          <p:cNvPr id="507" name="Google Shape;507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Required time 		 50ms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Resolution 		 1 bit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Session response time = (Required time / resolution)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			= 50 /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			= (50)d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			= (0X32)h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Response time calculation </a:t>
            </a:r>
            <a:endParaRPr/>
          </a:p>
        </p:txBody>
      </p:sp>
      <p:sp>
        <p:nvSpPr>
          <p:cNvPr id="513" name="Google Shape;513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Required time 		 5000ms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Resolution 		 10 bit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Response time = (Required time / resolution)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			= (5000 / 10)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			= (500)d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			= (0X1F4)h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Client to Server Request</a:t>
            </a:r>
            <a:endParaRPr/>
          </a:p>
        </p:txBody>
      </p:sp>
      <p:graphicFrame>
        <p:nvGraphicFramePr>
          <p:cNvPr id="519" name="Google Shape;519;p53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20" name="Google Shape;520;p53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521" name="Google Shape;521;p53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522" name="Google Shape;522;p53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23" name="Google Shape;523;p53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524" name="Google Shape;524;p53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525" name="Google Shape;525;p53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526" name="Google Shape;526;p53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527" name="Google Shape;527;p53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Server to Client Response</a:t>
            </a:r>
            <a:endParaRPr/>
          </a:p>
        </p:txBody>
      </p:sp>
      <p:graphicFrame>
        <p:nvGraphicFramePr>
          <p:cNvPr id="533" name="Google Shape;533;p54"/>
          <p:cNvGraphicFramePr/>
          <p:nvPr/>
        </p:nvGraphicFramePr>
        <p:xfrm>
          <a:off x="601981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499025"/>
                <a:gridCol w="911200"/>
                <a:gridCol w="1162550"/>
                <a:gridCol w="1461050"/>
                <a:gridCol w="2120900"/>
                <a:gridCol w="1948075"/>
                <a:gridCol w="942625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 ID+ 40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SESSION RESPONSE TIME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(1 bit)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RESPONSE TIME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(10 bit)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34" name="Google Shape;534;p54"/>
          <p:cNvSpPr/>
          <p:nvPr/>
        </p:nvSpPr>
        <p:spPr>
          <a:xfrm>
            <a:off x="601981" y="3886200"/>
            <a:ext cx="147710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480</a:t>
            </a:r>
            <a:endParaRPr/>
          </a:p>
        </p:txBody>
      </p:sp>
      <p:sp>
        <p:nvSpPr>
          <p:cNvPr id="535" name="Google Shape;535;p54"/>
          <p:cNvSpPr/>
          <p:nvPr/>
        </p:nvSpPr>
        <p:spPr>
          <a:xfrm>
            <a:off x="2079087" y="3886200"/>
            <a:ext cx="98473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536" name="Google Shape;536;p54"/>
          <p:cNvSpPr/>
          <p:nvPr/>
        </p:nvSpPr>
        <p:spPr>
          <a:xfrm>
            <a:off x="3063825" y="3886200"/>
            <a:ext cx="112541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537" name="Google Shape;537;p54"/>
          <p:cNvSpPr/>
          <p:nvPr/>
        </p:nvSpPr>
        <p:spPr>
          <a:xfrm>
            <a:off x="4189241" y="3889268"/>
            <a:ext cx="1364566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538" name="Google Shape;538;p54"/>
          <p:cNvSpPr/>
          <p:nvPr/>
        </p:nvSpPr>
        <p:spPr>
          <a:xfrm>
            <a:off x="5553807" y="3886200"/>
            <a:ext cx="1237957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539" name="Google Shape;539;p54"/>
          <p:cNvSpPr/>
          <p:nvPr/>
        </p:nvSpPr>
        <p:spPr>
          <a:xfrm>
            <a:off x="6791764" y="3886200"/>
            <a:ext cx="109728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540" name="Google Shape;540;p54"/>
          <p:cNvSpPr/>
          <p:nvPr/>
        </p:nvSpPr>
        <p:spPr>
          <a:xfrm>
            <a:off x="7889044" y="3886200"/>
            <a:ext cx="900332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541" name="Google Shape;541;p54"/>
          <p:cNvSpPr/>
          <p:nvPr/>
        </p:nvSpPr>
        <p:spPr>
          <a:xfrm>
            <a:off x="8789376" y="3886200"/>
            <a:ext cx="900332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F4</a:t>
            </a:r>
            <a:endParaRPr/>
          </a:p>
        </p:txBody>
      </p:sp>
      <p:sp>
        <p:nvSpPr>
          <p:cNvPr id="542" name="Google Shape;542;p54"/>
          <p:cNvSpPr/>
          <p:nvPr/>
        </p:nvSpPr>
        <p:spPr>
          <a:xfrm>
            <a:off x="9678571" y="3886200"/>
            <a:ext cx="9688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Server to Client Negative Response</a:t>
            </a:r>
            <a:endParaRPr/>
          </a:p>
        </p:txBody>
      </p:sp>
      <p:graphicFrame>
        <p:nvGraphicFramePr>
          <p:cNvPr id="548" name="Google Shape;548;p55"/>
          <p:cNvGraphicFramePr/>
          <p:nvPr/>
        </p:nvGraphicFramePr>
        <p:xfrm>
          <a:off x="1340534" y="2924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2102825"/>
                <a:gridCol w="1278225"/>
                <a:gridCol w="1990750"/>
                <a:gridCol w="1689675"/>
                <a:gridCol w="1487600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NR_SERVICE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NRC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49" name="Google Shape;549;p55"/>
          <p:cNvSpPr/>
          <p:nvPr/>
        </p:nvSpPr>
        <p:spPr>
          <a:xfrm>
            <a:off x="1340534" y="3564626"/>
            <a:ext cx="2120118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490</a:t>
            </a:r>
            <a:endParaRPr/>
          </a:p>
        </p:txBody>
      </p:sp>
      <p:sp>
        <p:nvSpPr>
          <p:cNvPr id="550" name="Google Shape;550;p55"/>
          <p:cNvSpPr/>
          <p:nvPr/>
        </p:nvSpPr>
        <p:spPr>
          <a:xfrm>
            <a:off x="3460652" y="3564626"/>
            <a:ext cx="1322363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551" name="Google Shape;551;p55"/>
          <p:cNvSpPr/>
          <p:nvPr/>
        </p:nvSpPr>
        <p:spPr>
          <a:xfrm>
            <a:off x="4783016" y="3550784"/>
            <a:ext cx="212011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7F</a:t>
            </a:r>
            <a:endParaRPr/>
          </a:p>
        </p:txBody>
      </p:sp>
      <p:sp>
        <p:nvSpPr>
          <p:cNvPr id="552" name="Google Shape;552;p55"/>
          <p:cNvSpPr/>
          <p:nvPr/>
        </p:nvSpPr>
        <p:spPr>
          <a:xfrm>
            <a:off x="6903134" y="3550784"/>
            <a:ext cx="1533379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53" name="Google Shape;553;p55"/>
          <p:cNvSpPr/>
          <p:nvPr/>
        </p:nvSpPr>
        <p:spPr>
          <a:xfrm>
            <a:off x="8436513" y="3549250"/>
            <a:ext cx="145307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6"/>
          <p:cNvSpPr txBox="1"/>
          <p:nvPr>
            <p:ph type="title"/>
          </p:nvPr>
        </p:nvSpPr>
        <p:spPr>
          <a:xfrm>
            <a:off x="703385" y="365126"/>
            <a:ext cx="10650415" cy="675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Client to Server Request code</a:t>
            </a:r>
            <a:endParaRPr/>
          </a:p>
        </p:txBody>
      </p:sp>
      <p:sp>
        <p:nvSpPr>
          <p:cNvPr id="559" name="Google Shape;559;p56"/>
          <p:cNvSpPr txBox="1"/>
          <p:nvPr>
            <p:ph idx="1" type="body"/>
          </p:nvPr>
        </p:nvSpPr>
        <p:spPr>
          <a:xfrm>
            <a:off x="838200" y="1041010"/>
            <a:ext cx="4732606" cy="5781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includes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variables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message diag_req _Request;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  message diag_response _Response;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on start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>
                <a:solidFill>
                  <a:srgbClr val="002060"/>
                </a:solidFill>
              </a:rPr>
              <a:t>}</a:t>
            </a: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key 'w'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sessioncontrol(0x01);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560" name="Google Shape;560;p56"/>
          <p:cNvSpPr txBox="1"/>
          <p:nvPr/>
        </p:nvSpPr>
        <p:spPr>
          <a:xfrm>
            <a:off x="6621196" y="1290326"/>
            <a:ext cx="4311162" cy="5170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sessioncontrol(byte session)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if(session==1)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_Request.byte(0)=0x02;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_Request.byte(1)=0x10;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_Request.byte(2)=0x01;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_Request.byte(3)=0x0;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_Request.byte(4)=0x0;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_Request.byte(5)=0x0;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_Request.byte(6)=0x0;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_Request.byte(7)=0x0;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output(_Request);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7"/>
          <p:cNvSpPr txBox="1"/>
          <p:nvPr>
            <p:ph type="title"/>
          </p:nvPr>
        </p:nvSpPr>
        <p:spPr>
          <a:xfrm>
            <a:off x="703384" y="238517"/>
            <a:ext cx="10650415" cy="675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Server to client Response</a:t>
            </a:r>
            <a:endParaRPr/>
          </a:p>
        </p:txBody>
      </p:sp>
      <p:sp>
        <p:nvSpPr>
          <p:cNvPr id="566" name="Google Shape;566;p57"/>
          <p:cNvSpPr txBox="1"/>
          <p:nvPr>
            <p:ph idx="1" type="body"/>
          </p:nvPr>
        </p:nvSpPr>
        <p:spPr>
          <a:xfrm>
            <a:off x="703384" y="1041010"/>
            <a:ext cx="5392615" cy="5816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includes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variables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  message diag_req _Request;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  message diag_response _Response;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on message diag_req</a:t>
            </a:r>
            <a:endParaRPr sz="22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  write("Entered");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if(this.byte(1)==0x010)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lang="en-US" sz="2200">
                <a:solidFill>
                  <a:srgbClr val="002060"/>
                </a:solidFill>
              </a:rPr>
              <a:t>  {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rgbClr val="002060"/>
              </a:solidFill>
            </a:endParaRPr>
          </a:p>
        </p:txBody>
      </p:sp>
      <p:sp>
        <p:nvSpPr>
          <p:cNvPr id="567" name="Google Shape;567;p57"/>
          <p:cNvSpPr txBox="1"/>
          <p:nvPr/>
        </p:nvSpPr>
        <p:spPr>
          <a:xfrm>
            <a:off x="6635262" y="1041010"/>
            <a:ext cx="5556738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if((this.byte(2)==0x01)&amp;(this.byte(0)==0x02))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{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_Response.byte(0)=0x06;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_Response.byte(1)=0x50;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_Response.byte(2)=0x01;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_Response.byte(3)=0x00;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_Response.byte(4)=0x23;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_Response.byte(5)=0x03;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_Response.byte(6)=0x41;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_Response.byte(7)=0x0;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output(_Response);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}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}}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8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6200"/>
              <a:buFont typeface="Times New Roman"/>
              <a:buNone/>
            </a:pP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 Reset (11H)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9"/>
          <p:cNvSpPr txBox="1"/>
          <p:nvPr>
            <p:ph type="title"/>
          </p:nvPr>
        </p:nvSpPr>
        <p:spPr>
          <a:xfrm>
            <a:off x="838200" y="3088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ECU Reset Session 11Hex Service</a:t>
            </a:r>
            <a:endParaRPr/>
          </a:p>
        </p:txBody>
      </p:sp>
      <p:sp>
        <p:nvSpPr>
          <p:cNvPr id="578" name="Google Shape;578;p59"/>
          <p:cNvSpPr txBox="1"/>
          <p:nvPr/>
        </p:nvSpPr>
        <p:spPr>
          <a:xfrm>
            <a:off x="1237957" y="2152357"/>
            <a:ext cx="969264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ECU Reset service is used by the client to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 a server reset.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ECU reset sever shall activate the default session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 reset mostly supports in extended diagnostic system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11H Request Frame Format</a:t>
            </a:r>
            <a:endParaRPr/>
          </a:p>
        </p:txBody>
      </p:sp>
      <p:sp>
        <p:nvSpPr>
          <p:cNvPr id="585" name="Google Shape;585;p60"/>
          <p:cNvSpPr/>
          <p:nvPr/>
        </p:nvSpPr>
        <p:spPr>
          <a:xfrm>
            <a:off x="838200" y="2442858"/>
            <a:ext cx="1448972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 ID</a:t>
            </a:r>
            <a:endParaRPr/>
          </a:p>
        </p:txBody>
      </p:sp>
      <p:sp>
        <p:nvSpPr>
          <p:cNvPr id="586" name="Google Shape;586;p60"/>
          <p:cNvSpPr/>
          <p:nvPr/>
        </p:nvSpPr>
        <p:spPr>
          <a:xfrm>
            <a:off x="2287172" y="2442858"/>
            <a:ext cx="1069145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NO.OF BYTES</a:t>
            </a:r>
            <a:endParaRPr/>
          </a:p>
        </p:txBody>
      </p:sp>
      <p:sp>
        <p:nvSpPr>
          <p:cNvPr id="587" name="Google Shape;587;p60"/>
          <p:cNvSpPr/>
          <p:nvPr/>
        </p:nvSpPr>
        <p:spPr>
          <a:xfrm>
            <a:off x="3328181" y="2442854"/>
            <a:ext cx="1237957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ID</a:t>
            </a:r>
            <a:endParaRPr/>
          </a:p>
        </p:txBody>
      </p:sp>
      <p:sp>
        <p:nvSpPr>
          <p:cNvPr id="588" name="Google Shape;588;p60"/>
          <p:cNvSpPr/>
          <p:nvPr/>
        </p:nvSpPr>
        <p:spPr>
          <a:xfrm>
            <a:off x="4563827" y="2442853"/>
            <a:ext cx="1448972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</a:t>
            </a:r>
            <a:endParaRPr/>
          </a:p>
        </p:txBody>
      </p:sp>
      <p:pic>
        <p:nvPicPr>
          <p:cNvPr id="589" name="Google Shape;58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077" y="4106865"/>
            <a:ext cx="9941007" cy="17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0"/>
          <p:cNvSpPr/>
          <p:nvPr/>
        </p:nvSpPr>
        <p:spPr>
          <a:xfrm>
            <a:off x="6010488" y="2442853"/>
            <a:ext cx="1101903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591" name="Google Shape;591;p60"/>
          <p:cNvSpPr/>
          <p:nvPr/>
        </p:nvSpPr>
        <p:spPr>
          <a:xfrm>
            <a:off x="7107768" y="2442853"/>
            <a:ext cx="1101903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592" name="Google Shape;592;p60"/>
          <p:cNvSpPr/>
          <p:nvPr/>
        </p:nvSpPr>
        <p:spPr>
          <a:xfrm>
            <a:off x="8213253" y="2442853"/>
            <a:ext cx="1101903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593" name="Google Shape;593;p60"/>
          <p:cNvSpPr/>
          <p:nvPr/>
        </p:nvSpPr>
        <p:spPr>
          <a:xfrm>
            <a:off x="9322191" y="2442853"/>
            <a:ext cx="1101903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594" name="Google Shape;594;p60"/>
          <p:cNvSpPr/>
          <p:nvPr/>
        </p:nvSpPr>
        <p:spPr>
          <a:xfrm>
            <a:off x="10431129" y="2441297"/>
            <a:ext cx="1101903" cy="91183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3211" y="1066800"/>
            <a:ext cx="8570042" cy="57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1"/>
          <p:cNvSpPr txBox="1"/>
          <p:nvPr/>
        </p:nvSpPr>
        <p:spPr>
          <a:xfrm>
            <a:off x="2695721" y="225560"/>
            <a:ext cx="6800557" cy="495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functions</a:t>
            </a:r>
            <a:endParaRPr sz="4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11H Positiv</a:t>
            </a:r>
            <a:r>
              <a:rPr lang="en-US"/>
              <a:t>e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frame format</a:t>
            </a:r>
            <a:endParaRPr/>
          </a:p>
        </p:txBody>
      </p:sp>
      <p:pic>
        <p:nvPicPr>
          <p:cNvPr id="607" name="Google Shape;60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29000"/>
            <a:ext cx="10844487" cy="2268415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62"/>
          <p:cNvSpPr/>
          <p:nvPr/>
        </p:nvSpPr>
        <p:spPr>
          <a:xfrm>
            <a:off x="838200" y="1925782"/>
            <a:ext cx="1269271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ID</a:t>
            </a:r>
            <a:endParaRPr/>
          </a:p>
        </p:txBody>
      </p:sp>
      <p:sp>
        <p:nvSpPr>
          <p:cNvPr id="609" name="Google Shape;609;p62"/>
          <p:cNvSpPr/>
          <p:nvPr/>
        </p:nvSpPr>
        <p:spPr>
          <a:xfrm>
            <a:off x="2107471" y="1925782"/>
            <a:ext cx="1073472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NO.OF BYTES</a:t>
            </a:r>
            <a:endParaRPr/>
          </a:p>
        </p:txBody>
      </p:sp>
      <p:sp>
        <p:nvSpPr>
          <p:cNvPr id="610" name="Google Shape;610;p62"/>
          <p:cNvSpPr/>
          <p:nvPr/>
        </p:nvSpPr>
        <p:spPr>
          <a:xfrm>
            <a:off x="3180942" y="1925782"/>
            <a:ext cx="1163458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ID+ 40</a:t>
            </a:r>
            <a:endParaRPr/>
          </a:p>
        </p:txBody>
      </p:sp>
      <p:sp>
        <p:nvSpPr>
          <p:cNvPr id="611" name="Google Shape;611;p62"/>
          <p:cNvSpPr/>
          <p:nvPr/>
        </p:nvSpPr>
        <p:spPr>
          <a:xfrm>
            <a:off x="4254415" y="1925782"/>
            <a:ext cx="1280932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/>
          </a:p>
        </p:txBody>
      </p:sp>
      <p:sp>
        <p:nvSpPr>
          <p:cNvPr id="612" name="Google Shape;612;p62"/>
          <p:cNvSpPr/>
          <p:nvPr/>
        </p:nvSpPr>
        <p:spPr>
          <a:xfrm>
            <a:off x="5535347" y="1925782"/>
            <a:ext cx="1203869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13" name="Google Shape;613;p62"/>
          <p:cNvSpPr/>
          <p:nvPr/>
        </p:nvSpPr>
        <p:spPr>
          <a:xfrm>
            <a:off x="6739216" y="1925782"/>
            <a:ext cx="1203869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14" name="Google Shape;614;p62"/>
          <p:cNvSpPr/>
          <p:nvPr/>
        </p:nvSpPr>
        <p:spPr>
          <a:xfrm>
            <a:off x="7943085" y="1925782"/>
            <a:ext cx="1203869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15" name="Google Shape;615;p62"/>
          <p:cNvSpPr/>
          <p:nvPr/>
        </p:nvSpPr>
        <p:spPr>
          <a:xfrm>
            <a:off x="9146954" y="1925782"/>
            <a:ext cx="1203869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16" name="Google Shape;616;p62"/>
          <p:cNvSpPr/>
          <p:nvPr/>
        </p:nvSpPr>
        <p:spPr>
          <a:xfrm>
            <a:off x="10350822" y="1925782"/>
            <a:ext cx="1203869" cy="11914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3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11H </a:t>
            </a:r>
            <a:r>
              <a:rPr lang="en-US"/>
              <a:t>Negative </a:t>
            </a:r>
            <a:r>
              <a:rPr lang="en-US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frame format</a:t>
            </a:r>
            <a:endParaRPr/>
          </a:p>
        </p:txBody>
      </p:sp>
      <p:pic>
        <p:nvPicPr>
          <p:cNvPr id="622" name="Google Shape;62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138" y="2761736"/>
            <a:ext cx="9391724" cy="389564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63"/>
          <p:cNvSpPr/>
          <p:nvPr/>
        </p:nvSpPr>
        <p:spPr>
          <a:xfrm>
            <a:off x="7779432" y="1449291"/>
            <a:ext cx="984740" cy="66789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24" name="Google Shape;624;p63"/>
          <p:cNvSpPr/>
          <p:nvPr/>
        </p:nvSpPr>
        <p:spPr>
          <a:xfrm>
            <a:off x="8764172" y="1449291"/>
            <a:ext cx="984740" cy="66789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25" name="Google Shape;625;p63"/>
          <p:cNvSpPr/>
          <p:nvPr/>
        </p:nvSpPr>
        <p:spPr>
          <a:xfrm>
            <a:off x="9748912" y="1445773"/>
            <a:ext cx="984740" cy="67141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26" name="Google Shape;626;p63"/>
          <p:cNvSpPr/>
          <p:nvPr/>
        </p:nvSpPr>
        <p:spPr>
          <a:xfrm>
            <a:off x="10733652" y="1445773"/>
            <a:ext cx="984740" cy="67141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627" name="Google Shape;627;p63"/>
          <p:cNvSpPr/>
          <p:nvPr/>
        </p:nvSpPr>
        <p:spPr>
          <a:xfrm>
            <a:off x="1175861" y="1449292"/>
            <a:ext cx="1296170" cy="66789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MESSAGE ID</a:t>
            </a:r>
            <a:endParaRPr/>
          </a:p>
        </p:txBody>
      </p:sp>
      <p:sp>
        <p:nvSpPr>
          <p:cNvPr id="628" name="Google Shape;628;p63"/>
          <p:cNvSpPr/>
          <p:nvPr/>
        </p:nvSpPr>
        <p:spPr>
          <a:xfrm>
            <a:off x="2472031" y="1449291"/>
            <a:ext cx="1296170" cy="66789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NO.OF BYTES</a:t>
            </a:r>
            <a:endParaRPr/>
          </a:p>
        </p:txBody>
      </p:sp>
      <p:sp>
        <p:nvSpPr>
          <p:cNvPr id="629" name="Google Shape;629;p63"/>
          <p:cNvSpPr/>
          <p:nvPr/>
        </p:nvSpPr>
        <p:spPr>
          <a:xfrm>
            <a:off x="3768200" y="1449291"/>
            <a:ext cx="1418893" cy="66789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NR_SERVICE ID</a:t>
            </a:r>
            <a:endParaRPr/>
          </a:p>
        </p:txBody>
      </p:sp>
      <p:sp>
        <p:nvSpPr>
          <p:cNvPr id="630" name="Google Shape;630;p63"/>
          <p:cNvSpPr/>
          <p:nvPr/>
        </p:nvSpPr>
        <p:spPr>
          <a:xfrm>
            <a:off x="5187093" y="1449291"/>
            <a:ext cx="1296170" cy="667893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 ID</a:t>
            </a:r>
            <a:endParaRPr/>
          </a:p>
        </p:txBody>
      </p:sp>
      <p:sp>
        <p:nvSpPr>
          <p:cNvPr id="631" name="Google Shape;631;p63"/>
          <p:cNvSpPr/>
          <p:nvPr/>
        </p:nvSpPr>
        <p:spPr>
          <a:xfrm>
            <a:off x="6483262" y="1449293"/>
            <a:ext cx="1296170" cy="66789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NRC CODE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4"/>
          <p:cNvSpPr txBox="1"/>
          <p:nvPr>
            <p:ph type="title"/>
          </p:nvPr>
        </p:nvSpPr>
        <p:spPr>
          <a:xfrm>
            <a:off x="838200" y="1124782"/>
            <a:ext cx="2186354" cy="5352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800"/>
              <a:buFont typeface="Times New Roman"/>
              <a:buNone/>
            </a:pPr>
            <a:r>
              <a:rPr lang="en-US" sz="3800"/>
              <a:t>Example</a:t>
            </a:r>
            <a:endParaRPr/>
          </a:p>
        </p:txBody>
      </p:sp>
      <p:sp>
        <p:nvSpPr>
          <p:cNvPr id="637" name="Google Shape;637;p6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 sz="2800">
                <a:solidFill>
                  <a:srgbClr val="FF0000"/>
                </a:solidFill>
              </a:rPr>
              <a:t>Frame the ECU Reset service with positive response for the following statement: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Subfunction : Hard reset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Message ID : 450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lang="en-US" sz="2800">
                <a:solidFill>
                  <a:srgbClr val="002060"/>
                </a:solidFill>
              </a:rPr>
              <a:t>	Data record field : none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5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Client to Server Request</a:t>
            </a:r>
            <a:endParaRPr/>
          </a:p>
        </p:txBody>
      </p:sp>
      <p:graphicFrame>
        <p:nvGraphicFramePr>
          <p:cNvPr id="643" name="Google Shape;643;p65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4" name="Google Shape;644;p65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645" name="Google Shape;645;p65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646" name="Google Shape;646;p65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647" name="Google Shape;647;p65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648" name="Google Shape;648;p65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649" name="Google Shape;649;p65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650" name="Google Shape;650;p65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651" name="Google Shape;651;p65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Server to Client Response</a:t>
            </a:r>
            <a:endParaRPr/>
          </a:p>
        </p:txBody>
      </p:sp>
      <p:graphicFrame>
        <p:nvGraphicFramePr>
          <p:cNvPr id="657" name="Google Shape;657;p66"/>
          <p:cNvGraphicFramePr/>
          <p:nvPr/>
        </p:nvGraphicFramePr>
        <p:xfrm>
          <a:off x="2754337" y="2514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604725"/>
                <a:gridCol w="975450"/>
                <a:gridCol w="1244525"/>
                <a:gridCol w="1564075"/>
                <a:gridCol w="1009075"/>
              </a:tblGrid>
              <a:tr h="914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 ID+ 40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58" name="Google Shape;658;p66"/>
          <p:cNvSpPr/>
          <p:nvPr/>
        </p:nvSpPr>
        <p:spPr>
          <a:xfrm>
            <a:off x="2754337" y="3429000"/>
            <a:ext cx="147710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480</a:t>
            </a:r>
            <a:endParaRPr/>
          </a:p>
        </p:txBody>
      </p:sp>
      <p:sp>
        <p:nvSpPr>
          <p:cNvPr id="659" name="Google Shape;659;p66"/>
          <p:cNvSpPr/>
          <p:nvPr/>
        </p:nvSpPr>
        <p:spPr>
          <a:xfrm>
            <a:off x="4231443" y="3429000"/>
            <a:ext cx="1175824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660" name="Google Shape;660;p66"/>
          <p:cNvSpPr/>
          <p:nvPr/>
        </p:nvSpPr>
        <p:spPr>
          <a:xfrm>
            <a:off x="5407266" y="3429000"/>
            <a:ext cx="1237957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endParaRPr/>
          </a:p>
        </p:txBody>
      </p:sp>
      <p:sp>
        <p:nvSpPr>
          <p:cNvPr id="661" name="Google Shape;661;p66"/>
          <p:cNvSpPr/>
          <p:nvPr/>
        </p:nvSpPr>
        <p:spPr>
          <a:xfrm>
            <a:off x="6549682" y="3432068"/>
            <a:ext cx="1364566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662" name="Google Shape;662;p66"/>
          <p:cNvSpPr/>
          <p:nvPr/>
        </p:nvSpPr>
        <p:spPr>
          <a:xfrm>
            <a:off x="7905455" y="3429000"/>
            <a:ext cx="1237957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Server to Client Negative Response</a:t>
            </a:r>
            <a:endParaRPr/>
          </a:p>
        </p:txBody>
      </p:sp>
      <p:graphicFrame>
        <p:nvGraphicFramePr>
          <p:cNvPr id="668" name="Google Shape;668;p67"/>
          <p:cNvGraphicFramePr/>
          <p:nvPr/>
        </p:nvGraphicFramePr>
        <p:xfrm>
          <a:off x="1340534" y="2924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2102825"/>
                <a:gridCol w="1278225"/>
                <a:gridCol w="1990750"/>
                <a:gridCol w="1689675"/>
                <a:gridCol w="1487600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NR_SERVICE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NRC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69" name="Google Shape;669;p67"/>
          <p:cNvSpPr/>
          <p:nvPr/>
        </p:nvSpPr>
        <p:spPr>
          <a:xfrm>
            <a:off x="1340534" y="3564626"/>
            <a:ext cx="2120118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490</a:t>
            </a:r>
            <a:endParaRPr/>
          </a:p>
        </p:txBody>
      </p:sp>
      <p:sp>
        <p:nvSpPr>
          <p:cNvPr id="670" name="Google Shape;670;p67"/>
          <p:cNvSpPr/>
          <p:nvPr/>
        </p:nvSpPr>
        <p:spPr>
          <a:xfrm>
            <a:off x="3460652" y="3564626"/>
            <a:ext cx="1322363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671" name="Google Shape;671;p67"/>
          <p:cNvSpPr/>
          <p:nvPr/>
        </p:nvSpPr>
        <p:spPr>
          <a:xfrm>
            <a:off x="4783016" y="3550784"/>
            <a:ext cx="212011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7F</a:t>
            </a:r>
            <a:endParaRPr/>
          </a:p>
        </p:txBody>
      </p:sp>
      <p:sp>
        <p:nvSpPr>
          <p:cNvPr id="672" name="Google Shape;672;p67"/>
          <p:cNvSpPr/>
          <p:nvPr/>
        </p:nvSpPr>
        <p:spPr>
          <a:xfrm>
            <a:off x="6903134" y="3550784"/>
            <a:ext cx="1533379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673" name="Google Shape;673;p67"/>
          <p:cNvSpPr/>
          <p:nvPr/>
        </p:nvSpPr>
        <p:spPr>
          <a:xfrm>
            <a:off x="8436513" y="3549250"/>
            <a:ext cx="145307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8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6200"/>
              <a:buFont typeface="Times New Roman"/>
              <a:buNone/>
            </a:pPr>
            <a:r>
              <a:rPr lang="en-US" sz="6200"/>
              <a:t>Security Access</a:t>
            </a: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(27H)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Security Access 27Hex Service</a:t>
            </a:r>
            <a:endParaRPr/>
          </a:p>
        </p:txBody>
      </p:sp>
      <p:sp>
        <p:nvSpPr>
          <p:cNvPr id="684" name="Google Shape;684;p69"/>
          <p:cNvSpPr txBox="1"/>
          <p:nvPr/>
        </p:nvSpPr>
        <p:spPr>
          <a:xfrm>
            <a:off x="1237957" y="2152357"/>
            <a:ext cx="969264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Protects modification of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 data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implemented to restrict access for security emission, or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reasons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Initially all ECU’s are will be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locked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write/read data from/to ECU</a:t>
            </a: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need a 27hex service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Security Access 27H Procedure</a:t>
            </a:r>
            <a:endParaRPr/>
          </a:p>
        </p:txBody>
      </p:sp>
      <p:sp>
        <p:nvSpPr>
          <p:cNvPr id="690" name="Google Shape;690;p70"/>
          <p:cNvSpPr txBox="1"/>
          <p:nvPr>
            <p:ph idx="1" type="body"/>
          </p:nvPr>
        </p:nvSpPr>
        <p:spPr>
          <a:xfrm>
            <a:off x="838200" y="1825625"/>
            <a:ext cx="10515600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Client request for the “seed”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Server responds with “seed”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Client requests (sends) for the “Key”(respective for the seed received)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Server responds that the “key” was valid and that it will unlock itself.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5" name="Google Shape;69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4997" y="0"/>
            <a:ext cx="894633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8306" y="683015"/>
            <a:ext cx="7648176" cy="2144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8306" y="4030395"/>
            <a:ext cx="7989301" cy="1729228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72"/>
          <p:cNvSpPr txBox="1"/>
          <p:nvPr/>
        </p:nvSpPr>
        <p:spPr>
          <a:xfrm>
            <a:off x="2087307" y="132844"/>
            <a:ext cx="77512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Negative response codes</a:t>
            </a:r>
            <a:endParaRPr/>
          </a:p>
        </p:txBody>
      </p:sp>
      <p:sp>
        <p:nvSpPr>
          <p:cNvPr id="703" name="Google Shape;703;p72"/>
          <p:cNvSpPr txBox="1"/>
          <p:nvPr/>
        </p:nvSpPr>
        <p:spPr>
          <a:xfrm>
            <a:off x="2087307" y="3526527"/>
            <a:ext cx="775129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Access Specific Negative response codes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73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Request for seed Frame Format</a:t>
            </a:r>
            <a:endParaRPr/>
          </a:p>
        </p:txBody>
      </p:sp>
      <p:graphicFrame>
        <p:nvGraphicFramePr>
          <p:cNvPr id="709" name="Google Shape;709;p73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0" name="Google Shape;710;p73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711" name="Google Shape;711;p73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712" name="Google Shape;712;p73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713" name="Google Shape;713;p73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714" name="Google Shape;714;p73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15" name="Google Shape;715;p73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16" name="Google Shape;716;p73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17" name="Google Shape;717;p73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74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Positive Response seed Frame Format</a:t>
            </a:r>
            <a:endParaRPr/>
          </a:p>
        </p:txBody>
      </p:sp>
      <p:graphicFrame>
        <p:nvGraphicFramePr>
          <p:cNvPr id="723" name="Google Shape;723;p74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24" name="Google Shape;724;p74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451</a:t>
            </a:r>
            <a:endParaRPr/>
          </a:p>
        </p:txBody>
      </p:sp>
      <p:sp>
        <p:nvSpPr>
          <p:cNvPr id="725" name="Google Shape;725;p74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726" name="Google Shape;726;p74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  <p:sp>
        <p:nvSpPr>
          <p:cNvPr id="727" name="Google Shape;727;p74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728" name="Google Shape;728;p74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729" name="Google Shape;729;p74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730" name="Google Shape;730;p74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31" name="Google Shape;731;p74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5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Request (Send) for Key Frame Format</a:t>
            </a:r>
            <a:endParaRPr/>
          </a:p>
        </p:txBody>
      </p:sp>
      <p:graphicFrame>
        <p:nvGraphicFramePr>
          <p:cNvPr id="737" name="Google Shape;737;p75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8" name="Google Shape;738;p75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sp>
        <p:nvSpPr>
          <p:cNvPr id="739" name="Google Shape;739;p75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740" name="Google Shape;740;p75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741" name="Google Shape;741;p75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742" name="Google Shape;742;p75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sp>
        <p:nvSpPr>
          <p:cNvPr id="743" name="Google Shape;743;p75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/>
          </a:p>
        </p:txBody>
      </p:sp>
      <p:sp>
        <p:nvSpPr>
          <p:cNvPr id="744" name="Google Shape;744;p75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45" name="Google Shape;745;p75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76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Positive Response seed Frame Format</a:t>
            </a:r>
            <a:endParaRPr/>
          </a:p>
        </p:txBody>
      </p:sp>
      <p:graphicFrame>
        <p:nvGraphicFramePr>
          <p:cNvPr id="751" name="Google Shape;751;p76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52" name="Google Shape;752;p76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451</a:t>
            </a:r>
            <a:endParaRPr/>
          </a:p>
        </p:txBody>
      </p:sp>
      <p:sp>
        <p:nvSpPr>
          <p:cNvPr id="753" name="Google Shape;753;p76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754" name="Google Shape;754;p76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  <p:sp>
        <p:nvSpPr>
          <p:cNvPr id="755" name="Google Shape;755;p76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756" name="Google Shape;756;p76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57" name="Google Shape;757;p76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58" name="Google Shape;758;p76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759" name="Google Shape;759;p76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Task</a:t>
            </a:r>
            <a:endParaRPr/>
          </a:p>
        </p:txBody>
      </p:sp>
      <p:sp>
        <p:nvSpPr>
          <p:cNvPr id="765" name="Google Shape;765;p77"/>
          <p:cNvSpPr txBox="1"/>
          <p:nvPr>
            <p:ph idx="1" type="body"/>
          </p:nvPr>
        </p:nvSpPr>
        <p:spPr>
          <a:xfrm>
            <a:off x="1739705" y="2768161"/>
            <a:ext cx="3283634" cy="271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Default session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ECU Reset Services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 Request for seed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Send Key</a:t>
            </a:r>
            <a:endParaRPr/>
          </a:p>
        </p:txBody>
      </p:sp>
      <p:sp>
        <p:nvSpPr>
          <p:cNvPr id="766" name="Google Shape;766;p77"/>
          <p:cNvSpPr txBox="1"/>
          <p:nvPr/>
        </p:nvSpPr>
        <p:spPr>
          <a:xfrm>
            <a:off x="7315788" y="2768161"/>
            <a:ext cx="4038012" cy="271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Default session (Positive)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 Reset (Positive)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response Seed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Response key</a:t>
            </a:r>
            <a:endParaRPr/>
          </a:p>
        </p:txBody>
      </p:sp>
      <p:sp>
        <p:nvSpPr>
          <p:cNvPr id="767" name="Google Shape;767;p77"/>
          <p:cNvSpPr txBox="1"/>
          <p:nvPr/>
        </p:nvSpPr>
        <p:spPr>
          <a:xfrm>
            <a:off x="1928446" y="1899139"/>
            <a:ext cx="309489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Request</a:t>
            </a:r>
            <a:endParaRPr/>
          </a:p>
        </p:txBody>
      </p:sp>
      <p:sp>
        <p:nvSpPr>
          <p:cNvPr id="768" name="Google Shape;768;p77"/>
          <p:cNvSpPr txBox="1"/>
          <p:nvPr/>
        </p:nvSpPr>
        <p:spPr>
          <a:xfrm>
            <a:off x="7315788" y="1899138"/>
            <a:ext cx="309489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8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 sz="6200"/>
              <a:t>Communication Control </a:t>
            </a: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(28H)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Communication Control 28Hex Service</a:t>
            </a:r>
            <a:endParaRPr/>
          </a:p>
        </p:txBody>
      </p:sp>
      <p:sp>
        <p:nvSpPr>
          <p:cNvPr id="779" name="Google Shape;779;p79"/>
          <p:cNvSpPr txBox="1"/>
          <p:nvPr/>
        </p:nvSpPr>
        <p:spPr>
          <a:xfrm>
            <a:off x="1237957" y="2152357"/>
            <a:ext cx="969264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service is used to control the communication of server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or disable transmission or reception of messages from server</a:t>
            </a:r>
            <a:endParaRPr/>
          </a:p>
          <a:p>
            <a:pPr indent="-2794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80"/>
          <p:cNvPicPr preferRelativeResize="0"/>
          <p:nvPr/>
        </p:nvPicPr>
        <p:blipFill rotWithShape="1">
          <a:blip r:embed="rId3">
            <a:alphaModFix/>
          </a:blip>
          <a:srcRect b="3623" l="3165" r="2978" t="0"/>
          <a:stretch/>
        </p:blipFill>
        <p:spPr>
          <a:xfrm>
            <a:off x="2121921" y="9449"/>
            <a:ext cx="7417710" cy="6848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265" y="394334"/>
            <a:ext cx="9826535" cy="606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82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28Hex disable Tx and Rx</a:t>
            </a:r>
            <a:endParaRPr/>
          </a:p>
        </p:txBody>
      </p:sp>
      <p:graphicFrame>
        <p:nvGraphicFramePr>
          <p:cNvPr id="795" name="Google Shape;795;p82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96" name="Google Shape;796;p82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450</a:t>
            </a:r>
            <a:endParaRPr/>
          </a:p>
        </p:txBody>
      </p:sp>
      <p:sp>
        <p:nvSpPr>
          <p:cNvPr id="797" name="Google Shape;797;p82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798" name="Google Shape;798;p82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799" name="Google Shape;799;p82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800" name="Google Shape;800;p82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801" name="Google Shape;801;p82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02" name="Google Shape;802;p82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03" name="Google Shape;803;p82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04" name="Google Shape;804;p82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28Hex disable Tx and Rx Negative response</a:t>
            </a:r>
            <a:endParaRPr/>
          </a:p>
        </p:txBody>
      </p:sp>
      <p:graphicFrame>
        <p:nvGraphicFramePr>
          <p:cNvPr id="810" name="Google Shape;810;p83"/>
          <p:cNvGraphicFramePr/>
          <p:nvPr/>
        </p:nvGraphicFramePr>
        <p:xfrm>
          <a:off x="1340534" y="2924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2102825"/>
                <a:gridCol w="1278225"/>
                <a:gridCol w="1990750"/>
                <a:gridCol w="1689675"/>
                <a:gridCol w="1487600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NR_SERVICE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NRC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11" name="Google Shape;811;p83"/>
          <p:cNvSpPr/>
          <p:nvPr/>
        </p:nvSpPr>
        <p:spPr>
          <a:xfrm>
            <a:off x="1340534" y="3564626"/>
            <a:ext cx="2120118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490</a:t>
            </a:r>
            <a:endParaRPr/>
          </a:p>
        </p:txBody>
      </p:sp>
      <p:sp>
        <p:nvSpPr>
          <p:cNvPr id="812" name="Google Shape;812;p83"/>
          <p:cNvSpPr/>
          <p:nvPr/>
        </p:nvSpPr>
        <p:spPr>
          <a:xfrm>
            <a:off x="3460652" y="3564626"/>
            <a:ext cx="1322363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813" name="Google Shape;813;p83"/>
          <p:cNvSpPr/>
          <p:nvPr/>
        </p:nvSpPr>
        <p:spPr>
          <a:xfrm>
            <a:off x="4783016" y="3550784"/>
            <a:ext cx="212011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7F</a:t>
            </a:r>
            <a:endParaRPr/>
          </a:p>
        </p:txBody>
      </p:sp>
      <p:sp>
        <p:nvSpPr>
          <p:cNvPr id="814" name="Google Shape;814;p83"/>
          <p:cNvSpPr/>
          <p:nvPr/>
        </p:nvSpPr>
        <p:spPr>
          <a:xfrm>
            <a:off x="6903134" y="3550784"/>
            <a:ext cx="1533379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815" name="Google Shape;815;p83"/>
          <p:cNvSpPr/>
          <p:nvPr/>
        </p:nvSpPr>
        <p:spPr>
          <a:xfrm>
            <a:off x="8436513" y="3549250"/>
            <a:ext cx="145307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816" name="Google Shape;816;p83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10Hex Extended Diagnostic session request</a:t>
            </a:r>
            <a:endParaRPr/>
          </a:p>
        </p:txBody>
      </p:sp>
      <p:graphicFrame>
        <p:nvGraphicFramePr>
          <p:cNvPr id="822" name="Google Shape;822;p84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23" name="Google Shape;823;p84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451</a:t>
            </a:r>
            <a:endParaRPr/>
          </a:p>
        </p:txBody>
      </p:sp>
      <p:sp>
        <p:nvSpPr>
          <p:cNvPr id="824" name="Google Shape;824;p84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825" name="Google Shape;825;p84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26" name="Google Shape;826;p84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827" name="Google Shape;827;p84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28" name="Google Shape;828;p84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29" name="Google Shape;829;p84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30" name="Google Shape;830;p84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31" name="Google Shape;831;p84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10Hex Extended Diagnostic session Positive response</a:t>
            </a:r>
            <a:endParaRPr/>
          </a:p>
        </p:txBody>
      </p:sp>
      <p:graphicFrame>
        <p:nvGraphicFramePr>
          <p:cNvPr id="837" name="Google Shape;837;p85"/>
          <p:cNvGraphicFramePr/>
          <p:nvPr/>
        </p:nvGraphicFramePr>
        <p:xfrm>
          <a:off x="601981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499025"/>
                <a:gridCol w="911200"/>
                <a:gridCol w="1162550"/>
                <a:gridCol w="1461050"/>
                <a:gridCol w="2120900"/>
                <a:gridCol w="1948075"/>
                <a:gridCol w="942625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 ID+ 40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SESSION RESPONSE TIME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(1 bit)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RESPONSE TIME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(10 bit)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38" name="Google Shape;838;p85"/>
          <p:cNvSpPr/>
          <p:nvPr/>
        </p:nvSpPr>
        <p:spPr>
          <a:xfrm>
            <a:off x="601981" y="3886200"/>
            <a:ext cx="147710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452</a:t>
            </a:r>
            <a:endParaRPr/>
          </a:p>
        </p:txBody>
      </p:sp>
      <p:sp>
        <p:nvSpPr>
          <p:cNvPr id="839" name="Google Shape;839;p85"/>
          <p:cNvSpPr/>
          <p:nvPr/>
        </p:nvSpPr>
        <p:spPr>
          <a:xfrm>
            <a:off x="2079087" y="3886200"/>
            <a:ext cx="98473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840" name="Google Shape;840;p85"/>
          <p:cNvSpPr/>
          <p:nvPr/>
        </p:nvSpPr>
        <p:spPr>
          <a:xfrm>
            <a:off x="3063825" y="3886200"/>
            <a:ext cx="112541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841" name="Google Shape;841;p85"/>
          <p:cNvSpPr/>
          <p:nvPr/>
        </p:nvSpPr>
        <p:spPr>
          <a:xfrm>
            <a:off x="4189241" y="3889268"/>
            <a:ext cx="1364566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842" name="Google Shape;842;p85"/>
          <p:cNvSpPr/>
          <p:nvPr/>
        </p:nvSpPr>
        <p:spPr>
          <a:xfrm>
            <a:off x="5553807" y="3886200"/>
            <a:ext cx="1237957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43" name="Google Shape;843;p85"/>
          <p:cNvSpPr/>
          <p:nvPr/>
        </p:nvSpPr>
        <p:spPr>
          <a:xfrm>
            <a:off x="6791764" y="3886200"/>
            <a:ext cx="109728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844" name="Google Shape;844;p85"/>
          <p:cNvSpPr/>
          <p:nvPr/>
        </p:nvSpPr>
        <p:spPr>
          <a:xfrm>
            <a:off x="7889044" y="3886200"/>
            <a:ext cx="900332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845" name="Google Shape;845;p85"/>
          <p:cNvSpPr/>
          <p:nvPr/>
        </p:nvSpPr>
        <p:spPr>
          <a:xfrm>
            <a:off x="8789376" y="3886200"/>
            <a:ext cx="900332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F4</a:t>
            </a:r>
            <a:endParaRPr/>
          </a:p>
        </p:txBody>
      </p:sp>
      <p:sp>
        <p:nvSpPr>
          <p:cNvPr id="846" name="Google Shape;846;p85"/>
          <p:cNvSpPr/>
          <p:nvPr/>
        </p:nvSpPr>
        <p:spPr>
          <a:xfrm>
            <a:off x="9678571" y="3886200"/>
            <a:ext cx="9688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47" name="Google Shape;847;p85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86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Request for seed Frame Format</a:t>
            </a:r>
            <a:endParaRPr/>
          </a:p>
        </p:txBody>
      </p:sp>
      <p:graphicFrame>
        <p:nvGraphicFramePr>
          <p:cNvPr id="853" name="Google Shape;853;p86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54" name="Google Shape;854;p86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453</a:t>
            </a:r>
            <a:endParaRPr/>
          </a:p>
        </p:txBody>
      </p:sp>
      <p:sp>
        <p:nvSpPr>
          <p:cNvPr id="855" name="Google Shape;855;p86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856" name="Google Shape;856;p86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857" name="Google Shape;857;p86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858" name="Google Shape;858;p86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59" name="Google Shape;859;p86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60" name="Google Shape;860;p86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61" name="Google Shape;861;p86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862" name="Google Shape;862;p86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87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Positive Response seed Frame Format</a:t>
            </a:r>
            <a:endParaRPr/>
          </a:p>
        </p:txBody>
      </p:sp>
      <p:graphicFrame>
        <p:nvGraphicFramePr>
          <p:cNvPr id="868" name="Google Shape;868;p87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69" name="Google Shape;869;p87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454</a:t>
            </a:r>
            <a:endParaRPr/>
          </a:p>
        </p:txBody>
      </p:sp>
      <p:sp>
        <p:nvSpPr>
          <p:cNvPr id="870" name="Google Shape;870;p87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871" name="Google Shape;871;p87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  <p:sp>
        <p:nvSpPr>
          <p:cNvPr id="872" name="Google Shape;872;p87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873" name="Google Shape;873;p87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874" name="Google Shape;874;p87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  <p:sp>
        <p:nvSpPr>
          <p:cNvPr id="875" name="Google Shape;875;p87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876" name="Google Shape;876;p87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877" name="Google Shape;877;p87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88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Request (Send) for Key Frame Format</a:t>
            </a:r>
            <a:endParaRPr/>
          </a:p>
        </p:txBody>
      </p:sp>
      <p:graphicFrame>
        <p:nvGraphicFramePr>
          <p:cNvPr id="883" name="Google Shape;883;p88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84" name="Google Shape;884;p88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455</a:t>
            </a:r>
            <a:endParaRPr/>
          </a:p>
        </p:txBody>
      </p:sp>
      <p:sp>
        <p:nvSpPr>
          <p:cNvPr id="885" name="Google Shape;885;p88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886" name="Google Shape;886;p88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887" name="Google Shape;887;p88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888" name="Google Shape;888;p88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endParaRPr/>
          </a:p>
        </p:txBody>
      </p:sp>
      <p:sp>
        <p:nvSpPr>
          <p:cNvPr id="889" name="Google Shape;889;p88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/>
          </a:p>
        </p:txBody>
      </p:sp>
      <p:sp>
        <p:nvSpPr>
          <p:cNvPr id="890" name="Google Shape;890;p88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</p:txBody>
      </p:sp>
      <p:sp>
        <p:nvSpPr>
          <p:cNvPr id="891" name="Google Shape;891;p88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892" name="Google Shape;892;p88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9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27Hex Positive Response seed Frame Format</a:t>
            </a:r>
            <a:endParaRPr/>
          </a:p>
        </p:txBody>
      </p:sp>
      <p:graphicFrame>
        <p:nvGraphicFramePr>
          <p:cNvPr id="898" name="Google Shape;898;p89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99" name="Google Shape;899;p89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456</a:t>
            </a:r>
            <a:endParaRPr/>
          </a:p>
        </p:txBody>
      </p:sp>
      <p:sp>
        <p:nvSpPr>
          <p:cNvPr id="900" name="Google Shape;900;p89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01" name="Google Shape;901;p89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67</a:t>
            </a:r>
            <a:endParaRPr/>
          </a:p>
        </p:txBody>
      </p:sp>
      <p:sp>
        <p:nvSpPr>
          <p:cNvPr id="902" name="Google Shape;902;p89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03" name="Google Shape;903;p89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04" name="Google Shape;904;p89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05" name="Google Shape;905;p89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06" name="Google Shape;906;p89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07" name="Google Shape;907;p89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8" name="Google Shape;908;p89"/>
          <p:cNvSpPr txBox="1"/>
          <p:nvPr/>
        </p:nvSpPr>
        <p:spPr>
          <a:xfrm>
            <a:off x="942535" y="1777658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0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28Hex disable Tx and Rx</a:t>
            </a:r>
            <a:endParaRPr/>
          </a:p>
        </p:txBody>
      </p:sp>
      <p:graphicFrame>
        <p:nvGraphicFramePr>
          <p:cNvPr id="914" name="Google Shape;914;p90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15" name="Google Shape;915;p90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457</a:t>
            </a:r>
            <a:endParaRPr/>
          </a:p>
        </p:txBody>
      </p:sp>
      <p:sp>
        <p:nvSpPr>
          <p:cNvPr id="916" name="Google Shape;916;p90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917" name="Google Shape;917;p90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918" name="Google Shape;918;p90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919" name="Google Shape;919;p90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20" name="Google Shape;920;p90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21" name="Google Shape;921;p90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22" name="Google Shape;922;p90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23" name="Google Shape;923;p90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1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28Hex disable Tx and Rx Positive response</a:t>
            </a:r>
            <a:endParaRPr/>
          </a:p>
        </p:txBody>
      </p:sp>
      <p:graphicFrame>
        <p:nvGraphicFramePr>
          <p:cNvPr id="929" name="Google Shape;929;p91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30" name="Google Shape;930;p91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458</a:t>
            </a:r>
            <a:endParaRPr/>
          </a:p>
        </p:txBody>
      </p:sp>
      <p:sp>
        <p:nvSpPr>
          <p:cNvPr id="931" name="Google Shape;931;p91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32" name="Google Shape;932;p91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68</a:t>
            </a:r>
            <a:endParaRPr/>
          </a:p>
        </p:txBody>
      </p:sp>
      <p:sp>
        <p:nvSpPr>
          <p:cNvPr id="933" name="Google Shape;933;p91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934" name="Google Shape;934;p91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35" name="Google Shape;935;p91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36" name="Google Shape;936;p91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37" name="Google Shape;937;p91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38" name="Google Shape;938;p91"/>
          <p:cNvSpPr txBox="1"/>
          <p:nvPr/>
        </p:nvSpPr>
        <p:spPr>
          <a:xfrm>
            <a:off x="942535" y="1777658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2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6200"/>
              <a:buFont typeface="Times New Roman"/>
              <a:buNone/>
            </a:pPr>
            <a:r>
              <a:rPr lang="en-US" sz="6200"/>
              <a:t>Tester present </a:t>
            </a: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(3EH)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Tester Present 3EHex Service</a:t>
            </a:r>
            <a:endParaRPr/>
          </a:p>
        </p:txBody>
      </p:sp>
      <p:sp>
        <p:nvSpPr>
          <p:cNvPr id="949" name="Google Shape;949;p93"/>
          <p:cNvSpPr txBox="1"/>
          <p:nvPr/>
        </p:nvSpPr>
        <p:spPr>
          <a:xfrm>
            <a:off x="1237957" y="2152357"/>
            <a:ext cx="1011584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Tester Present UDS-service request is sent by the tester (client) to keep the ECU in the current diagnostic session, which will prevent the ECU from returning to the default diagnostic session.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service is used to keep one or multiple servers in a diagnostic session other than the default Session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Subfunction</a:t>
            </a:r>
            <a:endParaRPr/>
          </a:p>
        </p:txBody>
      </p:sp>
      <p:pic>
        <p:nvPicPr>
          <p:cNvPr id="955" name="Google Shape;955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432" y="2007045"/>
            <a:ext cx="9997368" cy="387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Negative response</a:t>
            </a:r>
            <a:endParaRPr/>
          </a:p>
        </p:txBody>
      </p:sp>
      <p:pic>
        <p:nvPicPr>
          <p:cNvPr id="961" name="Google Shape;96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2744" y="2285340"/>
            <a:ext cx="9586512" cy="3243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96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3EHex Request with zero subfunction Frame Format</a:t>
            </a:r>
            <a:endParaRPr/>
          </a:p>
        </p:txBody>
      </p:sp>
      <p:graphicFrame>
        <p:nvGraphicFramePr>
          <p:cNvPr id="967" name="Google Shape;967;p96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68" name="Google Shape;968;p96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453</a:t>
            </a:r>
            <a:endParaRPr/>
          </a:p>
        </p:txBody>
      </p:sp>
      <p:sp>
        <p:nvSpPr>
          <p:cNvPr id="969" name="Google Shape;969;p96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70" name="Google Shape;970;p96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3E</a:t>
            </a:r>
            <a:endParaRPr/>
          </a:p>
        </p:txBody>
      </p:sp>
      <p:sp>
        <p:nvSpPr>
          <p:cNvPr id="971" name="Google Shape;971;p96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72" name="Google Shape;972;p96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73" name="Google Shape;973;p96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74" name="Google Shape;974;p96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75" name="Google Shape;975;p96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76" name="Google Shape;976;p96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97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3EHex Positive Response Frame Format</a:t>
            </a:r>
            <a:endParaRPr/>
          </a:p>
        </p:txBody>
      </p:sp>
      <p:graphicFrame>
        <p:nvGraphicFramePr>
          <p:cNvPr id="982" name="Google Shape;982;p97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83" name="Google Shape;983;p97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456</a:t>
            </a:r>
            <a:endParaRPr/>
          </a:p>
        </p:txBody>
      </p:sp>
      <p:sp>
        <p:nvSpPr>
          <p:cNvPr id="984" name="Google Shape;984;p97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985" name="Google Shape;985;p97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7E</a:t>
            </a:r>
            <a:endParaRPr/>
          </a:p>
        </p:txBody>
      </p:sp>
      <p:sp>
        <p:nvSpPr>
          <p:cNvPr id="986" name="Google Shape;986;p97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87" name="Google Shape;987;p97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88" name="Google Shape;988;p97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89" name="Google Shape;989;p97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90" name="Google Shape;990;p97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991" name="Google Shape;991;p97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2" name="Google Shape;992;p97"/>
          <p:cNvSpPr txBox="1"/>
          <p:nvPr/>
        </p:nvSpPr>
        <p:spPr>
          <a:xfrm>
            <a:off x="942535" y="1777658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98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3EHex Request with 80 subfunction Frame Format</a:t>
            </a:r>
            <a:endParaRPr/>
          </a:p>
        </p:txBody>
      </p:sp>
      <p:graphicFrame>
        <p:nvGraphicFramePr>
          <p:cNvPr id="998" name="Google Shape;998;p98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99" name="Google Shape;999;p98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458</a:t>
            </a:r>
            <a:endParaRPr/>
          </a:p>
        </p:txBody>
      </p:sp>
      <p:sp>
        <p:nvSpPr>
          <p:cNvPr id="1000" name="Google Shape;1000;p98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01" name="Google Shape;1001;p98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3E</a:t>
            </a:r>
            <a:endParaRPr/>
          </a:p>
        </p:txBody>
      </p:sp>
      <p:sp>
        <p:nvSpPr>
          <p:cNvPr id="1002" name="Google Shape;1002;p98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1003" name="Google Shape;1003;p98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04" name="Google Shape;1004;p98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05" name="Google Shape;1005;p98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06" name="Google Shape;1006;p98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07" name="Google Shape;1007;p98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99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3EHex Positive Response Frame Format</a:t>
            </a:r>
            <a:endParaRPr/>
          </a:p>
        </p:txBody>
      </p:sp>
      <p:graphicFrame>
        <p:nvGraphicFramePr>
          <p:cNvPr id="1013" name="Google Shape;1013;p99"/>
          <p:cNvGraphicFramePr/>
          <p:nvPr/>
        </p:nvGraphicFramePr>
        <p:xfrm>
          <a:off x="623668" y="3074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14" name="Google Shape;1014;p99"/>
          <p:cNvSpPr/>
          <p:nvPr/>
        </p:nvSpPr>
        <p:spPr>
          <a:xfrm>
            <a:off x="623668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460</a:t>
            </a:r>
            <a:endParaRPr/>
          </a:p>
        </p:txBody>
      </p:sp>
      <p:sp>
        <p:nvSpPr>
          <p:cNvPr id="1015" name="Google Shape;1015;p99"/>
          <p:cNvSpPr/>
          <p:nvPr/>
        </p:nvSpPr>
        <p:spPr>
          <a:xfrm>
            <a:off x="2239108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016" name="Google Shape;1016;p99"/>
          <p:cNvSpPr/>
          <p:nvPr/>
        </p:nvSpPr>
        <p:spPr>
          <a:xfrm>
            <a:off x="3423138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7E</a:t>
            </a:r>
            <a:endParaRPr/>
          </a:p>
        </p:txBody>
      </p:sp>
      <p:sp>
        <p:nvSpPr>
          <p:cNvPr id="1017" name="Google Shape;1017;p99"/>
          <p:cNvSpPr/>
          <p:nvPr/>
        </p:nvSpPr>
        <p:spPr>
          <a:xfrm>
            <a:off x="4787704" y="3989080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18" name="Google Shape;1018;p99"/>
          <p:cNvSpPr/>
          <p:nvPr/>
        </p:nvSpPr>
        <p:spPr>
          <a:xfrm>
            <a:off x="6403144" y="3989080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19" name="Google Shape;1019;p99"/>
          <p:cNvSpPr/>
          <p:nvPr/>
        </p:nvSpPr>
        <p:spPr>
          <a:xfrm>
            <a:off x="7587174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20" name="Google Shape;1020;p99"/>
          <p:cNvSpPr/>
          <p:nvPr/>
        </p:nvSpPr>
        <p:spPr>
          <a:xfrm>
            <a:off x="8951740" y="3989080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21" name="Google Shape;1021;p99"/>
          <p:cNvSpPr/>
          <p:nvPr/>
        </p:nvSpPr>
        <p:spPr>
          <a:xfrm>
            <a:off x="10316306" y="3989080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022" name="Google Shape;1022;p99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99"/>
          <p:cNvSpPr txBox="1"/>
          <p:nvPr/>
        </p:nvSpPr>
        <p:spPr>
          <a:xfrm>
            <a:off x="942535" y="1777658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00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 sz="6200"/>
              <a:t>Secured data transmission </a:t>
            </a: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(84H)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Secured Data Transmission 84Hex Services</a:t>
            </a:r>
            <a:endParaRPr/>
          </a:p>
        </p:txBody>
      </p:sp>
      <p:sp>
        <p:nvSpPr>
          <p:cNvPr id="1034" name="Google Shape;1034;p101"/>
          <p:cNvSpPr txBox="1"/>
          <p:nvPr>
            <p:ph idx="1" type="body"/>
          </p:nvPr>
        </p:nvSpPr>
        <p:spPr>
          <a:xfrm>
            <a:off x="838200" y="2061553"/>
            <a:ext cx="11127545" cy="4431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The purpose of this service is to transmit data that is protected against attacks from third parties, which could endanger data security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No subfunctions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In a secured mode, only confirmed services are allowed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0" i="0" lang="en-US" sz="2800" u="none" strike="noStrike">
                <a:solidFill>
                  <a:srgbClr val="002060"/>
                </a:solidFill>
              </a:rPr>
              <a:t>The below services are not allowed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1. Response On Event (86 hex);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2. Read Data By Periodic Identifier (2A hex);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3. Tester Present (3E hex).</a:t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2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Secured Data Transmission 84Hex Request frame Services</a:t>
            </a:r>
            <a:endParaRPr/>
          </a:p>
        </p:txBody>
      </p:sp>
      <p:graphicFrame>
        <p:nvGraphicFramePr>
          <p:cNvPr id="1040" name="Google Shape;1040;p102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41" name="Google Shape;1041;p102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042" name="Google Shape;1042;p102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043" name="Google Shape;1043;p102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1044" name="Google Shape;1044;p102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045" name="Google Shape;1045;p102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046" name="Google Shape;1046;p102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1047" name="Google Shape;1047;p102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1048" name="Google Shape;1048;p102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049" name="Google Shape;1049;p102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102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051" name="Google Shape;1051;p102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103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84Hex Positive Response Frame Format</a:t>
            </a:r>
            <a:endParaRPr/>
          </a:p>
        </p:txBody>
      </p:sp>
      <p:graphicFrame>
        <p:nvGraphicFramePr>
          <p:cNvPr id="1057" name="Google Shape;1057;p103"/>
          <p:cNvGraphicFramePr/>
          <p:nvPr/>
        </p:nvGraphicFramePr>
        <p:xfrm>
          <a:off x="0" y="32963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78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58" name="Google Shape;1058;p103"/>
          <p:cNvSpPr/>
          <p:nvPr/>
        </p:nvSpPr>
        <p:spPr>
          <a:xfrm>
            <a:off x="0" y="4077952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460</a:t>
            </a:r>
            <a:endParaRPr/>
          </a:p>
        </p:txBody>
      </p:sp>
      <p:sp>
        <p:nvSpPr>
          <p:cNvPr id="1059" name="Google Shape;1059;p103"/>
          <p:cNvSpPr/>
          <p:nvPr/>
        </p:nvSpPr>
        <p:spPr>
          <a:xfrm>
            <a:off x="1615440" y="4077952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060" name="Google Shape;1060;p103"/>
          <p:cNvSpPr/>
          <p:nvPr/>
        </p:nvSpPr>
        <p:spPr>
          <a:xfrm>
            <a:off x="2799470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/>
          </a:p>
        </p:txBody>
      </p:sp>
      <p:sp>
        <p:nvSpPr>
          <p:cNvPr id="1061" name="Google Shape;1061;p103"/>
          <p:cNvSpPr/>
          <p:nvPr/>
        </p:nvSpPr>
        <p:spPr>
          <a:xfrm>
            <a:off x="4164036" y="4077952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062" name="Google Shape;1062;p103"/>
          <p:cNvSpPr/>
          <p:nvPr/>
        </p:nvSpPr>
        <p:spPr>
          <a:xfrm>
            <a:off x="5779476" y="4077952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063" name="Google Shape;1063;p103"/>
          <p:cNvSpPr/>
          <p:nvPr/>
        </p:nvSpPr>
        <p:spPr>
          <a:xfrm>
            <a:off x="6963506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1064" name="Google Shape;1064;p103"/>
          <p:cNvSpPr/>
          <p:nvPr/>
        </p:nvSpPr>
        <p:spPr>
          <a:xfrm>
            <a:off x="8328072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1065" name="Google Shape;1065;p103"/>
          <p:cNvSpPr/>
          <p:nvPr/>
        </p:nvSpPr>
        <p:spPr>
          <a:xfrm>
            <a:off x="9692638" y="4077952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066" name="Google Shape;1066;p103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103"/>
          <p:cNvSpPr txBox="1"/>
          <p:nvPr/>
        </p:nvSpPr>
        <p:spPr>
          <a:xfrm>
            <a:off x="942535" y="1777658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8" name="Google Shape;1068;p103"/>
          <p:cNvSpPr/>
          <p:nvPr/>
        </p:nvSpPr>
        <p:spPr>
          <a:xfrm>
            <a:off x="10944663" y="3296306"/>
            <a:ext cx="1252025" cy="7816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069" name="Google Shape;1069;p103"/>
          <p:cNvSpPr/>
          <p:nvPr/>
        </p:nvSpPr>
        <p:spPr>
          <a:xfrm>
            <a:off x="10939975" y="4077952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84Hex Supported Negative  Response</a:t>
            </a:r>
            <a:endParaRPr/>
          </a:p>
        </p:txBody>
      </p:sp>
      <p:pic>
        <p:nvPicPr>
          <p:cNvPr id="1075" name="Google Shape;1075;p10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821" y="2307102"/>
            <a:ext cx="9660357" cy="3183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0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84Hex Negative Response</a:t>
            </a:r>
            <a:endParaRPr/>
          </a:p>
        </p:txBody>
      </p:sp>
      <p:graphicFrame>
        <p:nvGraphicFramePr>
          <p:cNvPr id="1081" name="Google Shape;1081;p105"/>
          <p:cNvGraphicFramePr/>
          <p:nvPr/>
        </p:nvGraphicFramePr>
        <p:xfrm>
          <a:off x="1340534" y="2924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2102825"/>
                <a:gridCol w="1278225"/>
                <a:gridCol w="1990750"/>
                <a:gridCol w="1689675"/>
                <a:gridCol w="1487600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NR_SERVICE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NRC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82" name="Google Shape;1082;p105"/>
          <p:cNvSpPr/>
          <p:nvPr/>
        </p:nvSpPr>
        <p:spPr>
          <a:xfrm>
            <a:off x="1340534" y="3564626"/>
            <a:ext cx="2120118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421</a:t>
            </a:r>
            <a:endParaRPr/>
          </a:p>
        </p:txBody>
      </p:sp>
      <p:sp>
        <p:nvSpPr>
          <p:cNvPr id="1083" name="Google Shape;1083;p105"/>
          <p:cNvSpPr/>
          <p:nvPr/>
        </p:nvSpPr>
        <p:spPr>
          <a:xfrm>
            <a:off x="3460652" y="3564626"/>
            <a:ext cx="1322363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084" name="Google Shape;1084;p105"/>
          <p:cNvSpPr/>
          <p:nvPr/>
        </p:nvSpPr>
        <p:spPr>
          <a:xfrm>
            <a:off x="4783016" y="3550784"/>
            <a:ext cx="212011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7F</a:t>
            </a:r>
            <a:endParaRPr/>
          </a:p>
        </p:txBody>
      </p:sp>
      <p:sp>
        <p:nvSpPr>
          <p:cNvPr id="1085" name="Google Shape;1085;p105"/>
          <p:cNvSpPr/>
          <p:nvPr/>
        </p:nvSpPr>
        <p:spPr>
          <a:xfrm>
            <a:off x="6903134" y="3550784"/>
            <a:ext cx="1533379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/>
          </a:p>
        </p:txBody>
      </p:sp>
      <p:sp>
        <p:nvSpPr>
          <p:cNvPr id="1086" name="Google Shape;1086;p105"/>
          <p:cNvSpPr/>
          <p:nvPr/>
        </p:nvSpPr>
        <p:spPr>
          <a:xfrm>
            <a:off x="8436513" y="3549250"/>
            <a:ext cx="145307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06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 sz="6200"/>
              <a:t>Control DTC Setting </a:t>
            </a: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(85H)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Control DTC Setting 85H</a:t>
            </a:r>
            <a:endParaRPr/>
          </a:p>
        </p:txBody>
      </p:sp>
      <p:sp>
        <p:nvSpPr>
          <p:cNvPr id="1097" name="Google Shape;1097;p10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DTC are used by the automobile manufacturer to diagnose problems related to vehicle.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Control DTC Setting enables the tester (client) to control the updating of the Diagnostic Trouble Codes (DTC:s) in the ECU:s.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Generally its used to disable DTC update while preprogramming and enable on post programming.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Google Shape;1102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670" y="0"/>
            <a:ext cx="9932660" cy="67553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7" name="Google Shape;1107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385" y="0"/>
            <a:ext cx="10776538" cy="6863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10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Control DTC Setting 85H Request frame Services</a:t>
            </a:r>
            <a:endParaRPr/>
          </a:p>
        </p:txBody>
      </p:sp>
      <p:graphicFrame>
        <p:nvGraphicFramePr>
          <p:cNvPr id="1113" name="Google Shape;1113;p110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 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14" name="Google Shape;1114;p110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115" name="Google Shape;1115;p110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85</a:t>
            </a:r>
            <a:endParaRPr/>
          </a:p>
        </p:txBody>
      </p:sp>
      <p:sp>
        <p:nvSpPr>
          <p:cNvPr id="1117" name="Google Shape;1117;p110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18" name="Google Shape;1118;p110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19" name="Google Shape;1119;p110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20" name="Google Shape;1120;p110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21" name="Google Shape;1121;p110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22" name="Google Shape;1122;p110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3" name="Google Shape;1123;p110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124" name="Google Shape;1124;p110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111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Control DTC Setting 85H Positive Response Frame Format</a:t>
            </a:r>
            <a:endParaRPr/>
          </a:p>
        </p:txBody>
      </p:sp>
      <p:graphicFrame>
        <p:nvGraphicFramePr>
          <p:cNvPr id="1130" name="Google Shape;1130;p111"/>
          <p:cNvGraphicFramePr/>
          <p:nvPr/>
        </p:nvGraphicFramePr>
        <p:xfrm>
          <a:off x="0" y="32963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78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31" name="Google Shape;1131;p111"/>
          <p:cNvSpPr/>
          <p:nvPr/>
        </p:nvSpPr>
        <p:spPr>
          <a:xfrm>
            <a:off x="0" y="4077952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460</a:t>
            </a:r>
            <a:endParaRPr/>
          </a:p>
        </p:txBody>
      </p:sp>
      <p:sp>
        <p:nvSpPr>
          <p:cNvPr id="1132" name="Google Shape;1132;p111"/>
          <p:cNvSpPr/>
          <p:nvPr/>
        </p:nvSpPr>
        <p:spPr>
          <a:xfrm>
            <a:off x="1615440" y="4077952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33" name="Google Shape;1133;p111"/>
          <p:cNvSpPr/>
          <p:nvPr/>
        </p:nvSpPr>
        <p:spPr>
          <a:xfrm>
            <a:off x="2799470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C5</a:t>
            </a:r>
            <a:endParaRPr/>
          </a:p>
        </p:txBody>
      </p:sp>
      <p:sp>
        <p:nvSpPr>
          <p:cNvPr id="1134" name="Google Shape;1134;p111"/>
          <p:cNvSpPr/>
          <p:nvPr/>
        </p:nvSpPr>
        <p:spPr>
          <a:xfrm>
            <a:off x="4164036" y="4077952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35" name="Google Shape;1135;p111"/>
          <p:cNvSpPr/>
          <p:nvPr/>
        </p:nvSpPr>
        <p:spPr>
          <a:xfrm>
            <a:off x="5779476" y="4077952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36" name="Google Shape;1136;p111"/>
          <p:cNvSpPr/>
          <p:nvPr/>
        </p:nvSpPr>
        <p:spPr>
          <a:xfrm>
            <a:off x="6963506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37" name="Google Shape;1137;p111"/>
          <p:cNvSpPr/>
          <p:nvPr/>
        </p:nvSpPr>
        <p:spPr>
          <a:xfrm>
            <a:off x="8328072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38" name="Google Shape;1138;p111"/>
          <p:cNvSpPr/>
          <p:nvPr/>
        </p:nvSpPr>
        <p:spPr>
          <a:xfrm>
            <a:off x="9692638" y="4077952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39" name="Google Shape;1139;p111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111"/>
          <p:cNvSpPr txBox="1"/>
          <p:nvPr/>
        </p:nvSpPr>
        <p:spPr>
          <a:xfrm>
            <a:off x="942535" y="1777658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1" name="Google Shape;1141;p111"/>
          <p:cNvSpPr/>
          <p:nvPr/>
        </p:nvSpPr>
        <p:spPr>
          <a:xfrm>
            <a:off x="10944663" y="3296306"/>
            <a:ext cx="1252025" cy="7816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142" name="Google Shape;1142;p111"/>
          <p:cNvSpPr/>
          <p:nvPr/>
        </p:nvSpPr>
        <p:spPr>
          <a:xfrm>
            <a:off x="10939975" y="4077952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1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Link control 87hex service</a:t>
            </a:r>
            <a:endParaRPr/>
          </a:p>
        </p:txBody>
      </p:sp>
      <p:sp>
        <p:nvSpPr>
          <p:cNvPr id="1148" name="Google Shape;1148;p112"/>
          <p:cNvSpPr txBox="1"/>
          <p:nvPr>
            <p:ph idx="1" type="body"/>
          </p:nvPr>
        </p:nvSpPr>
        <p:spPr>
          <a:xfrm>
            <a:off x="1139483" y="2514944"/>
            <a:ext cx="10214317" cy="1325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Link Control service is used to control the communication link baud rate between the client and the server(s) for the exchange of diagnostic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This service optionally applied.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13"/>
          <p:cNvSpPr txBox="1"/>
          <p:nvPr>
            <p:ph type="title"/>
          </p:nvPr>
        </p:nvSpPr>
        <p:spPr>
          <a:xfrm>
            <a:off x="844062" y="0"/>
            <a:ext cx="10509738" cy="970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 message subfunction</a:t>
            </a:r>
            <a:endParaRPr/>
          </a:p>
        </p:txBody>
      </p:sp>
      <p:pic>
        <p:nvPicPr>
          <p:cNvPr id="1154" name="Google Shape;1154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5741" y="970672"/>
            <a:ext cx="7122721" cy="56186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114"/>
          <p:cNvSpPr txBox="1"/>
          <p:nvPr>
            <p:ph type="title"/>
          </p:nvPr>
        </p:nvSpPr>
        <p:spPr>
          <a:xfrm>
            <a:off x="1055076" y="365125"/>
            <a:ext cx="10298723" cy="535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Baud rate</a:t>
            </a:r>
            <a:endParaRPr/>
          </a:p>
        </p:txBody>
      </p:sp>
      <p:pic>
        <p:nvPicPr>
          <p:cNvPr id="1160" name="Google Shape;1160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6543" y="928467"/>
            <a:ext cx="6363035" cy="5957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15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Link control 87H Request frame Services</a:t>
            </a:r>
            <a:endParaRPr/>
          </a:p>
        </p:txBody>
      </p:sp>
      <p:graphicFrame>
        <p:nvGraphicFramePr>
          <p:cNvPr id="1166" name="Google Shape;1166;p115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 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Baud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67" name="Google Shape;1167;p115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168" name="Google Shape;1168;p115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69" name="Google Shape;1169;p115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87</a:t>
            </a:r>
            <a:endParaRPr/>
          </a:p>
        </p:txBody>
      </p:sp>
      <p:sp>
        <p:nvSpPr>
          <p:cNvPr id="1170" name="Google Shape;1170;p115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172" name="Google Shape;1172;p115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73" name="Google Shape;1173;p115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74" name="Google Shape;1174;p115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75" name="Google Shape;1175;p115"/>
          <p:cNvSpPr txBox="1"/>
          <p:nvPr/>
        </p:nvSpPr>
        <p:spPr>
          <a:xfrm>
            <a:off x="942535" y="176102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6" name="Google Shape;1176;p115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177" name="Google Shape;1177;p115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6"/>
          <p:cNvSpPr txBox="1"/>
          <p:nvPr>
            <p:ph type="title"/>
          </p:nvPr>
        </p:nvSpPr>
        <p:spPr>
          <a:xfrm>
            <a:off x="623668" y="4354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Link control 87H Positive Response Frame Format</a:t>
            </a:r>
            <a:endParaRPr/>
          </a:p>
        </p:txBody>
      </p:sp>
      <p:graphicFrame>
        <p:nvGraphicFramePr>
          <p:cNvPr id="1183" name="Google Shape;1183;p116"/>
          <p:cNvGraphicFramePr/>
          <p:nvPr/>
        </p:nvGraphicFramePr>
        <p:xfrm>
          <a:off x="0" y="32963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908600"/>
                <a:gridCol w="1403975"/>
                <a:gridCol w="1476925"/>
                <a:gridCol w="1359650"/>
              </a:tblGrid>
              <a:tr h="781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84" name="Google Shape;1184;p116"/>
          <p:cNvSpPr/>
          <p:nvPr/>
        </p:nvSpPr>
        <p:spPr>
          <a:xfrm>
            <a:off x="0" y="4077952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462</a:t>
            </a:r>
            <a:endParaRPr/>
          </a:p>
        </p:txBody>
      </p:sp>
      <p:sp>
        <p:nvSpPr>
          <p:cNvPr id="1185" name="Google Shape;1185;p116"/>
          <p:cNvSpPr/>
          <p:nvPr/>
        </p:nvSpPr>
        <p:spPr>
          <a:xfrm>
            <a:off x="1615440" y="4077952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86" name="Google Shape;1186;p116"/>
          <p:cNvSpPr/>
          <p:nvPr/>
        </p:nvSpPr>
        <p:spPr>
          <a:xfrm>
            <a:off x="2799470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C7</a:t>
            </a:r>
            <a:endParaRPr/>
          </a:p>
        </p:txBody>
      </p:sp>
      <p:sp>
        <p:nvSpPr>
          <p:cNvPr id="1187" name="Google Shape;1187;p116"/>
          <p:cNvSpPr/>
          <p:nvPr/>
        </p:nvSpPr>
        <p:spPr>
          <a:xfrm>
            <a:off x="4164036" y="4077952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88" name="Google Shape;1188;p116"/>
          <p:cNvSpPr/>
          <p:nvPr/>
        </p:nvSpPr>
        <p:spPr>
          <a:xfrm>
            <a:off x="5779476" y="4077952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89" name="Google Shape;1189;p116"/>
          <p:cNvSpPr/>
          <p:nvPr/>
        </p:nvSpPr>
        <p:spPr>
          <a:xfrm>
            <a:off x="6963506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90" name="Google Shape;1190;p116"/>
          <p:cNvSpPr/>
          <p:nvPr/>
        </p:nvSpPr>
        <p:spPr>
          <a:xfrm>
            <a:off x="8328072" y="4077952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91" name="Google Shape;1191;p116"/>
          <p:cNvSpPr/>
          <p:nvPr/>
        </p:nvSpPr>
        <p:spPr>
          <a:xfrm>
            <a:off x="9692638" y="4077952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192" name="Google Shape;1192;p116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3" name="Google Shape;1193;p116"/>
          <p:cNvSpPr txBox="1"/>
          <p:nvPr/>
        </p:nvSpPr>
        <p:spPr>
          <a:xfrm>
            <a:off x="942535" y="1775094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116"/>
          <p:cNvSpPr/>
          <p:nvPr/>
        </p:nvSpPr>
        <p:spPr>
          <a:xfrm>
            <a:off x="10944663" y="3296306"/>
            <a:ext cx="1252025" cy="78164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195" name="Google Shape;1195;p116"/>
          <p:cNvSpPr/>
          <p:nvPr/>
        </p:nvSpPr>
        <p:spPr>
          <a:xfrm>
            <a:off x="10939975" y="4077952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Data Transmission functional unit</a:t>
            </a:r>
            <a:endParaRPr/>
          </a:p>
        </p:txBody>
      </p:sp>
      <p:sp>
        <p:nvSpPr>
          <p:cNvPr id="1201" name="Google Shape;1201;p1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Read data by identifier (22hex)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Read Memory by address (23hex)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Read Scaling data by Identifier (24hex)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Read data by periodic identifier (2Ahex)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Dynamically define data identifier (2Chex)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Write data by identifier (2Ehex)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Write Memory by address (3Dhex)</a:t>
            </a:r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Flow control</a:t>
            </a:r>
            <a:endParaRPr/>
          </a:p>
        </p:txBody>
      </p:sp>
      <p:sp>
        <p:nvSpPr>
          <p:cNvPr id="1207" name="Google Shape;1207;p1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If we want to receive more than 8 bytes of data we need to use flow control method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Types of frames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Single Frame		- 00 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First frame			- 10 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Consecutive frame		- 21 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Flow control frame		- 20 H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119"/>
          <p:cNvPicPr preferRelativeResize="0"/>
          <p:nvPr/>
        </p:nvPicPr>
        <p:blipFill rotWithShape="1">
          <a:blip r:embed="rId3">
            <a:alphaModFix/>
          </a:blip>
          <a:srcRect b="87635" l="0" r="0" t="0"/>
          <a:stretch/>
        </p:blipFill>
        <p:spPr>
          <a:xfrm>
            <a:off x="0" y="27630"/>
            <a:ext cx="12192000" cy="844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119"/>
          <p:cNvPicPr preferRelativeResize="0"/>
          <p:nvPr/>
        </p:nvPicPr>
        <p:blipFill rotWithShape="1">
          <a:blip r:embed="rId4">
            <a:alphaModFix/>
          </a:blip>
          <a:srcRect b="79397" l="0" r="0" t="0"/>
          <a:stretch/>
        </p:blipFill>
        <p:spPr>
          <a:xfrm>
            <a:off x="0" y="27630"/>
            <a:ext cx="12192000" cy="140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119"/>
          <p:cNvPicPr preferRelativeResize="0"/>
          <p:nvPr/>
        </p:nvPicPr>
        <p:blipFill rotWithShape="1">
          <a:blip r:embed="rId5">
            <a:alphaModFix/>
          </a:blip>
          <a:srcRect b="73836" l="0" r="0" t="-1"/>
          <a:stretch/>
        </p:blipFill>
        <p:spPr>
          <a:xfrm>
            <a:off x="0" y="27630"/>
            <a:ext cx="12192000" cy="1787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119"/>
          <p:cNvPicPr preferRelativeResize="0"/>
          <p:nvPr/>
        </p:nvPicPr>
        <p:blipFill rotWithShape="1">
          <a:blip r:embed="rId6">
            <a:alphaModFix/>
          </a:blip>
          <a:srcRect b="64362" l="0" r="0" t="0"/>
          <a:stretch/>
        </p:blipFill>
        <p:spPr>
          <a:xfrm>
            <a:off x="0" y="-28136"/>
            <a:ext cx="12192000" cy="2434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119"/>
          <p:cNvPicPr preferRelativeResize="0"/>
          <p:nvPr/>
        </p:nvPicPr>
        <p:blipFill rotWithShape="1">
          <a:blip r:embed="rId7">
            <a:alphaModFix/>
          </a:blip>
          <a:srcRect b="54064" l="1" r="45769" t="0"/>
          <a:stretch/>
        </p:blipFill>
        <p:spPr>
          <a:xfrm>
            <a:off x="0" y="-28136"/>
            <a:ext cx="6611815" cy="3137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19"/>
          <p:cNvPicPr preferRelativeResize="0"/>
          <p:nvPr/>
        </p:nvPicPr>
        <p:blipFill rotWithShape="1">
          <a:blip r:embed="rId8">
            <a:alphaModFix/>
          </a:blip>
          <a:srcRect b="54064" l="0" r="0" t="0"/>
          <a:stretch/>
        </p:blipFill>
        <p:spPr>
          <a:xfrm>
            <a:off x="0" y="27629"/>
            <a:ext cx="12192000" cy="3137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119"/>
          <p:cNvPicPr preferRelativeResize="0"/>
          <p:nvPr/>
        </p:nvPicPr>
        <p:blipFill rotWithShape="1">
          <a:blip r:embed="rId9">
            <a:alphaModFix/>
          </a:blip>
          <a:srcRect b="46340" l="0" r="0" t="0"/>
          <a:stretch/>
        </p:blipFill>
        <p:spPr>
          <a:xfrm>
            <a:off x="0" y="27630"/>
            <a:ext cx="12192000" cy="3665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119"/>
          <p:cNvPicPr preferRelativeResize="0"/>
          <p:nvPr/>
        </p:nvPicPr>
        <p:blipFill rotWithShape="1">
          <a:blip r:embed="rId10">
            <a:alphaModFix/>
          </a:blip>
          <a:srcRect b="34498" l="0" r="52692" t="0"/>
          <a:stretch/>
        </p:blipFill>
        <p:spPr>
          <a:xfrm>
            <a:off x="1" y="27630"/>
            <a:ext cx="5767754" cy="447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119"/>
          <p:cNvPicPr preferRelativeResize="0"/>
          <p:nvPr/>
        </p:nvPicPr>
        <p:blipFill rotWithShape="1">
          <a:blip r:embed="rId11">
            <a:alphaModFix/>
          </a:blip>
          <a:srcRect b="34498" l="0" r="0" t="0"/>
          <a:stretch/>
        </p:blipFill>
        <p:spPr>
          <a:xfrm>
            <a:off x="0" y="27630"/>
            <a:ext cx="12192000" cy="4474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119"/>
          <p:cNvPicPr preferRelativeResize="0"/>
          <p:nvPr/>
        </p:nvPicPr>
        <p:blipFill rotWithShape="1">
          <a:blip r:embed="rId12">
            <a:alphaModFix/>
          </a:blip>
          <a:srcRect b="25230" l="0" r="52692" t="0"/>
          <a:stretch/>
        </p:blipFill>
        <p:spPr>
          <a:xfrm>
            <a:off x="0" y="-28136"/>
            <a:ext cx="5767754" cy="5107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119"/>
          <p:cNvPicPr preferRelativeResize="0"/>
          <p:nvPr/>
        </p:nvPicPr>
        <p:blipFill rotWithShape="1">
          <a:blip r:embed="rId13">
            <a:alphaModFix/>
          </a:blip>
          <a:srcRect b="26046" l="0" r="0" t="0"/>
          <a:stretch/>
        </p:blipFill>
        <p:spPr>
          <a:xfrm>
            <a:off x="0" y="27630"/>
            <a:ext cx="12192000" cy="5051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1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27629"/>
            <a:ext cx="12192000" cy="6830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data by identifier 22Hex Service</a:t>
            </a:r>
            <a:endParaRPr/>
          </a:p>
        </p:txBody>
      </p:sp>
      <p:sp>
        <p:nvSpPr>
          <p:cNvPr id="1229" name="Google Shape;1229;p120"/>
          <p:cNvSpPr txBox="1"/>
          <p:nvPr>
            <p:ph idx="1" type="body"/>
          </p:nvPr>
        </p:nvSpPr>
        <p:spPr>
          <a:xfrm>
            <a:off x="1026942" y="1825625"/>
            <a:ext cx="1032685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Read Data By Identifier service allows the client to request data record values from the server identified by one or more data Identifiers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No subfunction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21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data by identifier 22H Request frame</a:t>
            </a:r>
            <a:endParaRPr/>
          </a:p>
        </p:txBody>
      </p:sp>
      <p:graphicFrame>
        <p:nvGraphicFramePr>
          <p:cNvPr id="1235" name="Google Shape;1235;p121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36" name="Google Shape;1236;p121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237" name="Google Shape;1237;p121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38" name="Google Shape;1238;p121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239" name="Google Shape;1239;p121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240" name="Google Shape;1240;p121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1241" name="Google Shape;1241;p121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242" name="Google Shape;1242;p121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243" name="Google Shape;1243;p121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244" name="Google Shape;1244;p121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121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246" name="Google Shape;1246;p121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247" name="Google Shape;1247;p121"/>
          <p:cNvSpPr txBox="1"/>
          <p:nvPr>
            <p:ph idx="1" type="body"/>
          </p:nvPr>
        </p:nvSpPr>
        <p:spPr>
          <a:xfrm>
            <a:off x="439028" y="1657548"/>
            <a:ext cx="10515600" cy="411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Read RPM lets take RPM as 5000 and Data identifier as 0141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122"/>
          <p:cNvSpPr txBox="1"/>
          <p:nvPr>
            <p:ph type="title"/>
          </p:nvPr>
        </p:nvSpPr>
        <p:spPr>
          <a:xfrm>
            <a:off x="439027" y="435463"/>
            <a:ext cx="11420037" cy="1168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identifier 22H Positive Response frame</a:t>
            </a:r>
            <a:endParaRPr/>
          </a:p>
        </p:txBody>
      </p:sp>
      <p:graphicFrame>
        <p:nvGraphicFramePr>
          <p:cNvPr id="1253" name="Google Shape;1253;p122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54" name="Google Shape;1254;p122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359</a:t>
            </a:r>
            <a:endParaRPr/>
          </a:p>
        </p:txBody>
      </p:sp>
      <p:sp>
        <p:nvSpPr>
          <p:cNvPr id="1255" name="Google Shape;1255;p122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56" name="Google Shape;1256;p122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/>
          </a:p>
        </p:txBody>
      </p:sp>
      <p:sp>
        <p:nvSpPr>
          <p:cNvPr id="1257" name="Google Shape;1257;p122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258" name="Google Shape;1258;p122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endParaRPr/>
          </a:p>
        </p:txBody>
      </p:sp>
      <p:sp>
        <p:nvSpPr>
          <p:cNvPr id="1259" name="Google Shape;1259;p122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1260" name="Google Shape;1260;p122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88</a:t>
            </a:r>
            <a:endParaRPr/>
          </a:p>
        </p:txBody>
      </p:sp>
      <p:sp>
        <p:nvSpPr>
          <p:cNvPr id="1261" name="Google Shape;1261;p122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262" name="Google Shape;1262;p122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 </a:t>
            </a:r>
            <a:endParaRPr/>
          </a:p>
        </p:txBody>
      </p:sp>
      <p:sp>
        <p:nvSpPr>
          <p:cNvPr id="1263" name="Google Shape;1263;p122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264" name="Google Shape;1264;p122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" name="Google Shape;126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245" y="816119"/>
            <a:ext cx="10355510" cy="5225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1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data by identifier 22Hex Negative Response</a:t>
            </a:r>
            <a:endParaRPr/>
          </a:p>
        </p:txBody>
      </p:sp>
      <p:graphicFrame>
        <p:nvGraphicFramePr>
          <p:cNvPr id="1275" name="Google Shape;1275;p124"/>
          <p:cNvGraphicFramePr/>
          <p:nvPr/>
        </p:nvGraphicFramePr>
        <p:xfrm>
          <a:off x="1340534" y="29245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2102825"/>
                <a:gridCol w="1278225"/>
                <a:gridCol w="1990750"/>
                <a:gridCol w="1689675"/>
                <a:gridCol w="1487600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NR_SERVICE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NRC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76" name="Google Shape;1276;p124"/>
          <p:cNvSpPr/>
          <p:nvPr/>
        </p:nvSpPr>
        <p:spPr>
          <a:xfrm>
            <a:off x="1340534" y="3564626"/>
            <a:ext cx="2120118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421</a:t>
            </a:r>
            <a:endParaRPr/>
          </a:p>
        </p:txBody>
      </p:sp>
      <p:sp>
        <p:nvSpPr>
          <p:cNvPr id="1277" name="Google Shape;1277;p124"/>
          <p:cNvSpPr/>
          <p:nvPr/>
        </p:nvSpPr>
        <p:spPr>
          <a:xfrm>
            <a:off x="3460652" y="3564626"/>
            <a:ext cx="1322363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78" name="Google Shape;1278;p124"/>
          <p:cNvSpPr/>
          <p:nvPr/>
        </p:nvSpPr>
        <p:spPr>
          <a:xfrm>
            <a:off x="4783016" y="3550784"/>
            <a:ext cx="212011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7F</a:t>
            </a:r>
            <a:endParaRPr/>
          </a:p>
        </p:txBody>
      </p:sp>
      <p:sp>
        <p:nvSpPr>
          <p:cNvPr id="1279" name="Google Shape;1279;p124"/>
          <p:cNvSpPr/>
          <p:nvPr/>
        </p:nvSpPr>
        <p:spPr>
          <a:xfrm>
            <a:off x="6903134" y="3550784"/>
            <a:ext cx="1533379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280" name="Google Shape;1280;p124"/>
          <p:cNvSpPr/>
          <p:nvPr/>
        </p:nvSpPr>
        <p:spPr>
          <a:xfrm>
            <a:off x="8436513" y="3549250"/>
            <a:ext cx="145307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1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Memory by Address 23Hex Service</a:t>
            </a:r>
            <a:endParaRPr/>
          </a:p>
        </p:txBody>
      </p:sp>
      <p:sp>
        <p:nvSpPr>
          <p:cNvPr id="1286" name="Google Shape;1286;p125"/>
          <p:cNvSpPr txBox="1"/>
          <p:nvPr>
            <p:ph idx="1" type="body"/>
          </p:nvPr>
        </p:nvSpPr>
        <p:spPr>
          <a:xfrm>
            <a:off x="932571" y="2388333"/>
            <a:ext cx="10326858" cy="2479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Read Memory By Address service allows the client to request memory data from the server via a provided starting address and to specify the size of memory to be read.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No subfunction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292" name="Google Shape;1292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311" y="1690688"/>
            <a:ext cx="11493378" cy="4874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 </a:t>
            </a:r>
            <a:endParaRPr/>
          </a:p>
        </p:txBody>
      </p:sp>
      <p:pic>
        <p:nvPicPr>
          <p:cNvPr id="1298" name="Google Shape;1298;p1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36" y="2254482"/>
            <a:ext cx="11283927" cy="321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28"/>
          <p:cNvSpPr txBox="1"/>
          <p:nvPr>
            <p:ph type="title"/>
          </p:nvPr>
        </p:nvSpPr>
        <p:spPr>
          <a:xfrm>
            <a:off x="731520" y="365125"/>
            <a:ext cx="10622280" cy="802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Negative response</a:t>
            </a:r>
            <a:endParaRPr/>
          </a:p>
        </p:txBody>
      </p:sp>
      <p:pic>
        <p:nvPicPr>
          <p:cNvPr id="1304" name="Google Shape;1304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4222" y="1451097"/>
            <a:ext cx="8314006" cy="514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29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frame</a:t>
            </a:r>
            <a:endParaRPr/>
          </a:p>
        </p:txBody>
      </p:sp>
      <p:graphicFrame>
        <p:nvGraphicFramePr>
          <p:cNvPr id="1310" name="Google Shape;1310;p129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3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11" name="Google Shape;1311;p129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312" name="Google Shape;1312;p129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13" name="Google Shape;1313;p129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0F</a:t>
            </a:r>
            <a:endParaRPr/>
          </a:p>
        </p:txBody>
      </p:sp>
      <p:sp>
        <p:nvSpPr>
          <p:cNvPr id="1314" name="Google Shape;1314;p129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1315" name="Google Shape;1315;p129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  <p:sp>
        <p:nvSpPr>
          <p:cNvPr id="1316" name="Google Shape;1316;p129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317" name="Google Shape;1317;p129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318" name="Google Shape;1318;p129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1319" name="Google Shape;1319;p129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0" name="Google Shape;1320;p129"/>
          <p:cNvSpPr/>
          <p:nvPr/>
        </p:nvSpPr>
        <p:spPr>
          <a:xfrm>
            <a:off x="10939975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129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130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flow control frame</a:t>
            </a:r>
            <a:endParaRPr/>
          </a:p>
        </p:txBody>
      </p:sp>
      <p:graphicFrame>
        <p:nvGraphicFramePr>
          <p:cNvPr id="1327" name="Google Shape;1327;p130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28" name="Google Shape;1328;p130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329" name="Google Shape;1329;p130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330" name="Google Shape;1330;p130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31" name="Google Shape;1331;p130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32" name="Google Shape;1332;p130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33" name="Google Shape;1333;p130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34" name="Google Shape;1334;p130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35" name="Google Shape;1335;p130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36" name="Google Shape;1336;p130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7" name="Google Shape;1337;p130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338" name="Google Shape;1338;p130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131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flow control frame</a:t>
            </a:r>
            <a:endParaRPr/>
          </a:p>
        </p:txBody>
      </p:sp>
      <p:graphicFrame>
        <p:nvGraphicFramePr>
          <p:cNvPr id="1344" name="Google Shape;1344;p131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244325"/>
                <a:gridCol w="1307800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Consecutive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45" name="Google Shape;1345;p131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346" name="Google Shape;1346;p131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347" name="Google Shape;1347;p131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348" name="Google Shape;1348;p131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49" name="Google Shape;1349;p131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50" name="Google Shape;1350;p131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351" name="Google Shape;1351;p131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352" name="Google Shape;1352;p131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353" name="Google Shape;1353;p131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131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Size 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131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32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flow control frame</a:t>
            </a:r>
            <a:endParaRPr/>
          </a:p>
        </p:txBody>
      </p:sp>
      <p:graphicFrame>
        <p:nvGraphicFramePr>
          <p:cNvPr id="1361" name="Google Shape;1361;p132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244325"/>
                <a:gridCol w="1307800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Consecutive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62" name="Google Shape;1362;p132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363" name="Google Shape;1363;p132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364" name="Google Shape;1364;p132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65" name="Google Shape;1365;p132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366" name="Google Shape;1366;p132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67" name="Google Shape;1367;p132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68" name="Google Shape;1368;p132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69" name="Google Shape;1369;p132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70" name="Google Shape;1370;p132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1" name="Google Shape;1371;p132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372" name="Google Shape;1372;p132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133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frame</a:t>
            </a:r>
            <a:endParaRPr/>
          </a:p>
        </p:txBody>
      </p:sp>
      <p:graphicFrame>
        <p:nvGraphicFramePr>
          <p:cNvPr id="1378" name="Google Shape;1378;p133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3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4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79" name="Google Shape;1379;p133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380" name="Google Shape;1380;p133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381" name="Google Shape;1381;p133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0E</a:t>
            </a:r>
            <a:endParaRPr/>
          </a:p>
        </p:txBody>
      </p:sp>
      <p:sp>
        <p:nvSpPr>
          <p:cNvPr id="1382" name="Google Shape;1382;p133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63</a:t>
            </a:r>
            <a:endParaRPr/>
          </a:p>
        </p:txBody>
      </p:sp>
      <p:sp>
        <p:nvSpPr>
          <p:cNvPr id="1383" name="Google Shape;1383;p133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384" name="Google Shape;1384;p133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385" name="Google Shape;1385;p133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sp>
        <p:nvSpPr>
          <p:cNvPr id="1386" name="Google Shape;1386;p133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1387" name="Google Shape;1387;p133"/>
          <p:cNvSpPr txBox="1"/>
          <p:nvPr/>
        </p:nvSpPr>
        <p:spPr>
          <a:xfrm>
            <a:off x="439028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8" name="Google Shape;1388;p133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5</a:t>
            </a:r>
            <a:endParaRPr/>
          </a:p>
        </p:txBody>
      </p:sp>
      <p:sp>
        <p:nvSpPr>
          <p:cNvPr id="1389" name="Google Shape;1389;p133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34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flow control frame</a:t>
            </a:r>
            <a:endParaRPr/>
          </a:p>
        </p:txBody>
      </p:sp>
      <p:graphicFrame>
        <p:nvGraphicFramePr>
          <p:cNvPr id="1395" name="Google Shape;1395;p134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96" name="Google Shape;1396;p134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397" name="Google Shape;1397;p134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398" name="Google Shape;1398;p134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399" name="Google Shape;1399;p134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00" name="Google Shape;1400;p134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02" name="Google Shape;1402;p134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03" name="Google Shape;1403;p134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04" name="Google Shape;1404;p134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5" name="Google Shape;1405;p134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406" name="Google Shape;1406;p134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35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flow control frame</a:t>
            </a:r>
            <a:endParaRPr/>
          </a:p>
        </p:txBody>
      </p:sp>
      <p:graphicFrame>
        <p:nvGraphicFramePr>
          <p:cNvPr id="1412" name="Google Shape;1412;p135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244325"/>
                <a:gridCol w="1307800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Consecutive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11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12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13" name="Google Shape;1413;p135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414" name="Google Shape;1414;p135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415" name="Google Shape;1415;p135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1416" name="Google Shape;1416;p135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  <p:sp>
        <p:nvSpPr>
          <p:cNvPr id="1417" name="Google Shape;1417;p135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  <p:sp>
        <p:nvSpPr>
          <p:cNvPr id="1418" name="Google Shape;1418;p135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/>
          </a:p>
        </p:txBody>
      </p:sp>
      <p:sp>
        <p:nvSpPr>
          <p:cNvPr id="1419" name="Google Shape;1419;p135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420" name="Google Shape;1420;p135"/>
          <p:cNvSpPr/>
          <p:nvPr/>
        </p:nvSpPr>
        <p:spPr>
          <a:xfrm>
            <a:off x="9700563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/>
          </a:p>
        </p:txBody>
      </p:sp>
      <p:sp>
        <p:nvSpPr>
          <p:cNvPr id="1421" name="Google Shape;1421;p135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135"/>
          <p:cNvSpPr/>
          <p:nvPr/>
        </p:nvSpPr>
        <p:spPr>
          <a:xfrm>
            <a:off x="10939975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13</a:t>
            </a:r>
            <a:endParaRPr/>
          </a:p>
        </p:txBody>
      </p:sp>
      <p:sp>
        <p:nvSpPr>
          <p:cNvPr id="1423" name="Google Shape;1423;p135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36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data by Memory address 23H Request flow control frame</a:t>
            </a:r>
            <a:endParaRPr/>
          </a:p>
        </p:txBody>
      </p:sp>
      <p:graphicFrame>
        <p:nvGraphicFramePr>
          <p:cNvPr id="1429" name="Google Shape;1429;p136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244325"/>
                <a:gridCol w="1307800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Consecutive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30" name="Google Shape;1430;p136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431" name="Google Shape;1431;p136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432" name="Google Shape;1432;p136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/>
          </a:p>
        </p:txBody>
      </p:sp>
      <p:sp>
        <p:nvSpPr>
          <p:cNvPr id="1433" name="Google Shape;1433;p136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34" name="Google Shape;1434;p136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35" name="Google Shape;1435;p136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36" name="Google Shape;1436;p136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37" name="Google Shape;1437;p136"/>
          <p:cNvSpPr/>
          <p:nvPr/>
        </p:nvSpPr>
        <p:spPr>
          <a:xfrm>
            <a:off x="9700563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38" name="Google Shape;1438;p136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9" name="Google Shape;1439;p136"/>
          <p:cNvSpPr/>
          <p:nvPr/>
        </p:nvSpPr>
        <p:spPr>
          <a:xfrm>
            <a:off x="10939975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440" name="Google Shape;1440;p136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Write data by identifier 2EHex Service</a:t>
            </a:r>
            <a:endParaRPr/>
          </a:p>
        </p:txBody>
      </p:sp>
      <p:sp>
        <p:nvSpPr>
          <p:cNvPr id="1446" name="Google Shape;1446;p137"/>
          <p:cNvSpPr txBox="1"/>
          <p:nvPr>
            <p:ph idx="1" type="body"/>
          </p:nvPr>
        </p:nvSpPr>
        <p:spPr>
          <a:xfrm>
            <a:off x="1026942" y="1825625"/>
            <a:ext cx="1032685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Write Data By Identifier service allows the client to write information into the server at an internal location specified by the provided data identifiers.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The data may or may not be secured.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 message definition</a:t>
            </a:r>
            <a:endParaRPr/>
          </a:p>
        </p:txBody>
      </p:sp>
      <p:pic>
        <p:nvPicPr>
          <p:cNvPr id="1452" name="Google Shape;1452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501" y="1929984"/>
            <a:ext cx="10607461" cy="3612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 </a:t>
            </a:r>
            <a:endParaRPr/>
          </a:p>
        </p:txBody>
      </p:sp>
      <p:pic>
        <p:nvPicPr>
          <p:cNvPr id="1458" name="Google Shape;1458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845" y="2137062"/>
            <a:ext cx="11490309" cy="258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40"/>
          <p:cNvSpPr txBox="1"/>
          <p:nvPr>
            <p:ph type="title"/>
          </p:nvPr>
        </p:nvSpPr>
        <p:spPr>
          <a:xfrm>
            <a:off x="731520" y="365125"/>
            <a:ext cx="10622280" cy="802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Negative response</a:t>
            </a:r>
            <a:endParaRPr/>
          </a:p>
        </p:txBody>
      </p:sp>
      <p:pic>
        <p:nvPicPr>
          <p:cNvPr id="1464" name="Google Shape;1464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12" y="1319065"/>
            <a:ext cx="8889976" cy="488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41"/>
          <p:cNvSpPr txBox="1"/>
          <p:nvPr>
            <p:ph type="title"/>
          </p:nvPr>
        </p:nvSpPr>
        <p:spPr>
          <a:xfrm>
            <a:off x="439028" y="435464"/>
            <a:ext cx="10700240" cy="804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Write data by Identifier 2EH Request frame</a:t>
            </a:r>
            <a:endParaRPr/>
          </a:p>
        </p:txBody>
      </p:sp>
      <p:graphicFrame>
        <p:nvGraphicFramePr>
          <p:cNvPr id="1470" name="Google Shape;1470;p141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230275"/>
                <a:gridCol w="13218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71" name="Google Shape;1471;p141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472" name="Google Shape;1472;p141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473" name="Google Shape;1473;p141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2E</a:t>
            </a:r>
            <a:endParaRPr/>
          </a:p>
        </p:txBody>
      </p:sp>
      <p:sp>
        <p:nvSpPr>
          <p:cNvPr id="1474" name="Google Shape;1474;p141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475" name="Google Shape;1475;p141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476" name="Google Shape;1476;p141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477" name="Google Shape;1477;p141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78" name="Google Shape;1478;p141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79" name="Google Shape;1479;p141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141"/>
          <p:cNvSpPr/>
          <p:nvPr/>
        </p:nvSpPr>
        <p:spPr>
          <a:xfrm>
            <a:off x="10939975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141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42"/>
          <p:cNvSpPr txBox="1"/>
          <p:nvPr>
            <p:ph type="title"/>
          </p:nvPr>
        </p:nvSpPr>
        <p:spPr>
          <a:xfrm>
            <a:off x="439027" y="435463"/>
            <a:ext cx="11420037" cy="1168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Write data by Identifier 2EH Positive Response frame</a:t>
            </a:r>
            <a:endParaRPr/>
          </a:p>
        </p:txBody>
      </p:sp>
      <p:graphicFrame>
        <p:nvGraphicFramePr>
          <p:cNvPr id="1487" name="Google Shape;1487;p142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1050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88" name="Google Shape;1488;p142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359</a:t>
            </a:r>
            <a:endParaRPr/>
          </a:p>
        </p:txBody>
      </p:sp>
      <p:sp>
        <p:nvSpPr>
          <p:cNvPr id="1489" name="Google Shape;1489;p142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490" name="Google Shape;1490;p142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6E</a:t>
            </a:r>
            <a:endParaRPr/>
          </a:p>
        </p:txBody>
      </p:sp>
      <p:sp>
        <p:nvSpPr>
          <p:cNvPr id="1491" name="Google Shape;1491;p142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492" name="Google Shape;1492;p142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sp>
        <p:nvSpPr>
          <p:cNvPr id="1493" name="Google Shape;1493;p142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94" name="Google Shape;1494;p142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95" name="Google Shape;1495;p142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496" name="Google Shape;1496;p142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 </a:t>
            </a:r>
            <a:endParaRPr/>
          </a:p>
        </p:txBody>
      </p:sp>
      <p:sp>
        <p:nvSpPr>
          <p:cNvPr id="1497" name="Google Shape;1497;p142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498" name="Google Shape;1498;p142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Write Memory by Address 3DHex Service</a:t>
            </a:r>
            <a:endParaRPr/>
          </a:p>
        </p:txBody>
      </p:sp>
      <p:sp>
        <p:nvSpPr>
          <p:cNvPr id="1504" name="Google Shape;1504;p143"/>
          <p:cNvSpPr txBox="1"/>
          <p:nvPr>
            <p:ph idx="1" type="body"/>
          </p:nvPr>
        </p:nvSpPr>
        <p:spPr>
          <a:xfrm>
            <a:off x="932571" y="2388333"/>
            <a:ext cx="10326858" cy="2479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Write Memory By Address service allows the client to write information into the server at one or more contiguous memory locations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No subfunction </a:t>
            </a:r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510" name="Google Shape;1510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7001" y="1395535"/>
            <a:ext cx="9177997" cy="5097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 </a:t>
            </a:r>
            <a:endParaRPr/>
          </a:p>
        </p:txBody>
      </p:sp>
      <p:pic>
        <p:nvPicPr>
          <p:cNvPr id="1516" name="Google Shape;1516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841" y="1571697"/>
            <a:ext cx="10958318" cy="478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46"/>
          <p:cNvSpPr txBox="1"/>
          <p:nvPr>
            <p:ph type="title"/>
          </p:nvPr>
        </p:nvSpPr>
        <p:spPr>
          <a:xfrm>
            <a:off x="731520" y="365125"/>
            <a:ext cx="10622280" cy="8024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Negative response</a:t>
            </a:r>
            <a:endParaRPr/>
          </a:p>
        </p:txBody>
      </p:sp>
      <p:pic>
        <p:nvPicPr>
          <p:cNvPr id="1522" name="Google Shape;1522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7946" y="1085301"/>
            <a:ext cx="8609427" cy="540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47"/>
          <p:cNvSpPr txBox="1"/>
          <p:nvPr>
            <p:ph idx="1" type="body"/>
          </p:nvPr>
        </p:nvSpPr>
        <p:spPr>
          <a:xfrm>
            <a:off x="770792" y="1825625"/>
            <a:ext cx="10650415" cy="202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Let address and length format identifier as 42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4(bytes of)	-	Memory Size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2(bytes of)	-	Memory Address 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48"/>
          <p:cNvSpPr txBox="1"/>
          <p:nvPr>
            <p:ph type="title"/>
          </p:nvPr>
        </p:nvSpPr>
        <p:spPr>
          <a:xfrm>
            <a:off x="439028" y="322921"/>
            <a:ext cx="10700240" cy="1182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Write data by identifier 3DH send Memory address Request frame</a:t>
            </a:r>
            <a:endParaRPr/>
          </a:p>
        </p:txBody>
      </p:sp>
      <p:graphicFrame>
        <p:nvGraphicFramePr>
          <p:cNvPr id="1533" name="Google Shape;1533;p148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34" name="Google Shape;1534;p148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535" name="Google Shape;1535;p148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536" name="Google Shape;1536;p148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0D</a:t>
            </a:r>
            <a:endParaRPr/>
          </a:p>
        </p:txBody>
      </p:sp>
      <p:sp>
        <p:nvSpPr>
          <p:cNvPr id="1537" name="Google Shape;1537;p148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3D</a:t>
            </a:r>
            <a:endParaRPr/>
          </a:p>
        </p:txBody>
      </p:sp>
      <p:sp>
        <p:nvSpPr>
          <p:cNvPr id="1538" name="Google Shape;1538;p148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1539" name="Google Shape;1539;p148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540" name="Google Shape;1540;p148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41" name="Google Shape;1541;p148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42" name="Google Shape;1542;p148"/>
          <p:cNvSpPr txBox="1"/>
          <p:nvPr/>
        </p:nvSpPr>
        <p:spPr>
          <a:xfrm>
            <a:off x="439028" y="2254379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3" name="Google Shape;1543;p148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4</a:t>
            </a:r>
            <a:endParaRPr/>
          </a:p>
        </p:txBody>
      </p:sp>
      <p:sp>
        <p:nvSpPr>
          <p:cNvPr id="1544" name="Google Shape;1544;p148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49"/>
          <p:cNvSpPr txBox="1"/>
          <p:nvPr>
            <p:ph type="title"/>
          </p:nvPr>
        </p:nvSpPr>
        <p:spPr>
          <a:xfrm>
            <a:off x="439028" y="379192"/>
            <a:ext cx="10700240" cy="1182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Write data by identifier 3DH flow control response frame</a:t>
            </a:r>
            <a:endParaRPr/>
          </a:p>
        </p:txBody>
      </p:sp>
      <p:graphicFrame>
        <p:nvGraphicFramePr>
          <p:cNvPr id="1550" name="Google Shape;1550;p149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51" name="Google Shape;1551;p149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552" name="Google Shape;1552;p149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553" name="Google Shape;1553;p149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554" name="Google Shape;1554;p149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555" name="Google Shape;1555;p149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556" name="Google Shape;1556;p149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557" name="Google Shape;1557;p149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558" name="Google Shape;1558;p149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559" name="Google Shape;1559;p149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0" name="Google Shape;1560;p149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561" name="Google Shape;1561;p149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150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Write data by identifier 3DH Memory size Request frame</a:t>
            </a:r>
            <a:endParaRPr/>
          </a:p>
        </p:txBody>
      </p:sp>
      <p:graphicFrame>
        <p:nvGraphicFramePr>
          <p:cNvPr id="1567" name="Google Shape;1567;p150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Consecutive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3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68" name="Google Shape;1568;p150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569" name="Google Shape;1569;p150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570" name="Google Shape;1570;p150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571" name="Google Shape;1571;p150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572" name="Google Shape;1572;p150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573" name="Google Shape;1573;p150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574" name="Google Shape;1574;p150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575" name="Google Shape;1575;p150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66</a:t>
            </a:r>
            <a:endParaRPr/>
          </a:p>
        </p:txBody>
      </p:sp>
      <p:sp>
        <p:nvSpPr>
          <p:cNvPr id="1576" name="Google Shape;1576;p150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7" name="Google Shape;1577;p150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150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51"/>
          <p:cNvSpPr txBox="1"/>
          <p:nvPr>
            <p:ph type="title"/>
          </p:nvPr>
        </p:nvSpPr>
        <p:spPr>
          <a:xfrm>
            <a:off x="439028" y="322921"/>
            <a:ext cx="10700240" cy="1182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Write data by identifier 3DH send Memory address Positive Response frame (Memory Address)</a:t>
            </a:r>
            <a:endParaRPr/>
          </a:p>
        </p:txBody>
      </p:sp>
      <p:graphicFrame>
        <p:nvGraphicFramePr>
          <p:cNvPr id="1584" name="Google Shape;1584;p151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2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3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85" name="Google Shape;1585;p151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586" name="Google Shape;1586;p151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587" name="Google Shape;1587;p151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0A</a:t>
            </a:r>
            <a:endParaRPr/>
          </a:p>
        </p:txBody>
      </p:sp>
      <p:sp>
        <p:nvSpPr>
          <p:cNvPr id="1588" name="Google Shape;1588;p151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7D</a:t>
            </a:r>
            <a:endParaRPr/>
          </a:p>
        </p:txBody>
      </p:sp>
      <p:sp>
        <p:nvSpPr>
          <p:cNvPr id="1589" name="Google Shape;1589;p151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44</a:t>
            </a:r>
            <a:endParaRPr/>
          </a:p>
        </p:txBody>
      </p:sp>
      <p:sp>
        <p:nvSpPr>
          <p:cNvPr id="1590" name="Google Shape;1590;p151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591" name="Google Shape;1591;p151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92" name="Google Shape;1592;p151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93" name="Google Shape;1593;p151"/>
          <p:cNvSpPr txBox="1"/>
          <p:nvPr/>
        </p:nvSpPr>
        <p:spPr>
          <a:xfrm>
            <a:off x="370741" y="2067315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4" name="Google Shape;1594;p151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Add 4</a:t>
            </a:r>
            <a:endParaRPr/>
          </a:p>
        </p:txBody>
      </p:sp>
      <p:sp>
        <p:nvSpPr>
          <p:cNvPr id="1595" name="Google Shape;1595;p151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52"/>
          <p:cNvSpPr txBox="1"/>
          <p:nvPr>
            <p:ph type="title"/>
          </p:nvPr>
        </p:nvSpPr>
        <p:spPr>
          <a:xfrm>
            <a:off x="439028" y="379192"/>
            <a:ext cx="10700240" cy="1182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Write data by identifier 3DH flow control request frame</a:t>
            </a:r>
            <a:endParaRPr/>
          </a:p>
        </p:txBody>
      </p:sp>
      <p:graphicFrame>
        <p:nvGraphicFramePr>
          <p:cNvPr id="1601" name="Google Shape;1601;p152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148975"/>
                <a:gridCol w="140317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FLOW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02" name="Google Shape;1602;p152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350</a:t>
            </a:r>
            <a:endParaRPr/>
          </a:p>
        </p:txBody>
      </p:sp>
      <p:sp>
        <p:nvSpPr>
          <p:cNvPr id="1603" name="Google Shape;1603;p152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1604" name="Google Shape;1604;p152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05" name="Google Shape;1605;p152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06" name="Google Shape;1606;p152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07" name="Google Shape;1607;p152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08" name="Google Shape;1608;p152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09" name="Google Shape;1609;p152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10" name="Google Shape;1610;p152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1" name="Google Shape;1611;p152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1612" name="Google Shape;1612;p152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53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Write data by identifier 3DH Memory size Positive Response frame (Memory Size)</a:t>
            </a:r>
            <a:endParaRPr/>
          </a:p>
        </p:txBody>
      </p:sp>
      <p:graphicFrame>
        <p:nvGraphicFramePr>
          <p:cNvPr id="1618" name="Google Shape;1618;p153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Consecutive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3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19" name="Google Shape;1619;p153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620" name="Google Shape;1620;p153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/>
          </a:p>
        </p:txBody>
      </p:sp>
      <p:sp>
        <p:nvSpPr>
          <p:cNvPr id="1621" name="Google Shape;1621;p153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622" name="Google Shape;1622;p153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623" name="Google Shape;1623;p153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624" name="Google Shape;1624;p153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625" name="Google Shape;1625;p153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26" name="Google Shape;1626;p153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627" name="Google Shape;1627;p153"/>
          <p:cNvSpPr txBox="1"/>
          <p:nvPr/>
        </p:nvSpPr>
        <p:spPr>
          <a:xfrm>
            <a:off x="353745" y="2210402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8" name="Google Shape;1628;p153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153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5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Scaling data by identifier 24H Service</a:t>
            </a:r>
            <a:endParaRPr/>
          </a:p>
        </p:txBody>
      </p:sp>
      <p:sp>
        <p:nvSpPr>
          <p:cNvPr id="1635" name="Google Shape;1635;p154"/>
          <p:cNvSpPr txBox="1"/>
          <p:nvPr>
            <p:ph idx="1" type="body"/>
          </p:nvPr>
        </p:nvSpPr>
        <p:spPr>
          <a:xfrm>
            <a:off x="932571" y="2388333"/>
            <a:ext cx="10326858" cy="2479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Read Scaling Data By Identifier service allows the client to request scaling data record information from the server identified by a data Identifier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No subfunctions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641" name="Google Shape;1641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84" y="2082019"/>
            <a:ext cx="11526179" cy="2936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56"/>
          <p:cNvSpPr txBox="1"/>
          <p:nvPr>
            <p:ph type="title"/>
          </p:nvPr>
        </p:nvSpPr>
        <p:spPr>
          <a:xfrm>
            <a:off x="717452" y="365126"/>
            <a:ext cx="10636348" cy="77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647" name="Google Shape;1647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483" y="1139484"/>
            <a:ext cx="9579293" cy="5155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1653" name="Google Shape;1653;p1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Lets get the VIN of vehicle using Scaling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Use Format identifier 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0XF1 0X90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VIN will be 17bytes value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58"/>
          <p:cNvSpPr txBox="1"/>
          <p:nvPr>
            <p:ph type="title"/>
          </p:nvPr>
        </p:nvSpPr>
        <p:spPr>
          <a:xfrm>
            <a:off x="439028" y="322921"/>
            <a:ext cx="10700240" cy="1182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Read Scaling data by identifier 24H Service Request frame</a:t>
            </a:r>
            <a:endParaRPr/>
          </a:p>
        </p:txBody>
      </p:sp>
      <p:sp>
        <p:nvSpPr>
          <p:cNvPr id="1660" name="Google Shape;1660;p158"/>
          <p:cNvSpPr txBox="1"/>
          <p:nvPr/>
        </p:nvSpPr>
        <p:spPr>
          <a:xfrm>
            <a:off x="439028" y="205773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61" name="Google Shape;1661;p158"/>
          <p:cNvGraphicFramePr/>
          <p:nvPr/>
        </p:nvGraphicFramePr>
        <p:xfrm>
          <a:off x="1514621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2102825"/>
                <a:gridCol w="1278225"/>
                <a:gridCol w="1990750"/>
                <a:gridCol w="1689675"/>
                <a:gridCol w="1487600"/>
              </a:tblGrid>
              <a:tr h="232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NO.OF 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SERVICE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NRC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CODE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62" name="Google Shape;1662;p158"/>
          <p:cNvSpPr/>
          <p:nvPr/>
        </p:nvSpPr>
        <p:spPr>
          <a:xfrm>
            <a:off x="1514621" y="4069080"/>
            <a:ext cx="2120118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421</a:t>
            </a:r>
            <a:endParaRPr/>
          </a:p>
        </p:txBody>
      </p:sp>
      <p:sp>
        <p:nvSpPr>
          <p:cNvPr id="1663" name="Google Shape;1663;p158"/>
          <p:cNvSpPr/>
          <p:nvPr/>
        </p:nvSpPr>
        <p:spPr>
          <a:xfrm>
            <a:off x="3634739" y="4069080"/>
            <a:ext cx="1322363" cy="86374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664" name="Google Shape;1664;p158"/>
          <p:cNvSpPr/>
          <p:nvPr/>
        </p:nvSpPr>
        <p:spPr>
          <a:xfrm>
            <a:off x="4957103" y="4055238"/>
            <a:ext cx="2120118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1665" name="Google Shape;1665;p158"/>
          <p:cNvSpPr/>
          <p:nvPr/>
        </p:nvSpPr>
        <p:spPr>
          <a:xfrm>
            <a:off x="7077221" y="4055238"/>
            <a:ext cx="1533379" cy="877584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666" name="Google Shape;1666;p158"/>
          <p:cNvSpPr/>
          <p:nvPr/>
        </p:nvSpPr>
        <p:spPr>
          <a:xfrm>
            <a:off x="8610600" y="4053704"/>
            <a:ext cx="145307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Scaling data by identifier 24H Service Response frame</a:t>
            </a:r>
            <a:endParaRPr/>
          </a:p>
        </p:txBody>
      </p:sp>
      <p:graphicFrame>
        <p:nvGraphicFramePr>
          <p:cNvPr id="1672" name="Google Shape;1672;p159"/>
          <p:cNvGraphicFramePr/>
          <p:nvPr/>
        </p:nvGraphicFramePr>
        <p:xfrm>
          <a:off x="838200" y="30769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 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SID+40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Scaling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Scaling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Scaling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extension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73" name="Google Shape;1673;p159"/>
          <p:cNvSpPr/>
          <p:nvPr/>
        </p:nvSpPr>
        <p:spPr>
          <a:xfrm>
            <a:off x="838200" y="3991386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674" name="Google Shape;1674;p159"/>
          <p:cNvSpPr/>
          <p:nvPr/>
        </p:nvSpPr>
        <p:spPr>
          <a:xfrm>
            <a:off x="2453640" y="3991386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675" name="Google Shape;1675;p159"/>
          <p:cNvSpPr/>
          <p:nvPr/>
        </p:nvSpPr>
        <p:spPr>
          <a:xfrm>
            <a:off x="3637670" y="3991386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64</a:t>
            </a:r>
            <a:endParaRPr/>
          </a:p>
        </p:txBody>
      </p:sp>
      <p:sp>
        <p:nvSpPr>
          <p:cNvPr id="1676" name="Google Shape;1676;p159"/>
          <p:cNvSpPr/>
          <p:nvPr/>
        </p:nvSpPr>
        <p:spPr>
          <a:xfrm>
            <a:off x="5002236" y="3991386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677" name="Google Shape;1677;p159"/>
          <p:cNvSpPr/>
          <p:nvPr/>
        </p:nvSpPr>
        <p:spPr>
          <a:xfrm>
            <a:off x="6617676" y="3991386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1678" name="Google Shape;1678;p159"/>
          <p:cNvSpPr/>
          <p:nvPr/>
        </p:nvSpPr>
        <p:spPr>
          <a:xfrm>
            <a:off x="7801706" y="3991386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6F</a:t>
            </a:r>
            <a:endParaRPr/>
          </a:p>
        </p:txBody>
      </p:sp>
      <p:sp>
        <p:nvSpPr>
          <p:cNvPr id="1679" name="Google Shape;1679;p159"/>
          <p:cNvSpPr/>
          <p:nvPr/>
        </p:nvSpPr>
        <p:spPr>
          <a:xfrm>
            <a:off x="9166272" y="3991386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endParaRPr/>
          </a:p>
        </p:txBody>
      </p:sp>
      <p:sp>
        <p:nvSpPr>
          <p:cNvPr id="1680" name="Google Shape;1680;p159"/>
          <p:cNvSpPr/>
          <p:nvPr/>
        </p:nvSpPr>
        <p:spPr>
          <a:xfrm>
            <a:off x="10550767" y="3991386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681" name="Google Shape;1681;p159"/>
          <p:cNvSpPr txBox="1"/>
          <p:nvPr/>
        </p:nvSpPr>
        <p:spPr>
          <a:xfrm>
            <a:off x="439028" y="2057736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1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Explanation</a:t>
            </a:r>
            <a:endParaRPr/>
          </a:p>
        </p:txBody>
      </p:sp>
      <p:sp>
        <p:nvSpPr>
          <p:cNvPr id="1687" name="Google Shape;1687;p160"/>
          <p:cNvSpPr txBox="1"/>
          <p:nvPr>
            <p:ph idx="1" type="body"/>
          </p:nvPr>
        </p:nvSpPr>
        <p:spPr>
          <a:xfrm>
            <a:off x="838200" y="1825625"/>
            <a:ext cx="10515600" cy="319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0" i="0" lang="en-US">
                <a:solidFill>
                  <a:srgbClr val="002060"/>
                </a:solidFill>
              </a:rPr>
              <a:t>0x6F -&gt;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>
                <a:solidFill>
                  <a:srgbClr val="002060"/>
                </a:solidFill>
              </a:rPr>
              <a:t>Higher nibble – 6 represents that the value is an ASCII value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>
                <a:solidFill>
                  <a:srgbClr val="002060"/>
                </a:solidFill>
              </a:rPr>
              <a:t>Lower nibble – F represents the total number of bytes, in this case, 15 bytes of VIN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0" i="0" lang="en-US">
                <a:solidFill>
                  <a:srgbClr val="002060"/>
                </a:solidFill>
              </a:rPr>
              <a:t>0x62 -&gt;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>
                <a:solidFill>
                  <a:srgbClr val="002060"/>
                </a:solidFill>
              </a:rPr>
              <a:t>Higher nibble – 6 represent an ASCII value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>
                <a:solidFill>
                  <a:srgbClr val="002060"/>
                </a:solidFill>
              </a:rPr>
              <a:t>Lower nibble – 2 represents the 2 leftover bytes of the VIN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61"/>
          <p:cNvSpPr txBox="1"/>
          <p:nvPr>
            <p:ph type="title"/>
          </p:nvPr>
        </p:nvSpPr>
        <p:spPr>
          <a:xfrm>
            <a:off x="829994" y="365126"/>
            <a:ext cx="10523806" cy="929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Negative Response</a:t>
            </a:r>
            <a:endParaRPr/>
          </a:p>
        </p:txBody>
      </p:sp>
      <p:pic>
        <p:nvPicPr>
          <p:cNvPr id="1693" name="Google Shape;1693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81" y="1294228"/>
            <a:ext cx="9223237" cy="5432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Stored data Transmission Functional unit</a:t>
            </a:r>
            <a:endParaRPr/>
          </a:p>
        </p:txBody>
      </p:sp>
      <p:sp>
        <p:nvSpPr>
          <p:cNvPr id="1699" name="Google Shape;1699;p162"/>
          <p:cNvSpPr txBox="1"/>
          <p:nvPr>
            <p:ph idx="1" type="body"/>
          </p:nvPr>
        </p:nvSpPr>
        <p:spPr>
          <a:xfrm>
            <a:off x="838200" y="2899874"/>
            <a:ext cx="10515600" cy="1058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Clear diagnostic information 14Hex services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Calibri"/>
              <a:buAutoNum type="arabicPeriod"/>
            </a:pPr>
            <a:r>
              <a:rPr lang="en-US">
                <a:solidFill>
                  <a:srgbClr val="002060"/>
                </a:solidFill>
              </a:rPr>
              <a:t>Read DTC information (19Hex) Services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Clear diagnostic Information 14H</a:t>
            </a:r>
            <a:endParaRPr/>
          </a:p>
        </p:txBody>
      </p:sp>
      <p:sp>
        <p:nvSpPr>
          <p:cNvPr id="1705" name="Google Shape;1705;p163"/>
          <p:cNvSpPr txBox="1"/>
          <p:nvPr>
            <p:ph idx="1" type="body"/>
          </p:nvPr>
        </p:nvSpPr>
        <p:spPr>
          <a:xfrm>
            <a:off x="1026942" y="1825625"/>
            <a:ext cx="10326858" cy="223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Allows the client to clear diagnostic information from the server (including DTC, captured data, etc)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Permanent DTCs shall be stored in non-volatile memory and cannot be cleared by any test equipment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64"/>
          <p:cNvSpPr txBox="1"/>
          <p:nvPr>
            <p:ph type="title"/>
          </p:nvPr>
        </p:nvSpPr>
        <p:spPr>
          <a:xfrm>
            <a:off x="838200" y="365125"/>
            <a:ext cx="10515600" cy="64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711" name="Google Shape;1711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743" y="1690688"/>
            <a:ext cx="10515600" cy="2734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46" y="4494738"/>
            <a:ext cx="10521613" cy="1627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165"/>
          <p:cNvSpPr txBox="1"/>
          <p:nvPr>
            <p:ph type="title"/>
          </p:nvPr>
        </p:nvSpPr>
        <p:spPr>
          <a:xfrm>
            <a:off x="956945" y="286882"/>
            <a:ext cx="10278109" cy="91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718" name="Google Shape;1718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422" y="1366979"/>
            <a:ext cx="10278108" cy="1172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9" name="Google Shape;1719;p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2156" y="3429000"/>
            <a:ext cx="8767688" cy="3362607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65"/>
          <p:cNvSpPr txBox="1"/>
          <p:nvPr/>
        </p:nvSpPr>
        <p:spPr>
          <a:xfrm>
            <a:off x="638421" y="2696386"/>
            <a:ext cx="10278109" cy="91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 sz="44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Supported Negative Response</a:t>
            </a:r>
            <a:endParaRPr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66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Clear diagnostic Information 14H Request frame</a:t>
            </a:r>
            <a:endParaRPr/>
          </a:p>
        </p:txBody>
      </p:sp>
      <p:graphicFrame>
        <p:nvGraphicFramePr>
          <p:cNvPr id="1726" name="Google Shape;1726;p166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27" name="Google Shape;1727;p166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728" name="Google Shape;1728;p166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729" name="Google Shape;1729;p166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1730" name="Google Shape;1730;p166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731" name="Google Shape;1731;p166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732" name="Google Shape;1732;p166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733" name="Google Shape;1733;p166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34" name="Google Shape;1734;p166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35" name="Google Shape;1735;p166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6" name="Google Shape;1736;p166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166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p167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Clear diagnostic Information 14H Positive Response frame</a:t>
            </a:r>
            <a:endParaRPr/>
          </a:p>
        </p:txBody>
      </p:sp>
      <p:graphicFrame>
        <p:nvGraphicFramePr>
          <p:cNvPr id="1743" name="Google Shape;1743;p167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989850"/>
                <a:gridCol w="1476925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44" name="Google Shape;1744;p167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745" name="Google Shape;1745;p167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746" name="Google Shape;1746;p167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54</a:t>
            </a:r>
            <a:endParaRPr/>
          </a:p>
        </p:txBody>
      </p:sp>
      <p:sp>
        <p:nvSpPr>
          <p:cNvPr id="1747" name="Google Shape;1747;p167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48" name="Google Shape;1748;p167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49" name="Google Shape;1749;p167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50" name="Google Shape;1750;p167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51" name="Google Shape;1751;p167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52" name="Google Shape;1752;p167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3" name="Google Shape;1753;p167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167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1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DTC Information 19H Services</a:t>
            </a:r>
            <a:endParaRPr/>
          </a:p>
        </p:txBody>
      </p:sp>
      <p:sp>
        <p:nvSpPr>
          <p:cNvPr id="1760" name="Google Shape;1760;p168"/>
          <p:cNvSpPr txBox="1"/>
          <p:nvPr>
            <p:ph idx="1" type="body"/>
          </p:nvPr>
        </p:nvSpPr>
        <p:spPr>
          <a:xfrm>
            <a:off x="1026942" y="1825625"/>
            <a:ext cx="10326858" cy="2239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This service allows a client to read the status of server-resident Diagnostic Trouble Code (DTC) information from any server or group of servers within a vehicle.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DTC (Diagnostics Trouble code)</a:t>
            </a:r>
            <a:endParaRPr/>
          </a:p>
        </p:txBody>
      </p:sp>
      <p:sp>
        <p:nvSpPr>
          <p:cNvPr id="1766" name="Google Shape;1766;p1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>
                <a:solidFill>
                  <a:srgbClr val="002060"/>
                </a:solidFill>
              </a:rPr>
              <a:t>DTC code may contain 2 or 3 bytes. Basically, DTC code has DTC high bytes and DTC middle bytes while the last byte is optional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  <p:pic>
        <p:nvPicPr>
          <p:cNvPr id="1767" name="Google Shape;1767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880" y="2881093"/>
            <a:ext cx="9664291" cy="1733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70"/>
          <p:cNvSpPr txBox="1"/>
          <p:nvPr>
            <p:ph type="title"/>
          </p:nvPr>
        </p:nvSpPr>
        <p:spPr>
          <a:xfrm>
            <a:off x="717452" y="373550"/>
            <a:ext cx="10636348" cy="695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DTC Bytes</a:t>
            </a:r>
            <a:endParaRPr/>
          </a:p>
        </p:txBody>
      </p:sp>
      <p:pic>
        <p:nvPicPr>
          <p:cNvPr id="1773" name="Google Shape;1773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9816" y="1559974"/>
            <a:ext cx="8571767" cy="4796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779" name="Google Shape;1779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779" y="2367681"/>
            <a:ext cx="10807890" cy="3048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172"/>
          <p:cNvSpPr txBox="1"/>
          <p:nvPr>
            <p:ph type="title"/>
          </p:nvPr>
        </p:nvSpPr>
        <p:spPr>
          <a:xfrm>
            <a:off x="450167" y="365125"/>
            <a:ext cx="10903633" cy="816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785" name="Google Shape;1785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167" y="1585546"/>
            <a:ext cx="11440404" cy="5003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73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Number of DTC Present in ECU (19H Services Request frame)</a:t>
            </a:r>
            <a:endParaRPr/>
          </a:p>
        </p:txBody>
      </p:sp>
      <p:graphicFrame>
        <p:nvGraphicFramePr>
          <p:cNvPr id="1791" name="Google Shape;1791;p173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1131550"/>
                <a:gridCol w="1335200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DTC status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792" name="Google Shape;1792;p173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793" name="Google Shape;1793;p173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794" name="Google Shape;1794;p173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1795" name="Google Shape;1795;p173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796" name="Google Shape;1796;p173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/>
          </a:p>
        </p:txBody>
      </p:sp>
      <p:sp>
        <p:nvSpPr>
          <p:cNvPr id="1797" name="Google Shape;1797;p173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98" name="Google Shape;1798;p173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799" name="Google Shape;1799;p173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800" name="Google Shape;1800;p173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1" name="Google Shape;1801;p173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173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74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Read Number of DTC Present in ECU (19H Services Response frame)</a:t>
            </a:r>
            <a:endParaRPr/>
          </a:p>
        </p:txBody>
      </p:sp>
      <p:graphicFrame>
        <p:nvGraphicFramePr>
          <p:cNvPr id="1808" name="Google Shape;1808;p174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1131550"/>
                <a:gridCol w="1335200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DTC status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DTC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09" name="Google Shape;1809;p174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810" name="Google Shape;1810;p174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811" name="Google Shape;1811;p174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/>
          </a:p>
        </p:txBody>
      </p:sp>
      <p:sp>
        <p:nvSpPr>
          <p:cNvPr id="1812" name="Google Shape;1812;p174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813" name="Google Shape;1813;p174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814" name="Google Shape;1814;p174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815" name="Google Shape;1815;p174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816" name="Google Shape;1816;p174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817" name="Google Shape;1817;p174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🡪 Client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8" name="Google Shape;1818;p174"/>
          <p:cNvSpPr/>
          <p:nvPr/>
        </p:nvSpPr>
        <p:spPr>
          <a:xfrm>
            <a:off x="10944663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9" name="Google Shape;1819;p174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Input output control by identifier 2Fhex Service</a:t>
            </a:r>
            <a:endParaRPr/>
          </a:p>
        </p:txBody>
      </p:sp>
      <p:sp>
        <p:nvSpPr>
          <p:cNvPr id="1825" name="Google Shape;1825;p175"/>
          <p:cNvSpPr txBox="1"/>
          <p:nvPr>
            <p:ph idx="1" type="body"/>
          </p:nvPr>
        </p:nvSpPr>
        <p:spPr>
          <a:xfrm>
            <a:off x="1083212" y="1825625"/>
            <a:ext cx="10270588" cy="2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The client requests the control of an input / output specific to the server.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Input Output Control By Identifier service is used by the client to substitute a value for an input signal, internal server function and/or control an output (actuator) of an electronic system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176"/>
          <p:cNvSpPr txBox="1"/>
          <p:nvPr>
            <p:ph type="title"/>
          </p:nvPr>
        </p:nvSpPr>
        <p:spPr>
          <a:xfrm>
            <a:off x="647114" y="365126"/>
            <a:ext cx="10706686" cy="521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831" name="Google Shape;1831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114" y="1237409"/>
            <a:ext cx="10043966" cy="53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77"/>
          <p:cNvSpPr txBox="1"/>
          <p:nvPr>
            <p:ph type="title"/>
          </p:nvPr>
        </p:nvSpPr>
        <p:spPr>
          <a:xfrm>
            <a:off x="647114" y="365125"/>
            <a:ext cx="10706686" cy="661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837" name="Google Shape;1837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424" y="1318991"/>
            <a:ext cx="10848376" cy="4927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2" name="Google Shape;1842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985" y="277973"/>
            <a:ext cx="11876030" cy="6302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179"/>
          <p:cNvSpPr txBox="1"/>
          <p:nvPr>
            <p:ph type="title"/>
          </p:nvPr>
        </p:nvSpPr>
        <p:spPr>
          <a:xfrm>
            <a:off x="838200" y="30885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Engine ideal speed identifier</a:t>
            </a:r>
            <a:endParaRPr/>
          </a:p>
        </p:txBody>
      </p:sp>
      <p:sp>
        <p:nvSpPr>
          <p:cNvPr id="1848" name="Google Shape;1848;p179"/>
          <p:cNvSpPr txBox="1"/>
          <p:nvPr>
            <p:ph idx="1" type="body"/>
          </p:nvPr>
        </p:nvSpPr>
        <p:spPr>
          <a:xfrm>
            <a:off x="838200" y="1825625"/>
            <a:ext cx="10515600" cy="2141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2400"/>
              <a:buNone/>
            </a:pPr>
            <a:r>
              <a:rPr lang="en-US">
                <a:solidFill>
                  <a:srgbClr val="833C0B"/>
                </a:solidFill>
              </a:rPr>
              <a:t>Example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Desired ideal speed adjustment identifier – 01 32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Control option record – 0x01 (reset to default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Return ideal speed as 750/min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p180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 frame to set ideal engine speed as default</a:t>
            </a:r>
            <a:endParaRPr/>
          </a:p>
        </p:txBody>
      </p:sp>
      <p:graphicFrame>
        <p:nvGraphicFramePr>
          <p:cNvPr id="1854" name="Google Shape;1854;p180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1131550"/>
                <a:gridCol w="1335200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55" name="Google Shape;1855;p180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352</a:t>
            </a:r>
            <a:endParaRPr/>
          </a:p>
        </p:txBody>
      </p:sp>
      <p:sp>
        <p:nvSpPr>
          <p:cNvPr id="1856" name="Google Shape;1856;p180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857" name="Google Shape;1857;p180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2F</a:t>
            </a:r>
            <a:endParaRPr/>
          </a:p>
        </p:txBody>
      </p:sp>
      <p:sp>
        <p:nvSpPr>
          <p:cNvPr id="1858" name="Google Shape;1858;p180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859" name="Google Shape;1859;p180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1860" name="Google Shape;1860;p180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861" name="Google Shape;1861;p180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862" name="Google Shape;1862;p180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863" name="Google Shape;1863;p180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4" name="Google Shape;1864;p180"/>
          <p:cNvSpPr/>
          <p:nvPr/>
        </p:nvSpPr>
        <p:spPr>
          <a:xfrm>
            <a:off x="10947606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180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81"/>
          <p:cNvSpPr txBox="1"/>
          <p:nvPr>
            <p:ph type="title"/>
          </p:nvPr>
        </p:nvSpPr>
        <p:spPr>
          <a:xfrm>
            <a:off x="420859" y="435464"/>
            <a:ext cx="10786990" cy="1358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Response frame for set ideal engine speed as default</a:t>
            </a:r>
            <a:endParaRPr/>
          </a:p>
        </p:txBody>
      </p:sp>
      <p:graphicFrame>
        <p:nvGraphicFramePr>
          <p:cNvPr id="1871" name="Google Shape;1871;p181"/>
          <p:cNvGraphicFramePr/>
          <p:nvPr/>
        </p:nvGraphicFramePr>
        <p:xfrm>
          <a:off x="0" y="30910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{B48E19C2-BC45-440E-A4E8-4A3046B8FA71}</a:tableStyleId>
              </a:tblPr>
              <a:tblGrid>
                <a:gridCol w="1555125"/>
                <a:gridCol w="1342800"/>
                <a:gridCol w="1209325"/>
                <a:gridCol w="1696150"/>
                <a:gridCol w="1322750"/>
                <a:gridCol w="1131550"/>
                <a:gridCol w="1335200"/>
                <a:gridCol w="1359650"/>
              </a:tblGrid>
              <a:tr h="8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MESSAGE 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No.of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bytes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Identifier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Record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72" name="Google Shape;1872;p181"/>
          <p:cNvSpPr/>
          <p:nvPr/>
        </p:nvSpPr>
        <p:spPr>
          <a:xfrm>
            <a:off x="0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354</a:t>
            </a:r>
            <a:endParaRPr/>
          </a:p>
        </p:txBody>
      </p:sp>
      <p:sp>
        <p:nvSpPr>
          <p:cNvPr id="1873" name="Google Shape;1873;p181"/>
          <p:cNvSpPr/>
          <p:nvPr/>
        </p:nvSpPr>
        <p:spPr>
          <a:xfrm>
            <a:off x="1615440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874" name="Google Shape;1874;p181"/>
          <p:cNvSpPr/>
          <p:nvPr/>
        </p:nvSpPr>
        <p:spPr>
          <a:xfrm>
            <a:off x="2799470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6F</a:t>
            </a:r>
            <a:endParaRPr/>
          </a:p>
        </p:txBody>
      </p:sp>
      <p:sp>
        <p:nvSpPr>
          <p:cNvPr id="1875" name="Google Shape;1875;p181"/>
          <p:cNvSpPr/>
          <p:nvPr/>
        </p:nvSpPr>
        <p:spPr>
          <a:xfrm>
            <a:off x="4164036" y="4005454"/>
            <a:ext cx="161544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876" name="Google Shape;1876;p181"/>
          <p:cNvSpPr/>
          <p:nvPr/>
        </p:nvSpPr>
        <p:spPr>
          <a:xfrm>
            <a:off x="5779476" y="4005454"/>
            <a:ext cx="1184030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1877" name="Google Shape;1877;p181"/>
          <p:cNvSpPr/>
          <p:nvPr/>
        </p:nvSpPr>
        <p:spPr>
          <a:xfrm>
            <a:off x="6963506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878" name="Google Shape;1878;p181"/>
          <p:cNvSpPr/>
          <p:nvPr/>
        </p:nvSpPr>
        <p:spPr>
          <a:xfrm>
            <a:off x="8328072" y="4005454"/>
            <a:ext cx="1364566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4B</a:t>
            </a:r>
            <a:endParaRPr/>
          </a:p>
        </p:txBody>
      </p:sp>
      <p:sp>
        <p:nvSpPr>
          <p:cNvPr id="1879" name="Google Shape;1879;p181"/>
          <p:cNvSpPr/>
          <p:nvPr/>
        </p:nvSpPr>
        <p:spPr>
          <a:xfrm>
            <a:off x="9712567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  <p:sp>
        <p:nvSpPr>
          <p:cNvPr id="1880" name="Google Shape;1880;p181"/>
          <p:cNvSpPr txBox="1"/>
          <p:nvPr/>
        </p:nvSpPr>
        <p:spPr>
          <a:xfrm>
            <a:off x="420859" y="2211840"/>
            <a:ext cx="54606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 🡪 Server</a:t>
            </a:r>
            <a:endParaRPr sz="24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1" name="Google Shape;1881;p181"/>
          <p:cNvSpPr/>
          <p:nvPr/>
        </p:nvSpPr>
        <p:spPr>
          <a:xfrm>
            <a:off x="10947606" y="3091054"/>
            <a:ext cx="1252025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181"/>
          <p:cNvSpPr/>
          <p:nvPr/>
        </p:nvSpPr>
        <p:spPr>
          <a:xfrm>
            <a:off x="10954628" y="4005454"/>
            <a:ext cx="1252025" cy="88065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182"/>
          <p:cNvSpPr txBox="1"/>
          <p:nvPr>
            <p:ph type="title"/>
          </p:nvPr>
        </p:nvSpPr>
        <p:spPr>
          <a:xfrm>
            <a:off x="838200" y="229239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6200"/>
              <a:buFont typeface="Times New Roman"/>
              <a:buNone/>
            </a:pPr>
            <a:r>
              <a:rPr lang="en-US" sz="6200"/>
              <a:t>Routine control </a:t>
            </a:r>
            <a:r>
              <a:rPr lang="en-US" sz="6200">
                <a:solidFill>
                  <a:srgbClr val="833C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(31H) Services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1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Routine control 31H Services</a:t>
            </a:r>
            <a:endParaRPr/>
          </a:p>
        </p:txBody>
      </p:sp>
      <p:sp>
        <p:nvSpPr>
          <p:cNvPr id="1893" name="Google Shape;1893;p183"/>
          <p:cNvSpPr txBox="1"/>
          <p:nvPr>
            <p:ph idx="1" type="body"/>
          </p:nvPr>
        </p:nvSpPr>
        <p:spPr>
          <a:xfrm>
            <a:off x="1041010" y="2529009"/>
            <a:ext cx="10312790" cy="1227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The client requests to start, stop a routine in the server(s) 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0" i="0" lang="en-US" sz="2800" u="none" strike="noStrike">
                <a:solidFill>
                  <a:srgbClr val="002060"/>
                </a:solidFill>
              </a:rPr>
              <a:t>requests the routine results.</a:t>
            </a:r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Routine Control 31H</a:t>
            </a:r>
            <a:endParaRPr/>
          </a:p>
        </p:txBody>
      </p:sp>
      <p:sp>
        <p:nvSpPr>
          <p:cNvPr id="1899" name="Google Shape;1899;p184"/>
          <p:cNvSpPr txBox="1"/>
          <p:nvPr>
            <p:ph idx="1" type="body"/>
          </p:nvPr>
        </p:nvSpPr>
        <p:spPr>
          <a:xfrm>
            <a:off x="1195754" y="1825625"/>
            <a:ext cx="10158046" cy="2619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If the client starts routine on server’s memory its responsible for stopping the routine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Routine shall be started after request made by client and its sends positive response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Client may request routine results after the routine has been stopped.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1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Services</a:t>
            </a:r>
            <a:endParaRPr/>
          </a:p>
        </p:txBody>
      </p:sp>
      <p:sp>
        <p:nvSpPr>
          <p:cNvPr id="1905" name="Google Shape;1905;p18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 Start a routine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 Stop a routine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 Request routine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</a:pPr>
            <a:r>
              <a:rPr b="0" i="0" lang="en-US" sz="2800" u="none" strike="noStrike">
                <a:solidFill>
                  <a:srgbClr val="002060"/>
                </a:solidFill>
              </a:rPr>
              <a:t>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lang="en-US" sz="2800">
                <a:solidFill>
                  <a:srgbClr val="002060"/>
                </a:solidFill>
              </a:rPr>
              <a:t>R</a:t>
            </a:r>
            <a:r>
              <a:rPr b="0" i="0" lang="en-US" sz="2800" u="none" strike="noStrike">
                <a:solidFill>
                  <a:srgbClr val="002060"/>
                </a:solidFill>
              </a:rPr>
              <a:t>outine is referenced by a two-byte routine Identifier.</a:t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1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911" name="Google Shape;1911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648" y="1690688"/>
            <a:ext cx="10842152" cy="4191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87"/>
          <p:cNvSpPr txBox="1"/>
          <p:nvPr>
            <p:ph type="title"/>
          </p:nvPr>
        </p:nvSpPr>
        <p:spPr>
          <a:xfrm>
            <a:off x="492369" y="308854"/>
            <a:ext cx="10861431" cy="6336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Sub functions</a:t>
            </a:r>
            <a:endParaRPr/>
          </a:p>
        </p:txBody>
      </p:sp>
      <p:pic>
        <p:nvPicPr>
          <p:cNvPr id="1917" name="Google Shape;1917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41" y="1473389"/>
            <a:ext cx="10515600" cy="5019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p1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923" name="Google Shape;1923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93435"/>
            <a:ext cx="10916529" cy="327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189"/>
          <p:cNvSpPr txBox="1"/>
          <p:nvPr>
            <p:ph type="title"/>
          </p:nvPr>
        </p:nvSpPr>
        <p:spPr>
          <a:xfrm>
            <a:off x="436098" y="365125"/>
            <a:ext cx="10917702" cy="535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ct val="100000"/>
              <a:buFont typeface="Times New Roman"/>
              <a:buNone/>
            </a:pPr>
            <a:r>
              <a:rPr lang="en-US"/>
              <a:t>Supported negative response</a:t>
            </a:r>
            <a:endParaRPr/>
          </a:p>
        </p:txBody>
      </p:sp>
      <p:pic>
        <p:nvPicPr>
          <p:cNvPr id="1929" name="Google Shape;1929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2185" y="900332"/>
            <a:ext cx="9045527" cy="587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Upload and download functional unit</a:t>
            </a:r>
            <a:endParaRPr/>
          </a:p>
        </p:txBody>
      </p:sp>
      <p:pic>
        <p:nvPicPr>
          <p:cNvPr id="1935" name="Google Shape;1935;p19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84" y="2591589"/>
            <a:ext cx="10861431" cy="2093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1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 download 34Hex</a:t>
            </a:r>
            <a:endParaRPr/>
          </a:p>
        </p:txBody>
      </p:sp>
      <p:sp>
        <p:nvSpPr>
          <p:cNvPr id="1941" name="Google Shape;1941;p191"/>
          <p:cNvSpPr txBox="1"/>
          <p:nvPr>
            <p:ph idx="1" type="body"/>
          </p:nvPr>
        </p:nvSpPr>
        <p:spPr>
          <a:xfrm>
            <a:off x="1097280" y="2087489"/>
            <a:ext cx="10256520" cy="2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request Download service is used by the client to initiate a data transfer from the client to the server (download)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After the server has received the request Download request message, the server shall take all necessary actions to receive data before it sends a positive response message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947" name="Google Shape;1947;p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46" y="1578147"/>
            <a:ext cx="10515600" cy="4660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193"/>
          <p:cNvSpPr txBox="1"/>
          <p:nvPr>
            <p:ph idx="1" type="body"/>
          </p:nvPr>
        </p:nvSpPr>
        <p:spPr>
          <a:xfrm>
            <a:off x="758190" y="981565"/>
            <a:ext cx="8666029" cy="515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2400"/>
              <a:buNone/>
            </a:pPr>
            <a:r>
              <a:rPr lang="en-US">
                <a:solidFill>
                  <a:srgbClr val="833C0B"/>
                </a:solidFill>
              </a:rPr>
              <a:t>Data format identifier: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   </a:t>
            </a:r>
            <a:r>
              <a:rPr lang="en-US">
                <a:solidFill>
                  <a:srgbClr val="833C0B"/>
                </a:solidFill>
              </a:rPr>
              <a:t>      </a:t>
            </a:r>
            <a:r>
              <a:rPr lang="en-US">
                <a:solidFill>
                  <a:srgbClr val="002060"/>
                </a:solidFill>
              </a:rPr>
              <a:t>Each nibble encode separately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High nibble specifies the compression method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Low nibble specifies the encryption mode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en-US">
                <a:solidFill>
                  <a:srgbClr val="002060"/>
                </a:solidFill>
              </a:rPr>
              <a:t>If the data identifier is 0X00 🡪 No compression and encryption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3C0B"/>
              </a:buClr>
              <a:buSzPts val="2400"/>
              <a:buNone/>
            </a:pPr>
            <a:r>
              <a:rPr lang="en-US">
                <a:solidFill>
                  <a:srgbClr val="833C0B"/>
                </a:solidFill>
              </a:rPr>
              <a:t>Address and length format identifier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        Each nibble encoded separately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High nibbles indicates Memory Size (7-4)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Low nibble indicates Memory Address(3-0)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19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958" name="Google Shape;1958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135" y="2109262"/>
            <a:ext cx="11437730" cy="263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195"/>
          <p:cNvSpPr txBox="1"/>
          <p:nvPr>
            <p:ph type="title"/>
          </p:nvPr>
        </p:nvSpPr>
        <p:spPr>
          <a:xfrm>
            <a:off x="759655" y="365125"/>
            <a:ext cx="10594145" cy="9150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Supported negative response codes</a:t>
            </a:r>
            <a:endParaRPr/>
          </a:p>
        </p:txBody>
      </p:sp>
      <p:pic>
        <p:nvPicPr>
          <p:cNvPr id="1964" name="Google Shape;1964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035" y="1528251"/>
            <a:ext cx="8590304" cy="496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196"/>
          <p:cNvSpPr txBox="1"/>
          <p:nvPr>
            <p:ph idx="1" type="body"/>
          </p:nvPr>
        </p:nvSpPr>
        <p:spPr>
          <a:xfrm>
            <a:off x="838200" y="61580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2400"/>
              <a:buNone/>
            </a:pPr>
            <a:r>
              <a:rPr lang="en-US">
                <a:solidFill>
                  <a:srgbClr val="833C0B"/>
                </a:solidFill>
              </a:rPr>
              <a:t>Length format identifier</a:t>
            </a:r>
            <a:endParaRPr>
              <a:solidFill>
                <a:srgbClr val="00206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Each nibble encode separately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High nibble specifies the length of maximum number of blocks (7-4)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	Low nibble depends on vehicle manufacturers.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3C0B"/>
              </a:buClr>
              <a:buSzPts val="2400"/>
              <a:buNone/>
            </a:pPr>
            <a:r>
              <a:rPr lang="en-US">
                <a:solidFill>
                  <a:srgbClr val="833C0B"/>
                </a:solidFill>
              </a:rPr>
              <a:t>Maximum Number of block length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lang="en-US">
                <a:solidFill>
                  <a:srgbClr val="002060"/>
                </a:solidFill>
              </a:rPr>
              <a:t>It return the number , that number indicate how many data bytes been transmitted in a single transfer, which </a:t>
            </a:r>
            <a:r>
              <a:rPr b="0" i="0" lang="en-US" u="none" strike="noStrike">
                <a:solidFill>
                  <a:srgbClr val="002060"/>
                </a:solidFill>
              </a:rPr>
              <a:t>reflects the complete message length, including the service identifier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1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 upload 35Hex</a:t>
            </a:r>
            <a:endParaRPr/>
          </a:p>
        </p:txBody>
      </p:sp>
      <p:sp>
        <p:nvSpPr>
          <p:cNvPr id="1975" name="Google Shape;1975;p197"/>
          <p:cNvSpPr txBox="1"/>
          <p:nvPr>
            <p:ph idx="1" type="body"/>
          </p:nvPr>
        </p:nvSpPr>
        <p:spPr>
          <a:xfrm>
            <a:off x="1097280" y="2087489"/>
            <a:ext cx="10256520" cy="2127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The request Download service is used by the client to initiate a data transfer from the </a:t>
            </a:r>
            <a:r>
              <a:rPr lang="en-US">
                <a:solidFill>
                  <a:srgbClr val="002060"/>
                </a:solidFill>
              </a:rPr>
              <a:t>Server</a:t>
            </a:r>
            <a:r>
              <a:rPr b="0" i="0" lang="en-US" u="none" strike="noStrike">
                <a:solidFill>
                  <a:srgbClr val="002060"/>
                </a:solidFill>
              </a:rPr>
              <a:t> to the Client(Upload)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Char char="•"/>
            </a:pPr>
            <a:r>
              <a:rPr b="0" i="0" lang="en-US" u="none" strike="noStrike">
                <a:solidFill>
                  <a:srgbClr val="002060"/>
                </a:solidFill>
              </a:rPr>
              <a:t>After the server has received the request Upload request message, the server shall take all necessary actions to Send data before it sends a positive response message</a:t>
            </a:r>
            <a:endParaRPr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198"/>
          <p:cNvSpPr txBox="1"/>
          <p:nvPr>
            <p:ph type="title"/>
          </p:nvPr>
        </p:nvSpPr>
        <p:spPr>
          <a:xfrm>
            <a:off x="829994" y="402019"/>
            <a:ext cx="10523806" cy="807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1981" name="Google Shape;1981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08" y="1727582"/>
            <a:ext cx="10198784" cy="431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1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1987" name="Google Shape;1987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816" y="2315350"/>
            <a:ext cx="11016984" cy="2424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200"/>
          <p:cNvSpPr txBox="1"/>
          <p:nvPr>
            <p:ph type="title"/>
          </p:nvPr>
        </p:nvSpPr>
        <p:spPr>
          <a:xfrm>
            <a:off x="703385" y="365126"/>
            <a:ext cx="10650415" cy="774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Supported negative response</a:t>
            </a:r>
            <a:endParaRPr/>
          </a:p>
        </p:txBody>
      </p:sp>
      <p:pic>
        <p:nvPicPr>
          <p:cNvPr id="1993" name="Google Shape;1993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416" y="1408606"/>
            <a:ext cx="9350180" cy="5375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20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Service Transfer data (36 Hex)</a:t>
            </a:r>
            <a:endParaRPr/>
          </a:p>
        </p:txBody>
      </p:sp>
      <p:sp>
        <p:nvSpPr>
          <p:cNvPr id="1999" name="Google Shape;1999;p20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The Transfer Data service is used by the client to transfer data either from the client to the server (download) or from the server to the client (upload).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Combination of Request Download or Request Upload service.</a:t>
            </a:r>
            <a:endParaRPr sz="2800">
              <a:solidFill>
                <a:srgbClr val="00206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The Transfer Data service request includes a block Sequence Counter</a:t>
            </a:r>
            <a:r>
              <a:rPr lang="en-US" sz="2800">
                <a:solidFill>
                  <a:srgbClr val="002060"/>
                </a:solidFill>
              </a:rPr>
              <a:t> </a:t>
            </a:r>
            <a:r>
              <a:rPr b="0" i="0" lang="en-US" sz="2800" u="none" strike="noStrike">
                <a:solidFill>
                  <a:srgbClr val="002060"/>
                </a:solidFill>
              </a:rPr>
              <a:t>to allow for improved error handling in case a Transfer Data service fails during a sequence of multiple Transfer Data requests</a:t>
            </a:r>
            <a:endParaRPr sz="28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20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</a:t>
            </a:r>
            <a:endParaRPr/>
          </a:p>
        </p:txBody>
      </p:sp>
      <p:pic>
        <p:nvPicPr>
          <p:cNvPr id="2005" name="Google Shape;2005;p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638" y="2261881"/>
            <a:ext cx="10296723" cy="2728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9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p2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2011" name="Google Shape;2011;p2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223" y="2753530"/>
            <a:ext cx="10635577" cy="2746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20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Request Transfer exit</a:t>
            </a:r>
            <a:endParaRPr/>
          </a:p>
        </p:txBody>
      </p:sp>
      <p:sp>
        <p:nvSpPr>
          <p:cNvPr id="2017" name="Google Shape;2017;p204"/>
          <p:cNvSpPr txBox="1"/>
          <p:nvPr>
            <p:ph idx="1" type="body"/>
          </p:nvPr>
        </p:nvSpPr>
        <p:spPr>
          <a:xfrm>
            <a:off x="1181686" y="2149182"/>
            <a:ext cx="10172114" cy="149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</a:pPr>
            <a:r>
              <a:rPr b="0" i="0" lang="en-US" sz="2800" u="none" strike="noStrike">
                <a:solidFill>
                  <a:srgbClr val="002060"/>
                </a:solidFill>
              </a:rPr>
              <a:t>This service is used by the client to terminate a data transfer between client and server (upload or download).</a:t>
            </a:r>
            <a:endParaRPr sz="2800">
              <a:solidFill>
                <a:srgbClr val="002060"/>
              </a:solidFill>
            </a:endParaRPr>
          </a:p>
        </p:txBody>
      </p:sp>
      <p:pic>
        <p:nvPicPr>
          <p:cNvPr id="2018" name="Google Shape;2018;p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686" y="3643532"/>
            <a:ext cx="9514889" cy="2235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20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Positive response</a:t>
            </a:r>
            <a:endParaRPr/>
          </a:p>
        </p:txBody>
      </p:sp>
      <p:pic>
        <p:nvPicPr>
          <p:cNvPr id="2024" name="Google Shape;2024;p2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016" y="2091323"/>
            <a:ext cx="11155282" cy="2382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20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4400"/>
              <a:buFont typeface="Times New Roman"/>
              <a:buNone/>
            </a:pPr>
            <a:r>
              <a:rPr lang="en-US"/>
              <a:t>Negative response</a:t>
            </a:r>
            <a:endParaRPr/>
          </a:p>
        </p:txBody>
      </p:sp>
      <p:pic>
        <p:nvPicPr>
          <p:cNvPr id="2030" name="Google Shape;2030;p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591" y="2045824"/>
            <a:ext cx="9858817" cy="3257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2020-03-02T05:19:40Z</dcterms:created>
  <dc:creator>Aravinth Kalai</dc:creator>
</cp:coreProperties>
</file>